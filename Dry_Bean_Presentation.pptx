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1" r:id="rId1"/>
  </p:sldMasterIdLst>
  <p:notesMasterIdLst>
    <p:notesMasterId r:id="rId15"/>
  </p:notesMasterIdLst>
  <p:sldIdLst>
    <p:sldId id="271" r:id="rId2"/>
    <p:sldId id="257" r:id="rId3"/>
    <p:sldId id="275" r:id="rId4"/>
    <p:sldId id="259" r:id="rId5"/>
    <p:sldId id="260" r:id="rId6"/>
    <p:sldId id="261" r:id="rId7"/>
    <p:sldId id="262" r:id="rId8"/>
    <p:sldId id="263" r:id="rId9"/>
    <p:sldId id="264" r:id="rId10"/>
    <p:sldId id="265" r:id="rId11"/>
    <p:sldId id="266" r:id="rId12"/>
    <p:sldId id="267" r:id="rId13"/>
    <p:sldId id="27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673"/>
    <p:restoredTop sz="94658"/>
  </p:normalViewPr>
  <p:slideViewPr>
    <p:cSldViewPr snapToGrid="0">
      <p:cViewPr varScale="1">
        <p:scale>
          <a:sx n="78" d="100"/>
          <a:sy n="78" d="100"/>
        </p:scale>
        <p:origin x="984"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lineChart>
        <c:grouping val="standard"/>
        <c:varyColors val="1"/>
        <c:ser>
          <c:idx val="0"/>
          <c:order val="0"/>
          <c:tx>
            <c:v>Training</c:v>
          </c:tx>
          <c:spPr>
            <a:ln w="28575">
              <a:solidFill>
                <a:srgbClr val="007D88"/>
              </a:solidFill>
            </a:ln>
          </c:spPr>
          <c:marker>
            <c:symbol val="none"/>
          </c:marker>
          <c:cat>
            <c:numRef>
              <c:f>'Chart Data'!$A$2:$A$35</c:f>
              <c:numCache>
                <c:formatCode>General</c:formatCode>
                <c:ptCount val="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numCache>
            </c:numRef>
          </c:cat>
          <c:val>
            <c:numRef>
              <c:f>'Chart Data'!$B$2:$B$35</c:f>
              <c:numCache>
                <c:formatCode>0.0</c:formatCode>
                <c:ptCount val="34"/>
                <c:pt idx="0">
                  <c:v>0.54481199999999996</c:v>
                </c:pt>
                <c:pt idx="1">
                  <c:v>0.249552</c:v>
                </c:pt>
                <c:pt idx="2">
                  <c:v>0.213391</c:v>
                </c:pt>
                <c:pt idx="3">
                  <c:v>0.203706</c:v>
                </c:pt>
                <c:pt idx="4">
                  <c:v>0.19877900000000001</c:v>
                </c:pt>
                <c:pt idx="5">
                  <c:v>0.20305799999999999</c:v>
                </c:pt>
                <c:pt idx="6">
                  <c:v>0.18799199999999999</c:v>
                </c:pt>
                <c:pt idx="7">
                  <c:v>0.190971</c:v>
                </c:pt>
                <c:pt idx="8">
                  <c:v>0.186444</c:v>
                </c:pt>
                <c:pt idx="9">
                  <c:v>0.190051</c:v>
                </c:pt>
                <c:pt idx="10">
                  <c:v>0.20010700000000001</c:v>
                </c:pt>
                <c:pt idx="11">
                  <c:v>0.19103400000000001</c:v>
                </c:pt>
                <c:pt idx="12">
                  <c:v>0.18098700000000001</c:v>
                </c:pt>
                <c:pt idx="13">
                  <c:v>0.178234</c:v>
                </c:pt>
                <c:pt idx="14">
                  <c:v>0.18074799999999999</c:v>
                </c:pt>
                <c:pt idx="15">
                  <c:v>0.17835000000000001</c:v>
                </c:pt>
                <c:pt idx="16">
                  <c:v>0.18246499999999999</c:v>
                </c:pt>
                <c:pt idx="17">
                  <c:v>0.17871899999999999</c:v>
                </c:pt>
                <c:pt idx="18">
                  <c:v>0.17305599999999999</c:v>
                </c:pt>
                <c:pt idx="19">
                  <c:v>0.17381099999999999</c:v>
                </c:pt>
                <c:pt idx="20">
                  <c:v>0.170711</c:v>
                </c:pt>
                <c:pt idx="21">
                  <c:v>0.17466100000000001</c:v>
                </c:pt>
                <c:pt idx="22">
                  <c:v>0.17158699999999999</c:v>
                </c:pt>
                <c:pt idx="23">
                  <c:v>0.16992699999999999</c:v>
                </c:pt>
                <c:pt idx="24">
                  <c:v>0.17014199999999999</c:v>
                </c:pt>
                <c:pt idx="25">
                  <c:v>0.16736000000000001</c:v>
                </c:pt>
                <c:pt idx="26">
                  <c:v>0.168654</c:v>
                </c:pt>
                <c:pt idx="27">
                  <c:v>0.166327</c:v>
                </c:pt>
                <c:pt idx="28">
                  <c:v>0.16874500000000001</c:v>
                </c:pt>
                <c:pt idx="29">
                  <c:v>0.16680800000000001</c:v>
                </c:pt>
                <c:pt idx="30">
                  <c:v>0.166907</c:v>
                </c:pt>
                <c:pt idx="31">
                  <c:v>0.173348</c:v>
                </c:pt>
                <c:pt idx="32">
                  <c:v>0.16433800000000001</c:v>
                </c:pt>
                <c:pt idx="33">
                  <c:v>0.169409</c:v>
                </c:pt>
              </c:numCache>
            </c:numRef>
          </c:val>
          <c:smooth val="1"/>
          <c:extLst>
            <c:ext xmlns:c16="http://schemas.microsoft.com/office/drawing/2014/chart" uri="{C3380CC4-5D6E-409C-BE32-E72D297353CC}">
              <c16:uniqueId val="{00000000-670B-4CBF-AC9E-7A6350DAD917}"/>
            </c:ext>
          </c:extLst>
        </c:ser>
        <c:ser>
          <c:idx val="1"/>
          <c:order val="1"/>
          <c:tx>
            <c:v>Validation</c:v>
          </c:tx>
          <c:spPr>
            <a:ln w="28575">
              <a:solidFill>
                <a:srgbClr val="CD8C35"/>
              </a:solidFill>
            </a:ln>
          </c:spPr>
          <c:marker>
            <c:symbol val="none"/>
          </c:marker>
          <c:cat>
            <c:numRef>
              <c:f>'Chart Data'!$C$2:$C$35</c:f>
              <c:numCache>
                <c:formatCode>General</c:formatCode>
                <c:ptCount val="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numCache>
            </c:numRef>
          </c:cat>
          <c:val>
            <c:numRef>
              <c:f>'Chart Data'!$D$2:$D$35</c:f>
              <c:numCache>
                <c:formatCode>0.0</c:formatCode>
                <c:ptCount val="34"/>
                <c:pt idx="0">
                  <c:v>0.55323999999999995</c:v>
                </c:pt>
                <c:pt idx="1">
                  <c:v>0.26807300000000001</c:v>
                </c:pt>
                <c:pt idx="2">
                  <c:v>0.23424</c:v>
                </c:pt>
                <c:pt idx="3">
                  <c:v>0.22090299999999999</c:v>
                </c:pt>
                <c:pt idx="4">
                  <c:v>0.22204099999999999</c:v>
                </c:pt>
                <c:pt idx="5">
                  <c:v>0.22920499999999999</c:v>
                </c:pt>
                <c:pt idx="6">
                  <c:v>0.20918999999999999</c:v>
                </c:pt>
                <c:pt idx="7">
                  <c:v>0.214585</c:v>
                </c:pt>
                <c:pt idx="8">
                  <c:v>0.211531</c:v>
                </c:pt>
                <c:pt idx="9">
                  <c:v>0.21924199999999999</c:v>
                </c:pt>
                <c:pt idx="10">
                  <c:v>0.21818599999999999</c:v>
                </c:pt>
                <c:pt idx="11">
                  <c:v>0.217253</c:v>
                </c:pt>
                <c:pt idx="12">
                  <c:v>0.20660700000000001</c:v>
                </c:pt>
                <c:pt idx="13">
                  <c:v>0.20488700000000001</c:v>
                </c:pt>
                <c:pt idx="14">
                  <c:v>0.20726700000000001</c:v>
                </c:pt>
                <c:pt idx="15">
                  <c:v>0.20661499999999999</c:v>
                </c:pt>
                <c:pt idx="16">
                  <c:v>0.20905899999999999</c:v>
                </c:pt>
                <c:pt idx="17">
                  <c:v>0.20830299999999999</c:v>
                </c:pt>
                <c:pt idx="18">
                  <c:v>0.201045</c:v>
                </c:pt>
                <c:pt idx="19">
                  <c:v>0.20308799999999999</c:v>
                </c:pt>
                <c:pt idx="20">
                  <c:v>0.200486</c:v>
                </c:pt>
                <c:pt idx="21">
                  <c:v>0.205564</c:v>
                </c:pt>
                <c:pt idx="22">
                  <c:v>0.20288100000000001</c:v>
                </c:pt>
                <c:pt idx="23">
                  <c:v>0.20316799999999999</c:v>
                </c:pt>
                <c:pt idx="24">
                  <c:v>0.20719199999999999</c:v>
                </c:pt>
                <c:pt idx="25">
                  <c:v>0.19953299999999999</c:v>
                </c:pt>
                <c:pt idx="26">
                  <c:v>0.204068</c:v>
                </c:pt>
                <c:pt idx="27">
                  <c:v>0.201267</c:v>
                </c:pt>
                <c:pt idx="28">
                  <c:v>0.20696000000000001</c:v>
                </c:pt>
                <c:pt idx="29">
                  <c:v>0.20091800000000001</c:v>
                </c:pt>
                <c:pt idx="30">
                  <c:v>0.204792</c:v>
                </c:pt>
                <c:pt idx="31">
                  <c:v>0.20790500000000001</c:v>
                </c:pt>
                <c:pt idx="32">
                  <c:v>0.202343</c:v>
                </c:pt>
                <c:pt idx="33">
                  <c:v>0.20957300000000001</c:v>
                </c:pt>
              </c:numCache>
            </c:numRef>
          </c:val>
          <c:smooth val="1"/>
          <c:extLst>
            <c:ext xmlns:c16="http://schemas.microsoft.com/office/drawing/2014/chart" uri="{C3380CC4-5D6E-409C-BE32-E72D297353CC}">
              <c16:uniqueId val="{00000001-670B-4CBF-AC9E-7A6350DAD917}"/>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title>
          <c:tx>
            <c:rich>
              <a:bodyPr/>
              <a:lstStyle/>
              <a:p>
                <a:r>
                  <a:rPr lang="fr-FR">
                    <a:latin typeface="Arial"/>
                    <a:ea typeface="Arial"/>
                    <a:cs typeface="Arial"/>
                  </a:rPr>
                  <a:t>Epoch</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050">
                <a:solidFill>
                  <a:srgbClr val="666666"/>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in val="0"/>
        </c:scaling>
        <c:delete val="0"/>
        <c:axPos val="l"/>
        <c:title>
          <c:tx>
            <c:rich>
              <a:bodyPr/>
              <a:lstStyle/>
              <a:p>
                <a:r>
                  <a:rPr lang="fr-FR">
                    <a:latin typeface="Arial"/>
                    <a:ea typeface="Arial"/>
                    <a:cs typeface="Arial"/>
                  </a:rPr>
                  <a:t>Cross-entropy</a:t>
                </a:r>
              </a:p>
            </c:rich>
          </c:tx>
          <c:overlay val="0"/>
        </c:title>
        <c:numFmt formatCode="0.0" sourceLinked="1"/>
        <c:majorTickMark val="none"/>
        <c:minorTickMark val="none"/>
        <c:tickLblPos val="nextTo"/>
        <c:spPr>
          <a:ln w="9525">
            <a:solidFill>
              <a:srgbClr val="D4D4D4"/>
            </a:solidFill>
            <a:prstDash val="solid"/>
          </a:ln>
        </c:spPr>
        <c:txPr>
          <a:bodyPr anchorCtr="1"/>
          <a:lstStyle/>
          <a:p>
            <a:pPr>
              <a:defRPr sz="1200">
                <a:solidFill>
                  <a:srgbClr val="666666"/>
                </a:solidFill>
                <a:latin typeface="Arial"/>
                <a:ea typeface="Arial"/>
                <a:cs typeface="Arial"/>
              </a:defRPr>
            </a:pPr>
            <a:endParaRPr lang="fr-FR"/>
          </a:p>
        </c:txPr>
        <c:crossAx val="48650112"/>
        <c:crosses val="autoZero"/>
        <c:crossBetween val="between"/>
      </c:valAx>
      <c:spPr>
        <a:solidFill>
          <a:srgbClr val="FAF9F5"/>
        </a:solidFill>
      </c:spPr>
    </c:plotArea>
    <c:legend>
      <c:legendPos val="b"/>
      <c:overlay val="0"/>
      <c:txPr>
        <a:bodyPr anchorCtr="1"/>
        <a:lstStyle/>
        <a:p>
          <a:pPr>
            <a:defRPr sz="1350">
              <a:latin typeface="Arial"/>
              <a:ea typeface="Arial"/>
              <a:cs typeface="Arial"/>
            </a:defRPr>
          </a:pPr>
          <a:endParaRPr lang="fr-FR"/>
        </a:p>
      </c:txPr>
    </c:legend>
    <c:plotVisOnly val="1"/>
    <c:dispBlanksAs val="zero"/>
    <c:showDLblsOverMax val="1"/>
  </c:chart>
  <c:spPr>
    <a:solidFill>
      <a:srgbClr val="FAF9F5"/>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75432E-3F72-7248-863C-A714C66D0076}"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5EAB70-2DC8-B244-ADF4-BEF69FC7FD18}" type="slidenum">
              <a:rPr lang="en-US" smtClean="0"/>
              <a:t>‹N°›</a:t>
            </a:fld>
            <a:endParaRPr lang="en-US"/>
          </a:p>
        </p:txBody>
      </p:sp>
    </p:spTree>
    <p:extLst>
      <p:ext uri="{BB962C8B-B14F-4D97-AF65-F5344CB8AC3E}">
        <p14:creationId xmlns:p14="http://schemas.microsoft.com/office/powerpoint/2010/main" val="2941276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D7004E-177C-2340-8F09-1EB3616858E9}" type="slidenum">
              <a:rPr lang="en-US" smtClean="0"/>
              <a:t>1</a:t>
            </a:fld>
            <a:endParaRPr lang="en-US"/>
          </a:p>
        </p:txBody>
      </p:sp>
    </p:spTree>
    <p:extLst>
      <p:ext uri="{BB962C8B-B14F-4D97-AF65-F5344CB8AC3E}">
        <p14:creationId xmlns:p14="http://schemas.microsoft.com/office/powerpoint/2010/main" val="379367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proposed work allocation has four parts. Member one handles the problem, dataset and preprocessing. Member two handles model architecture and training. Member three handles experiments and error analysis. Member four handles documentation, presentation and reproducibility. We will adjust these entries to reflect our actual contributions. All members should run the notebook and understand the model-selection rule, because the evaluation belongs to the whole group.</a:t>
            </a:r>
          </a:p>
          <a:p>
            <a:endParaRPr/>
          </a:p>
          <a:p>
            <a:r>
              <a:t>Member 1, approximately 35 seconds.</a:t>
            </a:r>
          </a:p>
          <a:p>
            <a:r>
              <a:t>Assignment: 4.2. Group Mini Project.pdf, page 1. Measured results: Dry_Bean_Project.ipynb and results CSVs.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public UCI Dry Bean dataset contains 13,611 rows, sixteen features and seven class labels. It has no missing values in the downloaded file. We found 68 exact duplicate rows and removed them before splitting, leaving 13,543 unique rows. The split is approximately seventy percent training, fifteen percent validation and fifteen percent test: 9,480, 2,031 and 2,032 rows respectively. Both splitting steps are stratified, so class proportions remain similar. We fit the standard scaler only on training data and reuse its means and standard deviations for validation and test. The test set does not select models. We use a fixed holdout rather than k-fold validation to keep the experiment small. The three training seeds are not three folds. We do not have acquisition-group identifiers, so this random split evaluates similar-distribution examples rather than new farms or cameras.</a:t>
            </a:r>
          </a:p>
          <a:p>
            <a:endParaRPr/>
          </a:p>
          <a:p>
            <a:r>
              <a:t>Member 1, approximately 95 seconds.</a:t>
            </a:r>
          </a:p>
          <a:p>
            <a:r>
              <a:t>Assignment: 4.2. Group Mini Project.pdf, page 1. Measured results: Dry_Bean_Project.ipynb and results CSVs.</a:t>
            </a:r>
          </a:p>
          <a:p>
            <a:r>
              <a:t>Source: https://archive.ics.uci.edu/dataset/602/dry+bean . Cleaning and split counts were measured from the downloaded ARFF file. StandardScaler: https://scikit-learn.org/stable/modules/generated/sklearn.preprocessing.StandardScaler.html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small MLP takes sixteen standardized inputs, uses a hidden layer of thirty-two neurons with ReLU, then produces seven output logits. It has 775 trainable parameters. The larger MLP uses hidden layers of sixty-four and thirty-two neurons and has 3,399 parameters. The parameter count of a dense layer is input width times output width, plus one bias per output. ReLU introduces nonlinearity. Without it, stacked linear layers would still represent a linear transformation. The dropout variant places dropout after both hidden activations at a rate of 0.20. Dropout adds no trainable parameters and turns off during evaluation. The output consists of raw logits. Cross-entropy already performs the required log-softmax calculation, so we do not apply softmax before training loss. We use softmax only when displaying prediction confidence.</a:t>
            </a:r>
          </a:p>
          <a:p>
            <a:endParaRPr/>
          </a:p>
          <a:p>
            <a:r>
              <a:t>Member 2, approximately 85 seconds.</a:t>
            </a:r>
          </a:p>
          <a:p>
            <a:r>
              <a:t>Assignment: 4.2. Group Mini Project.pdf, page 1. Measured results: Dry_Bean_Project.ipynb and results CSVs.</a:t>
            </a:r>
          </a:p>
          <a:p>
            <a:r>
              <a:t>Course: 4.1. MLP to Deep Learning.pdf. Dense-layer parameter counts verified by notebook. CrossEntropyLoss: https://docs.pytorch.org/docs/stable/generated/torch.nn.CrossEntropyLoss.html . LogisticRegression: https://scikit-learn.org/stable/modules/generated/sklearn.linear_model.LogisticRegression.html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compare six neural configurations with seeds seven, twenty-one and forty-two, giving eighteen runs. The small MLP is the baseline. The two-layer base model uses learning rate 0.001. Its variants use 0.0003, 0.003, dropout of 0.20, or class-weighted loss. Each variant changes one setting relative to the base. All use Adam, batches of 256 and up to forty epochs. We restore the checkpoint with the lowest unweighted validation cross-entropy and stop after eight epochs without sufficient improvement. The class-weighted variant changes only training loss. We calculate its weights from training counts, giving more influence to rare classes. Because the classes are imbalanced, we choose the neural configuration with the highest mean validation macro-F1 across seeds. Macro-F1 treats each variety equally. The fixed logistic regression uses C equal to one with no tuning and provides a separate reference.</a:t>
            </a:r>
          </a:p>
          <a:p>
            <a:endParaRPr/>
          </a:p>
          <a:p>
            <a:r>
              <a:t>Member 2, approximately 100 seconds.</a:t>
            </a:r>
          </a:p>
          <a:p>
            <a:r>
              <a:t>Assignment: 4.2. Group Mini Project.pdf, page 1. Measured results: Dry_Bean_Project.ipynb and results CSVs.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table reports every neural configuration. Macro-F1 is the primary comparison. The selected configuration is MLP-high-lr, with mean validation macro-F1 of 0.9367 and sample standard deviation 0.0015. Accuracy is also shown, but it is not our selection criterion. We compare the small and base MLPs for capacity, the learning-rate variants against the base for optimization, dropout against the base for regularization, and class weighting against the base for imbalance handling. This is a limited search on one split. The standard deviation describes variation from initialization and shuffling, not uncertainty across data splits. We have not established statistical significance. 9 of eighteen runs reached the forty-epoch cap, so the budget can affect the ranking. The logistic reference has validation macro-F1 0.9314, which provides useful context.</a:t>
            </a:r>
          </a:p>
          <a:p>
            <a:endParaRPr/>
          </a:p>
          <a:p>
            <a:r>
              <a:t>Member 3, approximately 90 seconds.</a:t>
            </a:r>
          </a:p>
          <a:p>
            <a:r>
              <a:t>Assignment: 4.2. Group Mini Project.pdf, page 1. Measured results: Dry_Bean_Project.ipynb and results CSVs.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selecting the neural configuration, we evaluated it, the small MLP and the fixed logistic reference on the untouched test partition. The selected configuration achieved mean macro-F1 0.9373 and mean accuracy 92.44 percent. The small MLP achieved macro-F1 0.9331. The difference is +0.0043 macro-F1. The logistic reference achieved 0.9349, so the selected neural model's difference from that simpler method is +0.0024. We report this comparison even if the difference is small. The neural summaries describe three separate models, not an ensemble. The learning curve shows the predetermined seed-seven run, with the checkpoint restored from epoch 26. We use unweighted evaluation loss for both curves, including when training used class weights. We do not change hyperparameters after seeing these test scores.</a:t>
            </a:r>
          </a:p>
          <a:p>
            <a:endParaRPr/>
          </a:p>
          <a:p>
            <a:r>
              <a:t>Member 3, approximately 90 seconds.</a:t>
            </a:r>
          </a:p>
          <a:p>
            <a:r>
              <a:t>Assignment: 4.2. Group Mini Project.pdf, page 1. Measured results: Dry_Bean_Project.ipynb and results CSVs.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confusion matrix is for the selected neural configuration with seed seven only. Rows show actual classes and columns show predicted classes. The diagonal is correct classification. The model makes 153 mistakes out of 2,032 test rows. The largest off-diagonal counts include DERMASON as SIRA (45), SIRA as DERMASON (34), CALI as BARBUNYA (12). Raw counts can be larger for more common classes, so the notebook also reports per-class recall and F1. Recall asks how many true members of a variety were found. Precision asks how many predictions of that variety were correct. Macro-F1 averages the seven class F1 values equally. The first ten error rows include area, aspect ratio and compactness for inspection. We cannot show original photographs because the supplied archive contains feature tables. Similar measurements are a possible interpretation of confusions, not proof of the model's causal reasoning.</a:t>
            </a:r>
          </a:p>
          <a:p>
            <a:endParaRPr/>
          </a:p>
          <a:p>
            <a:r>
              <a:t>Member 3, approximately 85 seconds.</a:t>
            </a:r>
          </a:p>
          <a:p>
            <a:r>
              <a:t>Assignment: 4.2. Group Mini Project.pdf, page 1. Measured results: Dry_Bean_Project.ipynb and results CSVs.</a:t>
            </a:r>
          </a:p>
          <a:p>
            <a:r>
              <a:t>Abbreviations preserve the same class order as the full confusion_matrix_seed7.csv. The matrix is for the selected model seed 7, not the three-seed average.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selected neural configuration is MLP-high-lr, with mean test macro-F1 0.9373 and accuracy 92.44 percent. Its macro-F1 differs from the small MLP by +0.0043 and from the fixed logistic reference by +0.0024. The project shows how to compare capacity and learning choices without making the code unnecessarily complicated. We should keep the scope clear. This is a classifier of pre-extracted features, not an end-to-end image system. We used one random split and three seeds, and acquisition groups are unavailable. We have not established transfer to new farms, harvests or cameras. A sensible next experiment is repeated development splits and an independent acquisition-session test. Greater model depth should be motivated by evidence rather than assumed to be better.</a:t>
            </a:r>
          </a:p>
          <a:p>
            <a:endParaRPr/>
          </a:p>
          <a:p>
            <a:r>
              <a:t>Member 4, approximately 70 seconds.</a:t>
            </a:r>
          </a:p>
          <a:p>
            <a:r>
              <a:t>Assignment: 4.2. Group Mini Project.pdf, page 1. Measured results: Dry_Bean_Project.ipynb and results CSVs.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shared Colab notebook contains the complete code and explanations. It downloads the public archive, cleans duplicates, creates the splits, standardizes features, trains all configurations and evaluates the frozen choice. CPU is sufficient. We save split indices, original-row mapping, software versions, dataset checksum and every run's results. The model checkpoint includes the feature order, scaler means and scales, class mapping and architecture settings, as well as learned weights. We verify that reloading it reproduces predictions. The delivered outputs were executed locally, so a Colab rerun may differ slightly with platform or version changes. We will add our actual viewable notebook link to this slide after uploading. The saved outputs are also available if live internet access fails during the presentation.</a:t>
            </a:r>
          </a:p>
          <a:p>
            <a:endParaRPr/>
          </a:p>
          <a:p>
            <a:r>
              <a:t>Member 4, approximately 65 seconds.</a:t>
            </a:r>
          </a:p>
          <a:p>
            <a:r>
              <a:t>Assignment: 4.2. Group Mini Project.pdf, page 1. Measured results: Dry_Bean_Project.ipynb and results CSVs.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come from the UCI Machine Learning Repository under a Creative Commons attribution license. We also use the course materials and official PyTorch and scikit-learn documentation for implementation details. These sources support the dataset description, loss function, scaling and reproducibility choices. Thank you. We are ready for questions.</a:t>
            </a:r>
          </a:p>
          <a:p>
            <a:endParaRPr/>
          </a:p>
          <a:p>
            <a:r>
              <a:t>Member 4, approximately 25 seconds.</a:t>
            </a:r>
          </a:p>
          <a:p>
            <a:r>
              <a:t>Assignment: 4.2. Group Mini Project.pdf, page 1. Measured results: Dry_Bean_Project.ipynb and results CSVs.</a:t>
            </a:r>
          </a:p>
          <a:p>
            <a:r>
              <a:t>Full references: https://doi.org/10.24432/C50S4B ; https://docs.pytorch.org/docs/stable/generated/torch.nn.CrossEntropyLoss.html ; https://docs.pytorch.org/docs/stable/notes/randomness.html ; https://scikit-learn.org/stable/modules/generated/sklearn.preprocessing.StandardScaler.html ; https://scikit-learn.org/stable/modules/generated/sklearn.linear_model.LogisticRegression.html . Accessed 5 October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D7004E-177C-2340-8F09-1EB3616858E9}" type="slidenum">
              <a:rPr lang="en-US" smtClean="0"/>
              <a:t>13</a:t>
            </a:fld>
            <a:endParaRPr lang="en-US"/>
          </a:p>
        </p:txBody>
      </p:sp>
    </p:spTree>
    <p:extLst>
      <p:ext uri="{BB962C8B-B14F-4D97-AF65-F5344CB8AC3E}">
        <p14:creationId xmlns:p14="http://schemas.microsoft.com/office/powerpoint/2010/main" val="51873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538F2-45A7-E022-12B9-EBFA7ABC68DB}"/>
              </a:ext>
            </a:extLst>
          </p:cNvPr>
          <p:cNvSpPr>
            <a:spLocks noGrp="1"/>
          </p:cNvSpPr>
          <p:nvPr>
            <p:ph type="ctrTitle"/>
          </p:nvPr>
        </p:nvSpPr>
        <p:spPr>
          <a:xfrm>
            <a:off x="1524000" y="1122363"/>
            <a:ext cx="9144000" cy="2387600"/>
          </a:xfrm>
        </p:spPr>
        <p:txBody>
          <a:bodyPr anchor="b"/>
          <a:lstStyle>
            <a:lvl1pPr algn="ctr">
              <a:defRPr sz="6000">
                <a:latin typeface="Gama-Sans" pitchFamily="2" charset="0"/>
              </a:defRPr>
            </a:lvl1pPr>
          </a:lstStyle>
          <a:p>
            <a:r>
              <a:rPr lang="fr-FR"/>
              <a:t>Modifiez le style du titre</a:t>
            </a:r>
            <a:endParaRPr lang="en-US"/>
          </a:p>
        </p:txBody>
      </p:sp>
      <p:sp>
        <p:nvSpPr>
          <p:cNvPr id="3" name="Subtitle 2">
            <a:extLst>
              <a:ext uri="{FF2B5EF4-FFF2-40B4-BE49-F238E27FC236}">
                <a16:creationId xmlns:a16="http://schemas.microsoft.com/office/drawing/2014/main" id="{D7174BF7-1471-8DFE-1130-4EE978B531B3}"/>
              </a:ext>
            </a:extLst>
          </p:cNvPr>
          <p:cNvSpPr>
            <a:spLocks noGrp="1"/>
          </p:cNvSpPr>
          <p:nvPr>
            <p:ph type="subTitle" idx="1"/>
          </p:nvPr>
        </p:nvSpPr>
        <p:spPr>
          <a:xfrm>
            <a:off x="1524000" y="3602038"/>
            <a:ext cx="9144000" cy="1655762"/>
          </a:xfrm>
        </p:spPr>
        <p:txBody>
          <a:bodyPr/>
          <a:lstStyle>
            <a:lvl1pPr marL="0" indent="0" algn="ctr">
              <a:buNone/>
              <a:defRPr sz="2400">
                <a:latin typeface="Gama-Sans"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a:p>
        </p:txBody>
      </p:sp>
      <p:cxnSp>
        <p:nvCxnSpPr>
          <p:cNvPr id="7" name="Konektor Panah Lurus 74">
            <a:extLst>
              <a:ext uri="{FF2B5EF4-FFF2-40B4-BE49-F238E27FC236}">
                <a16:creationId xmlns:a16="http://schemas.microsoft.com/office/drawing/2014/main" id="{BEDE04C6-D481-B517-8844-5DE324319D56}"/>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8" name="Gambar 5" descr="Sebuah gambar berisi teks, Font, Grafis, desain grafis&#10;&#10;Konten yang dihasilkan AI mungkin salah.">
            <a:extLst>
              <a:ext uri="{FF2B5EF4-FFF2-40B4-BE49-F238E27FC236}">
                <a16:creationId xmlns:a16="http://schemas.microsoft.com/office/drawing/2014/main" id="{53BD1535-B20D-65A1-1D26-4AC901696CF8}"/>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9" name="TextBox 372">
            <a:extLst>
              <a:ext uri="{FF2B5EF4-FFF2-40B4-BE49-F238E27FC236}">
                <a16:creationId xmlns:a16="http://schemas.microsoft.com/office/drawing/2014/main" id="{4FBD4294-A38F-CBAE-28F3-11BE65EBC9C4}"/>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38718213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8C5AC-BCE8-CCD3-860D-F3FD3086692F}"/>
              </a:ext>
            </a:extLst>
          </p:cNvPr>
          <p:cNvSpPr>
            <a:spLocks noGrp="1"/>
          </p:cNvSpPr>
          <p:nvPr>
            <p:ph type="title"/>
          </p:nvPr>
        </p:nvSpPr>
        <p:spPr/>
        <p:txBody>
          <a:bodyPr/>
          <a:lstStyle>
            <a:lvl1pPr>
              <a:defRPr>
                <a:latin typeface="Gama-Sans" pitchFamily="2" charset="0"/>
              </a:defRPr>
            </a:lvl1pPr>
          </a:lstStyle>
          <a:p>
            <a:r>
              <a:rPr lang="fr-FR"/>
              <a:t>Modifiez le style du titre</a:t>
            </a:r>
            <a:endParaRPr lang="en-US"/>
          </a:p>
        </p:txBody>
      </p:sp>
      <p:sp>
        <p:nvSpPr>
          <p:cNvPr id="3" name="Content Placeholder 2">
            <a:extLst>
              <a:ext uri="{FF2B5EF4-FFF2-40B4-BE49-F238E27FC236}">
                <a16:creationId xmlns:a16="http://schemas.microsoft.com/office/drawing/2014/main" id="{DB71DA90-F343-807A-59A2-C66370C4E66E}"/>
              </a:ext>
            </a:extLst>
          </p:cNvPr>
          <p:cNvSpPr>
            <a:spLocks noGrp="1"/>
          </p:cNvSpPr>
          <p:nvPr>
            <p:ph idx="1"/>
          </p:nvPr>
        </p:nvSpPr>
        <p:spPr/>
        <p:txBody>
          <a:bodyPr/>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cxnSp>
        <p:nvCxnSpPr>
          <p:cNvPr id="7" name="Konektor Panah Lurus 74">
            <a:extLst>
              <a:ext uri="{FF2B5EF4-FFF2-40B4-BE49-F238E27FC236}">
                <a16:creationId xmlns:a16="http://schemas.microsoft.com/office/drawing/2014/main" id="{764CA495-845F-F1E5-405A-1696841EE497}"/>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8" name="Gambar 5" descr="Sebuah gambar berisi teks, Font, Grafis, desain grafis&#10;&#10;Konten yang dihasilkan AI mungkin salah.">
            <a:extLst>
              <a:ext uri="{FF2B5EF4-FFF2-40B4-BE49-F238E27FC236}">
                <a16:creationId xmlns:a16="http://schemas.microsoft.com/office/drawing/2014/main" id="{A05445C8-D3B4-9334-5B67-36A9B8D426E2}"/>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9" name="TextBox 372">
            <a:extLst>
              <a:ext uri="{FF2B5EF4-FFF2-40B4-BE49-F238E27FC236}">
                <a16:creationId xmlns:a16="http://schemas.microsoft.com/office/drawing/2014/main" id="{EA3A1936-2E0F-991F-35BB-ADEC32BFC92B}"/>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3670998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476F5-AC1E-EE20-ED33-42128F3F8E6F}"/>
              </a:ext>
            </a:extLst>
          </p:cNvPr>
          <p:cNvSpPr>
            <a:spLocks noGrp="1"/>
          </p:cNvSpPr>
          <p:nvPr>
            <p:ph type="title"/>
          </p:nvPr>
        </p:nvSpPr>
        <p:spPr>
          <a:xfrm>
            <a:off x="831850" y="1709738"/>
            <a:ext cx="10515600" cy="2852737"/>
          </a:xfrm>
        </p:spPr>
        <p:txBody>
          <a:bodyPr anchor="b"/>
          <a:lstStyle>
            <a:lvl1pPr>
              <a:defRPr sz="6000">
                <a:latin typeface="Gama-Sans" pitchFamily="2" charset="0"/>
              </a:defRPr>
            </a:lvl1pPr>
          </a:lstStyle>
          <a:p>
            <a:r>
              <a:rPr lang="fr-FR"/>
              <a:t>Modifiez le style du titre</a:t>
            </a:r>
            <a:endParaRPr lang="en-US"/>
          </a:p>
        </p:txBody>
      </p:sp>
      <p:sp>
        <p:nvSpPr>
          <p:cNvPr id="3" name="Text Placeholder 2">
            <a:extLst>
              <a:ext uri="{FF2B5EF4-FFF2-40B4-BE49-F238E27FC236}">
                <a16:creationId xmlns:a16="http://schemas.microsoft.com/office/drawing/2014/main" id="{9D254739-AF9F-2D3E-0084-8E22BB107B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latin typeface="Gama-Sans" pitchFamily="2"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cxnSp>
        <p:nvCxnSpPr>
          <p:cNvPr id="7" name="Konektor Panah Lurus 74">
            <a:extLst>
              <a:ext uri="{FF2B5EF4-FFF2-40B4-BE49-F238E27FC236}">
                <a16:creationId xmlns:a16="http://schemas.microsoft.com/office/drawing/2014/main" id="{72C1A1D7-388A-F32D-3DC8-5BC3EF5BAEF4}"/>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8" name="Gambar 5" descr="Sebuah gambar berisi teks, Font, Grafis, desain grafis&#10;&#10;Konten yang dihasilkan AI mungkin salah.">
            <a:extLst>
              <a:ext uri="{FF2B5EF4-FFF2-40B4-BE49-F238E27FC236}">
                <a16:creationId xmlns:a16="http://schemas.microsoft.com/office/drawing/2014/main" id="{880E6E0D-3BF1-FF03-2DBE-8A4812B98EF6}"/>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9" name="TextBox 372">
            <a:extLst>
              <a:ext uri="{FF2B5EF4-FFF2-40B4-BE49-F238E27FC236}">
                <a16:creationId xmlns:a16="http://schemas.microsoft.com/office/drawing/2014/main" id="{E715DD30-95C7-56AE-8384-F70191600998}"/>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4070687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96A4D-2A61-0ADD-56B4-E51A1BC3323F}"/>
              </a:ext>
            </a:extLst>
          </p:cNvPr>
          <p:cNvSpPr>
            <a:spLocks noGrp="1"/>
          </p:cNvSpPr>
          <p:nvPr>
            <p:ph type="title"/>
          </p:nvPr>
        </p:nvSpPr>
        <p:spPr/>
        <p:txBody>
          <a:bodyPr/>
          <a:lstStyle>
            <a:lvl1pPr>
              <a:defRPr>
                <a:latin typeface="Gama-Sans" pitchFamily="2" charset="0"/>
              </a:defRPr>
            </a:lvl1pPr>
          </a:lstStyle>
          <a:p>
            <a:r>
              <a:rPr lang="fr-FR"/>
              <a:t>Modifiez le style du titre</a:t>
            </a:r>
            <a:endParaRPr lang="en-US"/>
          </a:p>
        </p:txBody>
      </p:sp>
      <p:sp>
        <p:nvSpPr>
          <p:cNvPr id="3" name="Content Placeholder 2">
            <a:extLst>
              <a:ext uri="{FF2B5EF4-FFF2-40B4-BE49-F238E27FC236}">
                <a16:creationId xmlns:a16="http://schemas.microsoft.com/office/drawing/2014/main" id="{F400D153-DC0B-E2D5-DFAD-27B6FEE3C0CF}"/>
              </a:ext>
            </a:extLst>
          </p:cNvPr>
          <p:cNvSpPr>
            <a:spLocks noGrp="1"/>
          </p:cNvSpPr>
          <p:nvPr>
            <p:ph sz="half" idx="1"/>
          </p:nvPr>
        </p:nvSpPr>
        <p:spPr>
          <a:xfrm>
            <a:off x="838200" y="1825625"/>
            <a:ext cx="5181600" cy="4351338"/>
          </a:xfrm>
        </p:spPr>
        <p:txBody>
          <a:bodyPr/>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Content Placeholder 3">
            <a:extLst>
              <a:ext uri="{FF2B5EF4-FFF2-40B4-BE49-F238E27FC236}">
                <a16:creationId xmlns:a16="http://schemas.microsoft.com/office/drawing/2014/main" id="{DF2D6E63-6532-DB50-9A0D-FA0501EF8189}"/>
              </a:ext>
            </a:extLst>
          </p:cNvPr>
          <p:cNvSpPr>
            <a:spLocks noGrp="1"/>
          </p:cNvSpPr>
          <p:nvPr>
            <p:ph sz="half" idx="2"/>
          </p:nvPr>
        </p:nvSpPr>
        <p:spPr>
          <a:xfrm>
            <a:off x="6172200" y="1825625"/>
            <a:ext cx="5181600" cy="4351338"/>
          </a:xfrm>
        </p:spPr>
        <p:txBody>
          <a:bodyPr/>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cxnSp>
        <p:nvCxnSpPr>
          <p:cNvPr id="8" name="Konektor Panah Lurus 74">
            <a:extLst>
              <a:ext uri="{FF2B5EF4-FFF2-40B4-BE49-F238E27FC236}">
                <a16:creationId xmlns:a16="http://schemas.microsoft.com/office/drawing/2014/main" id="{A138F257-8017-5BF8-A751-56254A2F9E73}"/>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9" name="Gambar 5" descr="Sebuah gambar berisi teks, Font, Grafis, desain grafis&#10;&#10;Konten yang dihasilkan AI mungkin salah.">
            <a:extLst>
              <a:ext uri="{FF2B5EF4-FFF2-40B4-BE49-F238E27FC236}">
                <a16:creationId xmlns:a16="http://schemas.microsoft.com/office/drawing/2014/main" id="{233F0852-7B0E-0A8B-DD07-EF37D377897A}"/>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10" name="TextBox 372">
            <a:extLst>
              <a:ext uri="{FF2B5EF4-FFF2-40B4-BE49-F238E27FC236}">
                <a16:creationId xmlns:a16="http://schemas.microsoft.com/office/drawing/2014/main" id="{E371784B-D5DA-4E53-0178-E648CFF8C09A}"/>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3778927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EA3F7-4B06-4E47-3167-620E4CD96675}"/>
              </a:ext>
            </a:extLst>
          </p:cNvPr>
          <p:cNvSpPr>
            <a:spLocks noGrp="1"/>
          </p:cNvSpPr>
          <p:nvPr>
            <p:ph type="title"/>
          </p:nvPr>
        </p:nvSpPr>
        <p:spPr>
          <a:xfrm>
            <a:off x="839788" y="365125"/>
            <a:ext cx="10515600" cy="1325563"/>
          </a:xfrm>
        </p:spPr>
        <p:txBody>
          <a:bodyPr/>
          <a:lstStyle>
            <a:lvl1pPr>
              <a:defRPr>
                <a:latin typeface="Gama-Sans" pitchFamily="2" charset="0"/>
              </a:defRPr>
            </a:lvl1pPr>
          </a:lstStyle>
          <a:p>
            <a:r>
              <a:rPr lang="fr-FR"/>
              <a:t>Modifiez le style du titre</a:t>
            </a:r>
            <a:endParaRPr lang="en-US"/>
          </a:p>
        </p:txBody>
      </p:sp>
      <p:sp>
        <p:nvSpPr>
          <p:cNvPr id="3" name="Text Placeholder 2">
            <a:extLst>
              <a:ext uri="{FF2B5EF4-FFF2-40B4-BE49-F238E27FC236}">
                <a16:creationId xmlns:a16="http://schemas.microsoft.com/office/drawing/2014/main" id="{C2C50EFF-9A89-37D8-7FD6-8347FD14A7C9}"/>
              </a:ext>
            </a:extLst>
          </p:cNvPr>
          <p:cNvSpPr>
            <a:spLocks noGrp="1"/>
          </p:cNvSpPr>
          <p:nvPr>
            <p:ph type="body" idx="1"/>
          </p:nvPr>
        </p:nvSpPr>
        <p:spPr>
          <a:xfrm>
            <a:off x="839788" y="1681163"/>
            <a:ext cx="5157787" cy="823912"/>
          </a:xfrm>
        </p:spPr>
        <p:txBody>
          <a:bodyPr anchor="b"/>
          <a:lstStyle>
            <a:lvl1pPr marL="0" indent="0">
              <a:buNone/>
              <a:defRPr sz="2400" b="1">
                <a:latin typeface="Gama-Sans"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a:extLst>
              <a:ext uri="{FF2B5EF4-FFF2-40B4-BE49-F238E27FC236}">
                <a16:creationId xmlns:a16="http://schemas.microsoft.com/office/drawing/2014/main" id="{11948303-35F0-CBA5-1386-0A244EC597C4}"/>
              </a:ext>
            </a:extLst>
          </p:cNvPr>
          <p:cNvSpPr>
            <a:spLocks noGrp="1"/>
          </p:cNvSpPr>
          <p:nvPr>
            <p:ph sz="half" idx="2"/>
          </p:nvPr>
        </p:nvSpPr>
        <p:spPr>
          <a:xfrm>
            <a:off x="839788" y="2505075"/>
            <a:ext cx="5157787" cy="3684588"/>
          </a:xfrm>
        </p:spPr>
        <p:txBody>
          <a:bodyPr/>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Text Placeholder 4">
            <a:extLst>
              <a:ext uri="{FF2B5EF4-FFF2-40B4-BE49-F238E27FC236}">
                <a16:creationId xmlns:a16="http://schemas.microsoft.com/office/drawing/2014/main" id="{48B8AB40-3828-D4DA-27B3-0D177FBBCDAC}"/>
              </a:ext>
            </a:extLst>
          </p:cNvPr>
          <p:cNvSpPr>
            <a:spLocks noGrp="1"/>
          </p:cNvSpPr>
          <p:nvPr>
            <p:ph type="body" sz="quarter" idx="3"/>
          </p:nvPr>
        </p:nvSpPr>
        <p:spPr>
          <a:xfrm>
            <a:off x="6172200" y="1681163"/>
            <a:ext cx="5183188" cy="823912"/>
          </a:xfrm>
        </p:spPr>
        <p:txBody>
          <a:bodyPr anchor="b"/>
          <a:lstStyle>
            <a:lvl1pPr marL="0" indent="0">
              <a:buNone/>
              <a:defRPr sz="2400" b="1">
                <a:latin typeface="Gama-Sans"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a:extLst>
              <a:ext uri="{FF2B5EF4-FFF2-40B4-BE49-F238E27FC236}">
                <a16:creationId xmlns:a16="http://schemas.microsoft.com/office/drawing/2014/main" id="{DE6BABA3-5ABC-20B8-FA3F-32A82E7BA642}"/>
              </a:ext>
            </a:extLst>
          </p:cNvPr>
          <p:cNvSpPr>
            <a:spLocks noGrp="1"/>
          </p:cNvSpPr>
          <p:nvPr>
            <p:ph sz="quarter" idx="4"/>
          </p:nvPr>
        </p:nvSpPr>
        <p:spPr>
          <a:xfrm>
            <a:off x="6172200" y="2505075"/>
            <a:ext cx="5183188" cy="3684588"/>
          </a:xfrm>
        </p:spPr>
        <p:txBody>
          <a:bodyPr/>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cxnSp>
        <p:nvCxnSpPr>
          <p:cNvPr id="10" name="Konektor Panah Lurus 74">
            <a:extLst>
              <a:ext uri="{FF2B5EF4-FFF2-40B4-BE49-F238E27FC236}">
                <a16:creationId xmlns:a16="http://schemas.microsoft.com/office/drawing/2014/main" id="{036E5B38-BAF5-CAC0-1451-E35D3D4B994F}"/>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11" name="Gambar 5" descr="Sebuah gambar berisi teks, Font, Grafis, desain grafis&#10;&#10;Konten yang dihasilkan AI mungkin salah.">
            <a:extLst>
              <a:ext uri="{FF2B5EF4-FFF2-40B4-BE49-F238E27FC236}">
                <a16:creationId xmlns:a16="http://schemas.microsoft.com/office/drawing/2014/main" id="{A738C104-F66F-6EE6-34A9-C4DEB479B10D}"/>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12" name="TextBox 372">
            <a:extLst>
              <a:ext uri="{FF2B5EF4-FFF2-40B4-BE49-F238E27FC236}">
                <a16:creationId xmlns:a16="http://schemas.microsoft.com/office/drawing/2014/main" id="{15D4AD0F-8CEB-A2DD-A5D2-5B3AFECA9B3C}"/>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179603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7575E-A8E9-78AD-4E9D-D483B0F60D5A}"/>
              </a:ext>
            </a:extLst>
          </p:cNvPr>
          <p:cNvSpPr>
            <a:spLocks noGrp="1"/>
          </p:cNvSpPr>
          <p:nvPr>
            <p:ph type="title"/>
          </p:nvPr>
        </p:nvSpPr>
        <p:spPr/>
        <p:txBody>
          <a:bodyPr/>
          <a:lstStyle>
            <a:lvl1pPr>
              <a:defRPr>
                <a:latin typeface="Gama-Sans" pitchFamily="2" charset="0"/>
              </a:defRPr>
            </a:lvl1pPr>
          </a:lstStyle>
          <a:p>
            <a:r>
              <a:rPr lang="fr-FR"/>
              <a:t>Modifiez le style du titre</a:t>
            </a:r>
            <a:endParaRPr lang="en-US"/>
          </a:p>
        </p:txBody>
      </p:sp>
      <p:cxnSp>
        <p:nvCxnSpPr>
          <p:cNvPr id="6" name="Konektor Panah Lurus 74">
            <a:extLst>
              <a:ext uri="{FF2B5EF4-FFF2-40B4-BE49-F238E27FC236}">
                <a16:creationId xmlns:a16="http://schemas.microsoft.com/office/drawing/2014/main" id="{74E3A03E-2A52-8533-7573-F1FC2ABF7F10}"/>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7" name="Gambar 5" descr="Sebuah gambar berisi teks, Font, Grafis, desain grafis&#10;&#10;Konten yang dihasilkan AI mungkin salah.">
            <a:extLst>
              <a:ext uri="{FF2B5EF4-FFF2-40B4-BE49-F238E27FC236}">
                <a16:creationId xmlns:a16="http://schemas.microsoft.com/office/drawing/2014/main" id="{6C8A6951-E2E5-7FE7-4497-9402E2B42B54}"/>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8" name="TextBox 372">
            <a:extLst>
              <a:ext uri="{FF2B5EF4-FFF2-40B4-BE49-F238E27FC236}">
                <a16:creationId xmlns:a16="http://schemas.microsoft.com/office/drawing/2014/main" id="{B9344DD3-CD81-1487-4170-208E385BCFB0}"/>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591007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cxnSp>
        <p:nvCxnSpPr>
          <p:cNvPr id="5" name="Konektor Panah Lurus 74">
            <a:extLst>
              <a:ext uri="{FF2B5EF4-FFF2-40B4-BE49-F238E27FC236}">
                <a16:creationId xmlns:a16="http://schemas.microsoft.com/office/drawing/2014/main" id="{8934250E-F01B-B500-77B0-2A3E454A7CF8}"/>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6" name="Gambar 5" descr="Sebuah gambar berisi teks, Font, Grafis, desain grafis&#10;&#10;Konten yang dihasilkan AI mungkin salah.">
            <a:extLst>
              <a:ext uri="{FF2B5EF4-FFF2-40B4-BE49-F238E27FC236}">
                <a16:creationId xmlns:a16="http://schemas.microsoft.com/office/drawing/2014/main" id="{F3E227D9-94A1-4050-2F7D-224B611DC29B}"/>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7" name="TextBox 372">
            <a:extLst>
              <a:ext uri="{FF2B5EF4-FFF2-40B4-BE49-F238E27FC236}">
                <a16:creationId xmlns:a16="http://schemas.microsoft.com/office/drawing/2014/main" id="{A01CED64-B079-E497-E5E4-ABABAD771FCC}"/>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4249252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51FC-EA10-892C-9E3A-2660B951D8AE}"/>
              </a:ext>
            </a:extLst>
          </p:cNvPr>
          <p:cNvSpPr>
            <a:spLocks noGrp="1"/>
          </p:cNvSpPr>
          <p:nvPr>
            <p:ph type="title"/>
          </p:nvPr>
        </p:nvSpPr>
        <p:spPr>
          <a:xfrm>
            <a:off x="839788" y="457200"/>
            <a:ext cx="3932237" cy="1600200"/>
          </a:xfrm>
        </p:spPr>
        <p:txBody>
          <a:bodyPr anchor="b"/>
          <a:lstStyle>
            <a:lvl1pPr>
              <a:defRPr sz="3200">
                <a:latin typeface="Gama-Sans" pitchFamily="2" charset="0"/>
              </a:defRPr>
            </a:lvl1pPr>
          </a:lstStyle>
          <a:p>
            <a:r>
              <a:rPr lang="fr-FR"/>
              <a:t>Modifiez le style du titre</a:t>
            </a:r>
            <a:endParaRPr lang="en-US"/>
          </a:p>
        </p:txBody>
      </p:sp>
      <p:sp>
        <p:nvSpPr>
          <p:cNvPr id="3" name="Content Placeholder 2">
            <a:extLst>
              <a:ext uri="{FF2B5EF4-FFF2-40B4-BE49-F238E27FC236}">
                <a16:creationId xmlns:a16="http://schemas.microsoft.com/office/drawing/2014/main" id="{44FD40E1-B59F-E2CF-5331-5B89CBFB7D4C}"/>
              </a:ext>
            </a:extLst>
          </p:cNvPr>
          <p:cNvSpPr>
            <a:spLocks noGrp="1"/>
          </p:cNvSpPr>
          <p:nvPr>
            <p:ph idx="1"/>
          </p:nvPr>
        </p:nvSpPr>
        <p:spPr>
          <a:xfrm>
            <a:off x="5183188" y="987425"/>
            <a:ext cx="6172200" cy="4873625"/>
          </a:xfrm>
        </p:spPr>
        <p:txBody>
          <a:bodyPr/>
          <a:lstStyle>
            <a:lvl1pPr>
              <a:defRPr sz="3200">
                <a:latin typeface="Gama-Sans" pitchFamily="2" charset="0"/>
              </a:defRPr>
            </a:lvl1pPr>
            <a:lvl2pPr>
              <a:defRPr sz="2800">
                <a:latin typeface="Gama-Sans" pitchFamily="2" charset="0"/>
              </a:defRPr>
            </a:lvl2pPr>
            <a:lvl3pPr>
              <a:defRPr sz="2400">
                <a:latin typeface="Gama-Sans" pitchFamily="2" charset="0"/>
              </a:defRPr>
            </a:lvl3pPr>
            <a:lvl4pPr>
              <a:defRPr sz="2000">
                <a:latin typeface="Gama-Sans" pitchFamily="2" charset="0"/>
              </a:defRPr>
            </a:lvl4pPr>
            <a:lvl5pPr>
              <a:defRPr sz="2000">
                <a:latin typeface="Gama-Sans" pitchFamily="2" charset="0"/>
              </a:defRPr>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Text Placeholder 3">
            <a:extLst>
              <a:ext uri="{FF2B5EF4-FFF2-40B4-BE49-F238E27FC236}">
                <a16:creationId xmlns:a16="http://schemas.microsoft.com/office/drawing/2014/main" id="{B909BE52-7937-8AAF-CB5F-29F34CD5BAD7}"/>
              </a:ext>
            </a:extLst>
          </p:cNvPr>
          <p:cNvSpPr>
            <a:spLocks noGrp="1"/>
          </p:cNvSpPr>
          <p:nvPr>
            <p:ph type="body" sz="half" idx="2"/>
          </p:nvPr>
        </p:nvSpPr>
        <p:spPr>
          <a:xfrm>
            <a:off x="839788" y="2057400"/>
            <a:ext cx="3932237" cy="3811588"/>
          </a:xfrm>
        </p:spPr>
        <p:txBody>
          <a:bodyPr/>
          <a:lstStyle>
            <a:lvl1pPr marL="0" indent="0">
              <a:buNone/>
              <a:defRPr sz="1600">
                <a:latin typeface="Gama-Sans" pitchFamily="2"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cxnSp>
        <p:nvCxnSpPr>
          <p:cNvPr id="8" name="Konektor Panah Lurus 74">
            <a:extLst>
              <a:ext uri="{FF2B5EF4-FFF2-40B4-BE49-F238E27FC236}">
                <a16:creationId xmlns:a16="http://schemas.microsoft.com/office/drawing/2014/main" id="{8CD68DF5-55AD-10B0-11DE-4C341D66A0DA}"/>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9" name="Gambar 5" descr="Sebuah gambar berisi teks, Font, Grafis, desain grafis&#10;&#10;Konten yang dihasilkan AI mungkin salah.">
            <a:extLst>
              <a:ext uri="{FF2B5EF4-FFF2-40B4-BE49-F238E27FC236}">
                <a16:creationId xmlns:a16="http://schemas.microsoft.com/office/drawing/2014/main" id="{82F4AF18-EDCB-1642-D860-1DD0C9FEE09C}"/>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10" name="TextBox 372">
            <a:extLst>
              <a:ext uri="{FF2B5EF4-FFF2-40B4-BE49-F238E27FC236}">
                <a16:creationId xmlns:a16="http://schemas.microsoft.com/office/drawing/2014/main" id="{C0112972-6E4B-F57B-A192-E76BBA26133C}"/>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73033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B5F85-683C-20E8-EDB0-FE3B01D51C0D}"/>
              </a:ext>
            </a:extLst>
          </p:cNvPr>
          <p:cNvSpPr>
            <a:spLocks noGrp="1"/>
          </p:cNvSpPr>
          <p:nvPr>
            <p:ph type="title"/>
          </p:nvPr>
        </p:nvSpPr>
        <p:spPr>
          <a:xfrm>
            <a:off x="839788" y="457200"/>
            <a:ext cx="3932237" cy="1600200"/>
          </a:xfrm>
        </p:spPr>
        <p:txBody>
          <a:bodyPr anchor="b"/>
          <a:lstStyle>
            <a:lvl1pPr>
              <a:defRPr sz="3200">
                <a:latin typeface="Gama-Sans" pitchFamily="2" charset="0"/>
              </a:defRPr>
            </a:lvl1pPr>
          </a:lstStyle>
          <a:p>
            <a:r>
              <a:rPr lang="fr-FR"/>
              <a:t>Modifiez le style du titre</a:t>
            </a:r>
            <a:endParaRPr lang="en-US"/>
          </a:p>
        </p:txBody>
      </p:sp>
      <p:sp>
        <p:nvSpPr>
          <p:cNvPr id="3" name="Picture Placeholder 2">
            <a:extLst>
              <a:ext uri="{FF2B5EF4-FFF2-40B4-BE49-F238E27FC236}">
                <a16:creationId xmlns:a16="http://schemas.microsoft.com/office/drawing/2014/main" id="{B1595B91-9745-42DC-39E4-BBB3BCCD070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2399DB5-C6A3-7B4B-578C-376B5F1B63F8}"/>
              </a:ext>
            </a:extLst>
          </p:cNvPr>
          <p:cNvSpPr>
            <a:spLocks noGrp="1"/>
          </p:cNvSpPr>
          <p:nvPr>
            <p:ph type="body" sz="half" idx="2"/>
          </p:nvPr>
        </p:nvSpPr>
        <p:spPr>
          <a:xfrm>
            <a:off x="839788" y="2057400"/>
            <a:ext cx="3932237" cy="3811588"/>
          </a:xfrm>
        </p:spPr>
        <p:txBody>
          <a:bodyPr/>
          <a:lstStyle>
            <a:lvl1pPr marL="0" indent="0">
              <a:buNone/>
              <a:defRPr sz="1600">
                <a:latin typeface="Gama-Sans" pitchFamily="2"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cxnSp>
        <p:nvCxnSpPr>
          <p:cNvPr id="8" name="Konektor Panah Lurus 74">
            <a:extLst>
              <a:ext uri="{FF2B5EF4-FFF2-40B4-BE49-F238E27FC236}">
                <a16:creationId xmlns:a16="http://schemas.microsoft.com/office/drawing/2014/main" id="{FC425C8A-4081-6FFB-ACF1-5B57158ACF4F}"/>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9" name="Gambar 5" descr="Sebuah gambar berisi teks, Font, Grafis, desain grafis&#10;&#10;Konten yang dihasilkan AI mungkin salah.">
            <a:extLst>
              <a:ext uri="{FF2B5EF4-FFF2-40B4-BE49-F238E27FC236}">
                <a16:creationId xmlns:a16="http://schemas.microsoft.com/office/drawing/2014/main" id="{1213380E-859C-9DF9-54DA-1491297A8B9B}"/>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10" name="TextBox 372">
            <a:extLst>
              <a:ext uri="{FF2B5EF4-FFF2-40B4-BE49-F238E27FC236}">
                <a16:creationId xmlns:a16="http://schemas.microsoft.com/office/drawing/2014/main" id="{ED5F3337-AC40-0E36-837A-98D7BB495F8E}"/>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3305812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ABBDC-014D-39D7-540A-A0BD73757B3F}"/>
              </a:ext>
            </a:extLst>
          </p:cNvPr>
          <p:cNvSpPr>
            <a:spLocks noGrp="1"/>
          </p:cNvSpPr>
          <p:nvPr>
            <p:ph type="title"/>
          </p:nvPr>
        </p:nvSpPr>
        <p:spPr/>
        <p:txBody>
          <a:bodyPr/>
          <a:lstStyle>
            <a:lvl1pPr>
              <a:defRPr>
                <a:latin typeface="Gama-Sans" pitchFamily="2" charset="0"/>
              </a:defRPr>
            </a:lvl1pPr>
          </a:lstStyle>
          <a:p>
            <a:r>
              <a:rPr lang="fr-FR"/>
              <a:t>Modifiez le style du titre</a:t>
            </a:r>
            <a:endParaRPr lang="en-US"/>
          </a:p>
        </p:txBody>
      </p:sp>
      <p:sp>
        <p:nvSpPr>
          <p:cNvPr id="3" name="Vertical Text Placeholder 2">
            <a:extLst>
              <a:ext uri="{FF2B5EF4-FFF2-40B4-BE49-F238E27FC236}">
                <a16:creationId xmlns:a16="http://schemas.microsoft.com/office/drawing/2014/main" id="{346FB2FA-DD9E-809E-1963-67D6BE50D9B5}"/>
              </a:ext>
            </a:extLst>
          </p:cNvPr>
          <p:cNvSpPr>
            <a:spLocks noGrp="1"/>
          </p:cNvSpPr>
          <p:nvPr>
            <p:ph type="body" orient="vert" idx="1"/>
          </p:nvPr>
        </p:nvSpPr>
        <p:spPr/>
        <p:txBody>
          <a:bodyPr vert="eaVert"/>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cxnSp>
        <p:nvCxnSpPr>
          <p:cNvPr id="7" name="Konektor Panah Lurus 74">
            <a:extLst>
              <a:ext uri="{FF2B5EF4-FFF2-40B4-BE49-F238E27FC236}">
                <a16:creationId xmlns:a16="http://schemas.microsoft.com/office/drawing/2014/main" id="{0F985A3E-FC4B-2179-E944-F08FEEACD30A}"/>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8" name="Gambar 5" descr="Sebuah gambar berisi teks, Font, Grafis, desain grafis&#10;&#10;Konten yang dihasilkan AI mungkin salah.">
            <a:extLst>
              <a:ext uri="{FF2B5EF4-FFF2-40B4-BE49-F238E27FC236}">
                <a16:creationId xmlns:a16="http://schemas.microsoft.com/office/drawing/2014/main" id="{E517AA71-5D0B-FFC3-CC41-353CB2A2AE04}"/>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9" name="TextBox 372">
            <a:extLst>
              <a:ext uri="{FF2B5EF4-FFF2-40B4-BE49-F238E27FC236}">
                <a16:creationId xmlns:a16="http://schemas.microsoft.com/office/drawing/2014/main" id="{A8B251F0-B892-F49A-C8B5-517B5B3AB336}"/>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6025645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062F0-7A20-B7D9-638C-5CC5473C2389}"/>
              </a:ext>
            </a:extLst>
          </p:cNvPr>
          <p:cNvSpPr>
            <a:spLocks noGrp="1"/>
          </p:cNvSpPr>
          <p:nvPr>
            <p:ph type="title" orient="vert"/>
          </p:nvPr>
        </p:nvSpPr>
        <p:spPr>
          <a:xfrm>
            <a:off x="8724900" y="365125"/>
            <a:ext cx="2628900" cy="5811838"/>
          </a:xfrm>
        </p:spPr>
        <p:txBody>
          <a:bodyPr vert="eaVert"/>
          <a:lstStyle>
            <a:lvl1pPr>
              <a:defRPr>
                <a:latin typeface="Gama-Sans" pitchFamily="2" charset="0"/>
              </a:defRPr>
            </a:lvl1pPr>
          </a:lstStyle>
          <a:p>
            <a:r>
              <a:rPr lang="fr-FR"/>
              <a:t>Modifiez le style du titre</a:t>
            </a:r>
            <a:endParaRPr lang="en-US"/>
          </a:p>
        </p:txBody>
      </p:sp>
      <p:sp>
        <p:nvSpPr>
          <p:cNvPr id="3" name="Vertical Text Placeholder 2">
            <a:extLst>
              <a:ext uri="{FF2B5EF4-FFF2-40B4-BE49-F238E27FC236}">
                <a16:creationId xmlns:a16="http://schemas.microsoft.com/office/drawing/2014/main" id="{B22A81CA-E8A6-73FA-4E5C-90B96E34AE42}"/>
              </a:ext>
            </a:extLst>
          </p:cNvPr>
          <p:cNvSpPr>
            <a:spLocks noGrp="1"/>
          </p:cNvSpPr>
          <p:nvPr>
            <p:ph type="body" orient="vert" idx="1"/>
          </p:nvPr>
        </p:nvSpPr>
        <p:spPr>
          <a:xfrm>
            <a:off x="838200" y="365125"/>
            <a:ext cx="7734300" cy="5811838"/>
          </a:xfrm>
        </p:spPr>
        <p:txBody>
          <a:bodyPr vert="eaVert"/>
          <a:lstStyle>
            <a:lvl1pPr>
              <a:defRPr>
                <a:latin typeface="Gama-Sans" pitchFamily="2" charset="0"/>
              </a:defRPr>
            </a:lvl1pPr>
            <a:lvl2pPr>
              <a:defRPr>
                <a:latin typeface="Gama-Sans" pitchFamily="2" charset="0"/>
              </a:defRPr>
            </a:lvl2pPr>
            <a:lvl3pPr>
              <a:defRPr>
                <a:latin typeface="Gama-Sans" pitchFamily="2" charset="0"/>
              </a:defRPr>
            </a:lvl3pPr>
            <a:lvl4pPr>
              <a:defRPr>
                <a:latin typeface="Gama-Sans" pitchFamily="2" charset="0"/>
              </a:defRPr>
            </a:lvl4pPr>
            <a:lvl5pPr>
              <a:defRPr>
                <a:latin typeface="Gama-Sans" pitchFamily="2"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cxnSp>
        <p:nvCxnSpPr>
          <p:cNvPr id="7" name="Konektor Panah Lurus 74">
            <a:extLst>
              <a:ext uri="{FF2B5EF4-FFF2-40B4-BE49-F238E27FC236}">
                <a16:creationId xmlns:a16="http://schemas.microsoft.com/office/drawing/2014/main" id="{24EE1C75-1CBE-E570-CC75-17A54D7D1067}"/>
              </a:ext>
            </a:extLst>
          </p:cNvPr>
          <p:cNvCxnSpPr/>
          <p:nvPr/>
        </p:nvCxnSpPr>
        <p:spPr>
          <a:xfrm>
            <a:off x="341842" y="6362099"/>
            <a:ext cx="11498224" cy="15064"/>
          </a:xfrm>
          <a:prstGeom prst="straightConnector1">
            <a:avLst/>
          </a:prstGeom>
          <a:ln w="12700">
            <a:solidFill>
              <a:srgbClr val="01416B"/>
            </a:solidFill>
          </a:ln>
        </p:spPr>
        <p:style>
          <a:lnRef idx="1">
            <a:schemeClr val="accent1"/>
          </a:lnRef>
          <a:fillRef idx="0">
            <a:schemeClr val="accent1"/>
          </a:fillRef>
          <a:effectRef idx="0">
            <a:schemeClr val="accent1"/>
          </a:effectRef>
          <a:fontRef idx="minor">
            <a:schemeClr val="tx1"/>
          </a:fontRef>
        </p:style>
      </p:cxnSp>
      <p:pic>
        <p:nvPicPr>
          <p:cNvPr id="8" name="Gambar 5" descr="Sebuah gambar berisi teks, Font, Grafis, desain grafis&#10;&#10;Konten yang dihasilkan AI mungkin salah.">
            <a:extLst>
              <a:ext uri="{FF2B5EF4-FFF2-40B4-BE49-F238E27FC236}">
                <a16:creationId xmlns:a16="http://schemas.microsoft.com/office/drawing/2014/main" id="{2A1E9E83-AA91-7166-D4A8-12002F465542}"/>
              </a:ext>
            </a:extLst>
          </p:cNvPr>
          <p:cNvPicPr>
            <a:picLocks noChangeAspect="1"/>
          </p:cNvPicPr>
          <p:nvPr/>
        </p:nvPicPr>
        <p:blipFill>
          <a:blip r:embed="rId2"/>
          <a:stretch>
            <a:fillRect/>
          </a:stretch>
        </p:blipFill>
        <p:spPr>
          <a:xfrm>
            <a:off x="10416594" y="221043"/>
            <a:ext cx="1476138" cy="415023"/>
          </a:xfrm>
          <a:prstGeom prst="rect">
            <a:avLst/>
          </a:prstGeom>
        </p:spPr>
      </p:pic>
      <p:sp>
        <p:nvSpPr>
          <p:cNvPr id="9" name="TextBox 372">
            <a:extLst>
              <a:ext uri="{FF2B5EF4-FFF2-40B4-BE49-F238E27FC236}">
                <a16:creationId xmlns:a16="http://schemas.microsoft.com/office/drawing/2014/main" id="{A3F94C10-97DB-15C6-CD72-AFB397120890}"/>
              </a:ext>
            </a:extLst>
          </p:cNvPr>
          <p:cNvSpPr txBox="1"/>
          <p:nvPr/>
        </p:nvSpPr>
        <p:spPr>
          <a:xfrm>
            <a:off x="2422495" y="6439415"/>
            <a:ext cx="7343814" cy="323165"/>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500" b="1" i="1" err="1">
                <a:ln/>
                <a:solidFill>
                  <a:srgbClr val="01416B"/>
                </a:solidFill>
                <a:latin typeface="Gama-Sans-Bold"/>
                <a:sym typeface="Gama-Sans-Regular"/>
              </a:rPr>
              <a:t>Merakyat</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Mandiri</a:t>
            </a:r>
            <a:r>
              <a:rPr lang="en-US" sz="1500" b="1" i="1">
                <a:ln/>
                <a:solidFill>
                  <a:srgbClr val="01416B"/>
                </a:solidFill>
                <a:latin typeface="Gama-Sans-Bold"/>
                <a:sym typeface="Gama-Sans-Regular"/>
              </a:rPr>
              <a:t>, </a:t>
            </a:r>
            <a:r>
              <a:rPr lang="en-US" sz="1500" b="1" i="1" err="1">
                <a:ln/>
                <a:solidFill>
                  <a:srgbClr val="01416B"/>
                </a:solidFill>
                <a:latin typeface="Gama-Sans-Bold"/>
                <a:sym typeface="Gama-Sans-Regular"/>
              </a:rPr>
              <a:t>Berkelanjutan</a:t>
            </a:r>
            <a:r>
              <a:rPr lang="en-US" sz="1500" b="1">
                <a:ln/>
                <a:solidFill>
                  <a:srgbClr val="01416B"/>
                </a:solidFill>
                <a:latin typeface="Gama-Sans-Bold"/>
                <a:sym typeface="Gama-Sans-Regular"/>
              </a:rPr>
              <a:t> | </a:t>
            </a:r>
            <a:r>
              <a:rPr lang="en-US" sz="1500" b="1" i="1">
                <a:ln/>
                <a:solidFill>
                  <a:srgbClr val="01416B"/>
                </a:solidFill>
                <a:latin typeface="Gama-Sans-Bold"/>
                <a:ea typeface="Calibri"/>
                <a:cs typeface="Calibri"/>
                <a:sym typeface="Gama-Sans-Regular"/>
              </a:rPr>
              <a:t>Inclusive, </a:t>
            </a:r>
            <a:r>
              <a:rPr lang="en-US" sz="1500" b="1" i="1">
                <a:ln/>
                <a:solidFill>
                  <a:srgbClr val="01416B"/>
                </a:solidFill>
                <a:latin typeface="Gama-Sans-Bold"/>
                <a:ea typeface="Calibri"/>
                <a:cs typeface="Calibri"/>
              </a:rPr>
              <a:t>Self-Reliant, Sustainable </a:t>
            </a:r>
            <a:endParaRPr lang="en-US" sz="1500" i="1">
              <a:ln/>
              <a:solidFill>
                <a:srgbClr val="000000"/>
              </a:solidFill>
              <a:latin typeface="Gama-Sans-Bold"/>
              <a:ea typeface="Calibri" panose="020F0502020204030204"/>
              <a:cs typeface="Calibri" panose="020F0502020204030204"/>
            </a:endParaRPr>
          </a:p>
        </p:txBody>
      </p:sp>
    </p:spTree>
    <p:extLst>
      <p:ext uri="{BB962C8B-B14F-4D97-AF65-F5344CB8AC3E}">
        <p14:creationId xmlns:p14="http://schemas.microsoft.com/office/powerpoint/2010/main" val="34690761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isposition personnalisé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968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6319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44006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D2D378-558B-FD59-5188-898F0933E4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en-US"/>
          </a:p>
        </p:txBody>
      </p:sp>
      <p:sp>
        <p:nvSpPr>
          <p:cNvPr id="3" name="Text Placeholder 2">
            <a:extLst>
              <a:ext uri="{FF2B5EF4-FFF2-40B4-BE49-F238E27FC236}">
                <a16:creationId xmlns:a16="http://schemas.microsoft.com/office/drawing/2014/main" id="{4B0C27B1-85EF-579A-7123-32529B0BF3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id="{053783AB-E86C-7103-0448-8A46DF9071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CD9F01-457B-504C-A437-A67D544BECDE}" type="datetimeFigureOut">
              <a:rPr lang="en-US" smtClean="0"/>
              <a:t>10/15/2026</a:t>
            </a:fld>
            <a:endParaRPr lang="en-US"/>
          </a:p>
        </p:txBody>
      </p:sp>
      <p:sp>
        <p:nvSpPr>
          <p:cNvPr id="5" name="Footer Placeholder 4">
            <a:extLst>
              <a:ext uri="{FF2B5EF4-FFF2-40B4-BE49-F238E27FC236}">
                <a16:creationId xmlns:a16="http://schemas.microsoft.com/office/drawing/2014/main" id="{7B184012-760A-403B-7BF4-BFC396D944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6E88D2C-E4ED-4E06-15FB-C40E0FDC73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B820A5-7F89-B742-84A8-5987E3A8A6B6}" type="slidenum">
              <a:rPr lang="en-US" smtClean="0"/>
              <a:t>‹N°›</a:t>
            </a:fld>
            <a:endParaRPr lang="en-US"/>
          </a:p>
        </p:txBody>
      </p:sp>
    </p:spTree>
    <p:extLst>
      <p:ext uri="{BB962C8B-B14F-4D97-AF65-F5344CB8AC3E}">
        <p14:creationId xmlns:p14="http://schemas.microsoft.com/office/powerpoint/2010/main" val="19502677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txStyles>
    <p:titleStyle>
      <a:lvl1pPr algn="l" defTabSz="914400" rtl="0" eaLnBrk="1" latinLnBrk="0" hangingPunct="1">
        <a:lnSpc>
          <a:spcPct val="90000"/>
        </a:lnSpc>
        <a:spcBef>
          <a:spcPct val="0"/>
        </a:spcBef>
        <a:buNone/>
        <a:defRPr sz="4400" kern="1200">
          <a:solidFill>
            <a:schemeClr val="tx1"/>
          </a:solidFill>
          <a:latin typeface="Gama-Sans"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Gama-Sans"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Gama-Sans"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Gama-Sans"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ama-Sans"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ama-Sans"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zidanarsyad/pmml-group-project-1" TargetMode="External"/><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CB9FCB5-7101-5F06-EA95-2A22FE5DA446}"/>
              </a:ext>
            </a:extLst>
          </p:cNvPr>
          <p:cNvSpPr txBox="1">
            <a:spLocks noGrp="1" noRot="1" noMove="1" noResize="1" noEditPoints="1" noAdjustHandles="1" noChangeArrowheads="1" noChangeShapeType="1"/>
          </p:cNvSpPr>
          <p:nvPr/>
        </p:nvSpPr>
        <p:spPr>
          <a:xfrm>
            <a:off x="256225" y="6335531"/>
            <a:ext cx="1571314" cy="333330"/>
          </a:xfrm>
          <a:prstGeom prst="rect">
            <a:avLst/>
          </a:prstGeom>
          <a:noFill/>
        </p:spPr>
        <p:txBody>
          <a:bodyPr wrap="square" rtlCol="0">
            <a:spAutoFit/>
          </a:bodyPr>
          <a:lstStyle/>
          <a:p>
            <a:pPr algn="l"/>
            <a:r>
              <a:rPr lang="en-US" sz="1500" spc="300" baseline="0" err="1">
                <a:ln/>
                <a:solidFill>
                  <a:srgbClr val="0E426B"/>
                </a:solidFill>
                <a:latin typeface="Gama-Sans-Bold"/>
                <a:sym typeface="Gama-Sans-Bold"/>
                <a:rtl val="0"/>
              </a:rPr>
              <a:t>ugm.ac.id</a:t>
            </a:r>
            <a:endParaRPr lang="en-US" sz="1500" spc="300" baseline="0">
              <a:ln/>
              <a:solidFill>
                <a:srgbClr val="0E426B"/>
              </a:solidFill>
              <a:latin typeface="Gama-Sans-Bold"/>
              <a:sym typeface="Gama-Sans-Bold"/>
              <a:rtl val="0"/>
            </a:endParaRPr>
          </a:p>
        </p:txBody>
      </p:sp>
      <p:sp>
        <p:nvSpPr>
          <p:cNvPr id="10" name="TextBox 9">
            <a:extLst>
              <a:ext uri="{FF2B5EF4-FFF2-40B4-BE49-F238E27FC236}">
                <a16:creationId xmlns:a16="http://schemas.microsoft.com/office/drawing/2014/main" id="{0F2E16C3-8ECB-D279-7EE8-7FE1D1B53325}"/>
              </a:ext>
            </a:extLst>
          </p:cNvPr>
          <p:cNvSpPr txBox="1"/>
          <p:nvPr/>
        </p:nvSpPr>
        <p:spPr>
          <a:xfrm>
            <a:off x="6213278" y="4370375"/>
            <a:ext cx="5978722" cy="1200329"/>
          </a:xfrm>
          <a:prstGeom prst="rect">
            <a:avLst/>
          </a:prstGeom>
          <a:noFill/>
        </p:spPr>
        <p:txBody>
          <a:bodyPr wrap="square" rtlCol="0">
            <a:spAutoFit/>
          </a:bodyPr>
          <a:lstStyle/>
          <a:p>
            <a:r>
              <a:rPr lang="fr-FR" b="1" dirty="0"/>
              <a:t>PUYOU-BRACQ Edgar	     26/581691/NPA/20031</a:t>
            </a:r>
          </a:p>
          <a:p>
            <a:r>
              <a:rPr lang="fr-FR" b="1" dirty="0" err="1"/>
              <a:t>Aulia</a:t>
            </a:r>
            <a:r>
              <a:rPr lang="fr-FR" b="1" dirty="0"/>
              <a:t> Gita </a:t>
            </a:r>
            <a:r>
              <a:rPr lang="fr-FR" b="1" dirty="0" err="1"/>
              <a:t>Pratiwi</a:t>
            </a:r>
            <a:r>
              <a:rPr lang="fr-FR" b="1" dirty="0"/>
              <a:t> 		     25/572701/PPA/07197</a:t>
            </a:r>
          </a:p>
          <a:p>
            <a:r>
              <a:rPr lang="fr-FR" b="1" dirty="0"/>
              <a:t> Muhammad Zidan Arsyad 	     25/572381/PPA/07192</a:t>
            </a:r>
          </a:p>
          <a:p>
            <a:r>
              <a:rPr lang="fr-FR" b="1" dirty="0" err="1"/>
              <a:t>Farichaturrifqi</a:t>
            </a:r>
            <a:r>
              <a:rPr lang="fr-FR" b="1" dirty="0"/>
              <a:t> </a:t>
            </a:r>
            <a:r>
              <a:rPr lang="fr-FR" b="1" dirty="0" err="1"/>
              <a:t>Aryanitasari</a:t>
            </a:r>
            <a:r>
              <a:rPr lang="fr-FR" b="1" dirty="0"/>
              <a:t>    25/574224/PPA/07240</a:t>
            </a:r>
          </a:p>
        </p:txBody>
      </p:sp>
      <p:sp>
        <p:nvSpPr>
          <p:cNvPr id="34" name="Freeform 33">
            <a:extLst>
              <a:ext uri="{FF2B5EF4-FFF2-40B4-BE49-F238E27FC236}">
                <a16:creationId xmlns:a16="http://schemas.microsoft.com/office/drawing/2014/main" id="{556B42BB-9030-DBEC-FD2C-3CC3685818C2}"/>
              </a:ext>
            </a:extLst>
          </p:cNvPr>
          <p:cNvSpPr>
            <a:spLocks noGrp="1" noRot="1" noMove="1" noResize="1" noEditPoints="1" noAdjustHandles="1" noChangeArrowheads="1" noChangeShapeType="1"/>
          </p:cNvSpPr>
          <p:nvPr/>
        </p:nvSpPr>
        <p:spPr>
          <a:xfrm>
            <a:off x="6331299" y="3946651"/>
            <a:ext cx="777176" cy="32258"/>
          </a:xfrm>
          <a:custGeom>
            <a:avLst/>
            <a:gdLst>
              <a:gd name="connsiteX0" fmla="*/ 0 w 777176"/>
              <a:gd name="connsiteY0" fmla="*/ 0 h 32258"/>
              <a:gd name="connsiteX1" fmla="*/ 777176 w 777176"/>
              <a:gd name="connsiteY1" fmla="*/ 0 h 32258"/>
              <a:gd name="connsiteX2" fmla="*/ 777176 w 777176"/>
              <a:gd name="connsiteY2" fmla="*/ 32258 h 32258"/>
              <a:gd name="connsiteX3" fmla="*/ 0 w 777176"/>
              <a:gd name="connsiteY3" fmla="*/ 32258 h 32258"/>
            </a:gdLst>
            <a:ahLst/>
            <a:cxnLst>
              <a:cxn ang="0">
                <a:pos x="connsiteX0" y="connsiteY0"/>
              </a:cxn>
              <a:cxn ang="0">
                <a:pos x="connsiteX1" y="connsiteY1"/>
              </a:cxn>
              <a:cxn ang="0">
                <a:pos x="connsiteX2" y="connsiteY2"/>
              </a:cxn>
              <a:cxn ang="0">
                <a:pos x="connsiteX3" y="connsiteY3"/>
              </a:cxn>
            </a:cxnLst>
            <a:rect l="l" t="t" r="r" b="b"/>
            <a:pathLst>
              <a:path w="777176" h="32258">
                <a:moveTo>
                  <a:pt x="0" y="0"/>
                </a:moveTo>
                <a:lnTo>
                  <a:pt x="777176" y="0"/>
                </a:lnTo>
                <a:lnTo>
                  <a:pt x="777176" y="32258"/>
                </a:lnTo>
                <a:lnTo>
                  <a:pt x="0" y="32258"/>
                </a:lnTo>
                <a:close/>
              </a:path>
            </a:pathLst>
          </a:custGeom>
          <a:solidFill>
            <a:srgbClr val="FDD402"/>
          </a:solidFill>
          <a:ln w="6350" cap="flat">
            <a:noFill/>
            <a:prstDash val="solid"/>
            <a:miter/>
          </a:ln>
        </p:spPr>
        <p:txBody>
          <a:bodyPr rtlCol="0" anchor="ctr"/>
          <a:lstStyle/>
          <a:p>
            <a:endParaRPr lang="en-US"/>
          </a:p>
        </p:txBody>
      </p:sp>
      <p:sp>
        <p:nvSpPr>
          <p:cNvPr id="339" name="TextBox 338">
            <a:extLst>
              <a:ext uri="{FF2B5EF4-FFF2-40B4-BE49-F238E27FC236}">
                <a16:creationId xmlns:a16="http://schemas.microsoft.com/office/drawing/2014/main" id="{3798821E-9396-C132-17A6-B92010C7E269}"/>
              </a:ext>
            </a:extLst>
          </p:cNvPr>
          <p:cNvSpPr txBox="1"/>
          <p:nvPr/>
        </p:nvSpPr>
        <p:spPr>
          <a:xfrm>
            <a:off x="6212911" y="1772259"/>
            <a:ext cx="5264900" cy="1446550"/>
          </a:xfrm>
          <a:prstGeom prst="rect">
            <a:avLst/>
          </a:prstGeom>
          <a:noFill/>
        </p:spPr>
        <p:txBody>
          <a:bodyPr wrap="square" rtlCol="0">
            <a:spAutoFit/>
          </a:bodyPr>
          <a:lstStyle/>
          <a:p>
            <a:r>
              <a:rPr lang="en-US" sz="4400" dirty="0">
                <a:ln/>
                <a:solidFill>
                  <a:srgbClr val="01416B"/>
                </a:solidFill>
                <a:latin typeface="Gama-Sans-Bold"/>
                <a:sym typeface="Gama-Sans-Bold"/>
                <a:rtl val="0"/>
              </a:rPr>
              <a:t>Dry bean variety classification</a:t>
            </a:r>
            <a:endParaRPr lang="en-US" sz="3000" dirty="0">
              <a:ln/>
              <a:solidFill>
                <a:srgbClr val="01416B"/>
              </a:solidFill>
              <a:latin typeface="Gama-Sans-Bold"/>
              <a:sym typeface="Gama-Sans-Bold"/>
              <a:rtl val="0"/>
            </a:endParaRPr>
          </a:p>
        </p:txBody>
      </p:sp>
      <p:pic>
        <p:nvPicPr>
          <p:cNvPr id="6" name="Gambar 5" descr="Sebuah gambar berisi teks, Font, Grafis, desain grafis&#10;&#10;Konten yang dihasilkan AI mungkin salah.">
            <a:extLst>
              <a:ext uri="{FF2B5EF4-FFF2-40B4-BE49-F238E27FC236}">
                <a16:creationId xmlns:a16="http://schemas.microsoft.com/office/drawing/2014/main" id="{419009CE-8BDA-F04A-0453-C06C40809A6B}"/>
              </a:ext>
            </a:extLst>
          </p:cNvPr>
          <p:cNvPicPr>
            <a:picLocks noGrp="1" noRot="1" noChangeAspect="1" noMove="1" noResize="1" noEditPoints="1" noAdjustHandles="1" noChangeArrowheads="1" noChangeShapeType="1" noCrop="1"/>
          </p:cNvPicPr>
          <p:nvPr/>
        </p:nvPicPr>
        <p:blipFill>
          <a:blip r:embed="rId4"/>
          <a:stretch>
            <a:fillRect/>
          </a:stretch>
        </p:blipFill>
        <p:spPr>
          <a:xfrm>
            <a:off x="425302" y="406202"/>
            <a:ext cx="2622698" cy="742610"/>
          </a:xfrm>
          <a:prstGeom prst="rect">
            <a:avLst/>
          </a:prstGeom>
        </p:spPr>
      </p:pic>
      <p:sp>
        <p:nvSpPr>
          <p:cNvPr id="4" name="TextBox 372">
            <a:extLst>
              <a:ext uri="{FF2B5EF4-FFF2-40B4-BE49-F238E27FC236}">
                <a16:creationId xmlns:a16="http://schemas.microsoft.com/office/drawing/2014/main" id="{A899A740-6A8C-D6A0-3426-06F59EF3FEB9}"/>
              </a:ext>
            </a:extLst>
          </p:cNvPr>
          <p:cNvSpPr txBox="1">
            <a:spLocks noGrp="1" noRot="1" noMove="1" noResize="1" noEditPoints="1" noAdjustHandles="1" noChangeArrowheads="1" noChangeShapeType="1"/>
          </p:cNvSpPr>
          <p:nvPr/>
        </p:nvSpPr>
        <p:spPr>
          <a:xfrm>
            <a:off x="5581251" y="6110146"/>
            <a:ext cx="5896559" cy="569387"/>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500" b="1" i="1" dirty="0" err="1">
                <a:ln/>
                <a:solidFill>
                  <a:srgbClr val="01416B"/>
                </a:solidFill>
                <a:latin typeface="Gama-Sans-Bold"/>
                <a:sym typeface="Gama-Sans-Regular"/>
              </a:rPr>
              <a:t>Merakyat</a:t>
            </a:r>
            <a:r>
              <a:rPr lang="en-US" sz="1500" b="1" i="1" dirty="0">
                <a:ln/>
                <a:solidFill>
                  <a:srgbClr val="01416B"/>
                </a:solidFill>
                <a:latin typeface="Gama-Sans-Bold"/>
                <a:sym typeface="Gama-Sans-Regular"/>
              </a:rPr>
              <a:t>, </a:t>
            </a:r>
            <a:r>
              <a:rPr lang="en-US" sz="1500" b="1" i="1" dirty="0" err="1">
                <a:ln/>
                <a:solidFill>
                  <a:srgbClr val="01416B"/>
                </a:solidFill>
                <a:latin typeface="Gama-Sans-Bold"/>
                <a:sym typeface="Gama-Sans-Regular"/>
              </a:rPr>
              <a:t>Mandiri</a:t>
            </a:r>
            <a:r>
              <a:rPr lang="en-US" sz="1500" b="1" i="1" dirty="0">
                <a:ln/>
                <a:solidFill>
                  <a:srgbClr val="01416B"/>
                </a:solidFill>
                <a:latin typeface="Gama-Sans-Bold"/>
                <a:sym typeface="Gama-Sans-Regular"/>
              </a:rPr>
              <a:t>, </a:t>
            </a:r>
            <a:r>
              <a:rPr lang="en-US" sz="1500" b="1" i="1" dirty="0" err="1">
                <a:ln/>
                <a:solidFill>
                  <a:srgbClr val="01416B"/>
                </a:solidFill>
                <a:latin typeface="Gama-Sans-Bold"/>
                <a:sym typeface="Gama-Sans-Regular"/>
              </a:rPr>
              <a:t>Berkelanjutan</a:t>
            </a:r>
            <a:endParaRPr lang="en-US" sz="1500" b="1" i="1">
              <a:ln/>
              <a:solidFill>
                <a:srgbClr val="01416B"/>
              </a:solidFill>
              <a:latin typeface="Gama-Sans-Bold"/>
              <a:ea typeface="Calibri" panose="020F0502020204030204"/>
              <a:cs typeface="Calibri" panose="020F0502020204030204"/>
            </a:endParaRPr>
          </a:p>
          <a:p>
            <a:pPr algn="r"/>
            <a:r>
              <a:rPr lang="en-US" sz="1550" b="1" i="1">
                <a:ln/>
                <a:solidFill>
                  <a:srgbClr val="01416B"/>
                </a:solidFill>
                <a:latin typeface="Calibri"/>
                <a:ea typeface="Calibri"/>
                <a:cs typeface="Calibri"/>
                <a:sym typeface="Gama-Sans-Regular"/>
              </a:rPr>
              <a:t>Inclusive, </a:t>
            </a:r>
            <a:r>
              <a:rPr lang="en-US" sz="1550" b="1" i="1">
                <a:ln/>
                <a:solidFill>
                  <a:srgbClr val="01416B"/>
                </a:solidFill>
                <a:latin typeface="Calibri"/>
                <a:ea typeface="Calibri"/>
                <a:cs typeface="Calibri"/>
              </a:rPr>
              <a:t>Self-Reliant, Sustainable </a:t>
            </a:r>
            <a:endParaRPr lang="en-US" sz="1550">
              <a:ea typeface="Calibri"/>
              <a:cs typeface="Calibri"/>
            </a:endParaRPr>
          </a:p>
        </p:txBody>
      </p:sp>
      <p:sp>
        <p:nvSpPr>
          <p:cNvPr id="9" name="Freeform 8">
            <a:extLst>
              <a:ext uri="{FF2B5EF4-FFF2-40B4-BE49-F238E27FC236}">
                <a16:creationId xmlns:a16="http://schemas.microsoft.com/office/drawing/2014/main" id="{E2BE0CFD-EEF8-F497-D63E-9FFC2728620B}"/>
              </a:ext>
            </a:extLst>
          </p:cNvPr>
          <p:cNvSpPr>
            <a:spLocks noGrp="1" noRot="1" noMove="1" noResize="1" noEditPoints="1" noAdjustHandles="1" noChangeArrowheads="1" noChangeShapeType="1"/>
          </p:cNvSpPr>
          <p:nvPr/>
        </p:nvSpPr>
        <p:spPr>
          <a:xfrm>
            <a:off x="12006597" y="0"/>
            <a:ext cx="205098" cy="3904921"/>
          </a:xfrm>
          <a:custGeom>
            <a:avLst/>
            <a:gdLst>
              <a:gd name="connsiteX0" fmla="*/ 0 w 177926"/>
              <a:gd name="connsiteY0" fmla="*/ 0 h 1672272"/>
              <a:gd name="connsiteX1" fmla="*/ 177927 w 177926"/>
              <a:gd name="connsiteY1" fmla="*/ 0 h 1672272"/>
              <a:gd name="connsiteX2" fmla="*/ 177927 w 177926"/>
              <a:gd name="connsiteY2" fmla="*/ 1672273 h 1672272"/>
              <a:gd name="connsiteX3" fmla="*/ 0 w 177926"/>
              <a:gd name="connsiteY3" fmla="*/ 1672273 h 1672272"/>
            </a:gdLst>
            <a:ahLst/>
            <a:cxnLst>
              <a:cxn ang="0">
                <a:pos x="connsiteX0" y="connsiteY0"/>
              </a:cxn>
              <a:cxn ang="0">
                <a:pos x="connsiteX1" y="connsiteY1"/>
              </a:cxn>
              <a:cxn ang="0">
                <a:pos x="connsiteX2" y="connsiteY2"/>
              </a:cxn>
              <a:cxn ang="0">
                <a:pos x="connsiteX3" y="connsiteY3"/>
              </a:cxn>
            </a:cxnLst>
            <a:rect l="l" t="t" r="r" b="b"/>
            <a:pathLst>
              <a:path w="177926" h="1672272">
                <a:moveTo>
                  <a:pt x="0" y="0"/>
                </a:moveTo>
                <a:lnTo>
                  <a:pt x="177927" y="0"/>
                </a:lnTo>
                <a:lnTo>
                  <a:pt x="177927" y="1672273"/>
                </a:lnTo>
                <a:lnTo>
                  <a:pt x="0" y="1672273"/>
                </a:lnTo>
                <a:close/>
              </a:path>
            </a:pathLst>
          </a:custGeom>
          <a:solidFill>
            <a:srgbClr val="FDD402"/>
          </a:solidFill>
          <a:ln w="6350" cap="flat">
            <a:noFill/>
            <a:prstDash val="solid"/>
            <a:miter/>
          </a:ln>
        </p:spPr>
        <p:txBody>
          <a:bodyPr rtlCol="0" anchor="ctr"/>
          <a:lstStyle/>
          <a:p>
            <a:endParaRPr lang="en-US"/>
          </a:p>
        </p:txBody>
      </p:sp>
      <p:sp>
        <p:nvSpPr>
          <p:cNvPr id="3" name="Freeform 8">
            <a:extLst>
              <a:ext uri="{FF2B5EF4-FFF2-40B4-BE49-F238E27FC236}">
                <a16:creationId xmlns:a16="http://schemas.microsoft.com/office/drawing/2014/main" id="{B8F8973F-75B7-4BBB-EECF-01BF50833A32}"/>
              </a:ext>
            </a:extLst>
          </p:cNvPr>
          <p:cNvSpPr>
            <a:spLocks noGrp="1" noRot="1" noMove="1" noResize="1" noEditPoints="1" noAdjustHandles="1" noChangeArrowheads="1" noChangeShapeType="1"/>
          </p:cNvSpPr>
          <p:nvPr/>
        </p:nvSpPr>
        <p:spPr>
          <a:xfrm>
            <a:off x="12006597" y="3897744"/>
            <a:ext cx="204766" cy="2970372"/>
          </a:xfrm>
          <a:custGeom>
            <a:avLst/>
            <a:gdLst>
              <a:gd name="connsiteX0" fmla="*/ 0 w 177926"/>
              <a:gd name="connsiteY0" fmla="*/ 0 h 1672272"/>
              <a:gd name="connsiteX1" fmla="*/ 177927 w 177926"/>
              <a:gd name="connsiteY1" fmla="*/ 0 h 1672272"/>
              <a:gd name="connsiteX2" fmla="*/ 177927 w 177926"/>
              <a:gd name="connsiteY2" fmla="*/ 1672273 h 1672272"/>
              <a:gd name="connsiteX3" fmla="*/ 0 w 177926"/>
              <a:gd name="connsiteY3" fmla="*/ 1672273 h 1672272"/>
            </a:gdLst>
            <a:ahLst/>
            <a:cxnLst>
              <a:cxn ang="0">
                <a:pos x="connsiteX0" y="connsiteY0"/>
              </a:cxn>
              <a:cxn ang="0">
                <a:pos x="connsiteX1" y="connsiteY1"/>
              </a:cxn>
              <a:cxn ang="0">
                <a:pos x="connsiteX2" y="connsiteY2"/>
              </a:cxn>
              <a:cxn ang="0">
                <a:pos x="connsiteX3" y="connsiteY3"/>
              </a:cxn>
            </a:cxnLst>
            <a:rect l="l" t="t" r="r" b="b"/>
            <a:pathLst>
              <a:path w="177926" h="1672272">
                <a:moveTo>
                  <a:pt x="0" y="0"/>
                </a:moveTo>
                <a:lnTo>
                  <a:pt x="177927" y="0"/>
                </a:lnTo>
                <a:lnTo>
                  <a:pt x="177927" y="1672273"/>
                </a:lnTo>
                <a:lnTo>
                  <a:pt x="0" y="1672273"/>
                </a:lnTo>
                <a:close/>
              </a:path>
            </a:pathLst>
          </a:custGeom>
          <a:solidFill>
            <a:srgbClr val="01416B"/>
          </a:solidFill>
          <a:ln w="6350" cap="flat">
            <a:noFill/>
            <a:prstDash val="solid"/>
            <a:miter/>
          </a:ln>
        </p:spPr>
        <p:txBody>
          <a:bodyPr rtlCol="0" anchor="ctr"/>
          <a:lstStyle/>
          <a:p>
            <a:endParaRPr lang="en-US"/>
          </a:p>
        </p:txBody>
      </p:sp>
      <p:sp>
        <p:nvSpPr>
          <p:cNvPr id="5" name="TextBox 9">
            <a:extLst>
              <a:ext uri="{FF2B5EF4-FFF2-40B4-BE49-F238E27FC236}">
                <a16:creationId xmlns:a16="http://schemas.microsoft.com/office/drawing/2014/main" id="{F4952E87-B8A7-0600-34A4-D71E8CB769E4}"/>
              </a:ext>
            </a:extLst>
          </p:cNvPr>
          <p:cNvSpPr txBox="1"/>
          <p:nvPr/>
        </p:nvSpPr>
        <p:spPr>
          <a:xfrm>
            <a:off x="6212911" y="3187155"/>
            <a:ext cx="3753369" cy="611001"/>
          </a:xfrm>
          <a:prstGeom prst="rect">
            <a:avLst/>
          </a:prstGeom>
          <a:noFill/>
        </p:spPr>
        <p:txBody>
          <a:bodyPr wrap="square" rtlCol="0">
            <a:spAutoFit/>
          </a:bodyPr>
          <a:lstStyle/>
          <a:p>
            <a:pPr>
              <a:lnSpc>
                <a:spcPts val="2080"/>
              </a:lnSpc>
            </a:pPr>
            <a:r>
              <a:rPr lang="en-US" sz="1400" dirty="0">
                <a:ln/>
                <a:solidFill>
                  <a:schemeClr val="tx2">
                    <a:lumMod val="50000"/>
                    <a:lumOff val="50000"/>
                  </a:schemeClr>
                </a:solidFill>
                <a:latin typeface="Gama-Sans-Regular"/>
                <a:sym typeface="Gama-Sans-Regular"/>
                <a:rtl val="0"/>
              </a:rPr>
              <a:t>Advanced Deep Learning</a:t>
            </a:r>
          </a:p>
          <a:p>
            <a:pPr>
              <a:lnSpc>
                <a:spcPts val="2080"/>
              </a:lnSpc>
            </a:pPr>
            <a:r>
              <a:rPr lang="en-US" sz="1400" dirty="0">
                <a:ln/>
                <a:solidFill>
                  <a:schemeClr val="tx2">
                    <a:lumMod val="50000"/>
                    <a:lumOff val="50000"/>
                  </a:schemeClr>
                </a:solidFill>
                <a:latin typeface="Gama-Sans-Regular"/>
                <a:sym typeface="Gama-Sans-Regular"/>
                <a:rtl val="0"/>
              </a:rPr>
              <a:t>Group Mini Project – 16 October 2026</a:t>
            </a:r>
          </a:p>
        </p:txBody>
      </p:sp>
    </p:spTree>
    <p:extLst>
      <p:ext uri="{BB962C8B-B14F-4D97-AF65-F5344CB8AC3E}">
        <p14:creationId xmlns:p14="http://schemas.microsoft.com/office/powerpoint/2010/main" val="37164082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20A4858-7C01-4784-9412-C3DFA265FF73}"/>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dirty="0">
                <a:solidFill>
                  <a:srgbClr val="153442"/>
                </a:solidFill>
                <a:latin typeface="Arial"/>
                <a:ea typeface="Arial"/>
                <a:cs typeface="Arial"/>
              </a:rPr>
              <a:t>Group responsibilities</a:t>
            </a:r>
          </a:p>
        </p:txBody>
      </p:sp>
      <p:sp>
        <p:nvSpPr>
          <p:cNvPr id="2" name="Rectangle 1">
            <a:extLst>
              <a:ext uri="{FF2B5EF4-FFF2-40B4-BE49-F238E27FC236}">
                <a16:creationId xmlns:a16="http://schemas.microsoft.com/office/drawing/2014/main" id="{65E99AC9-7DBC-4C42-9A6F-22CC34314C14}"/>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02</a:t>
            </a:r>
          </a:p>
        </p:txBody>
      </p:sp>
      <p:graphicFrame>
        <p:nvGraphicFramePr>
          <p:cNvPr id="8" name="Tableau 7"/>
          <p:cNvGraphicFramePr/>
          <p:nvPr>
            <p:extLst>
              <p:ext uri="{D42A27DB-BD31-4B8C-83A1-F6EECF244321}">
                <p14:modId xmlns:p14="http://schemas.microsoft.com/office/powerpoint/2010/main" val="3429967312"/>
              </p:ext>
            </p:extLst>
          </p:nvPr>
        </p:nvGraphicFramePr>
        <p:xfrm>
          <a:off x="571500" y="1466850"/>
          <a:ext cx="11049000" cy="3333750"/>
        </p:xfrm>
        <a:graphic>
          <a:graphicData uri="http://schemas.openxmlformats.org/drawingml/2006/table">
            <a:tbl>
              <a:tblPr/>
              <a:tblGrid>
                <a:gridCol w="1714500">
                  <a:extLst>
                    <a:ext uri="{9D8B030D-6E8A-4147-A177-3AD203B41FA5}">
                      <a16:colId xmlns:a16="http://schemas.microsoft.com/office/drawing/2014/main" val="20000"/>
                    </a:ext>
                  </a:extLst>
                </a:gridCol>
                <a:gridCol w="7096125">
                  <a:extLst>
                    <a:ext uri="{9D8B030D-6E8A-4147-A177-3AD203B41FA5}">
                      <a16:colId xmlns:a16="http://schemas.microsoft.com/office/drawing/2014/main" val="20001"/>
                    </a:ext>
                  </a:extLst>
                </a:gridCol>
                <a:gridCol w="2238375">
                  <a:extLst>
                    <a:ext uri="{9D8B030D-6E8A-4147-A177-3AD203B41FA5}">
                      <a16:colId xmlns:a16="http://schemas.microsoft.com/office/drawing/2014/main" val="20002"/>
                    </a:ext>
                  </a:extLst>
                </a:gridCol>
              </a:tblGrid>
              <a:tr h="666750">
                <a:tc>
                  <a:txBody>
                    <a:bodyPr/>
                    <a:lstStyle/>
                    <a:p>
                      <a:r>
                        <a:rPr sz="1875" b="1">
                          <a:solidFill>
                            <a:srgbClr val="FFFFFF"/>
                          </a:solidFill>
                          <a:latin typeface="Arial"/>
                          <a:ea typeface="Arial"/>
                          <a:cs typeface="Arial"/>
                        </a:rPr>
                        <a:t>Member</a:t>
                      </a:r>
                    </a:p>
                  </a:txBody>
                  <a:tcPr>
                    <a:solidFill>
                      <a:srgbClr val="153442"/>
                    </a:solidFill>
                  </a:tcPr>
                </a:tc>
                <a:tc>
                  <a:txBody>
                    <a:bodyPr/>
                    <a:lstStyle/>
                    <a:p>
                      <a:r>
                        <a:rPr sz="1875" b="1">
                          <a:solidFill>
                            <a:srgbClr val="FFFFFF"/>
                          </a:solidFill>
                          <a:latin typeface="Arial"/>
                          <a:ea typeface="Arial"/>
                          <a:cs typeface="Arial"/>
                        </a:rPr>
                        <a:t>Proposed responsibility</a:t>
                      </a:r>
                    </a:p>
                  </a:txBody>
                  <a:tcPr>
                    <a:solidFill>
                      <a:srgbClr val="153442"/>
                    </a:solidFill>
                  </a:tcPr>
                </a:tc>
                <a:tc>
                  <a:txBody>
                    <a:bodyPr/>
                    <a:lstStyle/>
                    <a:p>
                      <a:r>
                        <a:rPr sz="1875" b="1">
                          <a:solidFill>
                            <a:srgbClr val="FFFFFF"/>
                          </a:solidFill>
                          <a:latin typeface="Arial"/>
                          <a:ea typeface="Arial"/>
                          <a:cs typeface="Arial"/>
                        </a:rPr>
                        <a:t>Presentation</a:t>
                      </a:r>
                    </a:p>
                  </a:txBody>
                  <a:tcPr>
                    <a:solidFill>
                      <a:srgbClr val="153442"/>
                    </a:solidFill>
                  </a:tcPr>
                </a:tc>
                <a:extLst>
                  <a:ext uri="{0D108BD9-81ED-4DB2-BD59-A6C34878D82A}">
                    <a16:rowId xmlns:a16="http://schemas.microsoft.com/office/drawing/2014/main" val="10000"/>
                  </a:ext>
                </a:extLst>
              </a:tr>
              <a:tr h="666750">
                <a:tc>
                  <a:txBody>
                    <a:bodyPr/>
                    <a:lstStyle/>
                    <a:p>
                      <a:r>
                        <a:rPr lang="fr-FR" sz="1800" b="1" dirty="0"/>
                        <a:t>PUYOU-BRACQ Edgar</a:t>
                      </a:r>
                      <a:endParaRPr sz="1875" b="0" dirty="0">
                        <a:solidFill>
                          <a:srgbClr val="153442"/>
                        </a:solidFill>
                        <a:latin typeface="Arial"/>
                        <a:ea typeface="Arial"/>
                        <a:cs typeface="Arial"/>
                      </a:endParaRPr>
                    </a:p>
                  </a:txBody>
                  <a:tcPr>
                    <a:solidFill>
                      <a:srgbClr val="FFFFFF"/>
                    </a:solidFill>
                  </a:tcPr>
                </a:tc>
                <a:tc>
                  <a:txBody>
                    <a:bodyPr/>
                    <a:lstStyle/>
                    <a:p>
                      <a:r>
                        <a:rPr sz="1875" b="0">
                          <a:solidFill>
                            <a:srgbClr val="153442"/>
                          </a:solidFill>
                          <a:latin typeface="Arial"/>
                          <a:ea typeface="Arial"/>
                          <a:cs typeface="Arial"/>
                        </a:rPr>
                        <a:t>Problem, data and preprocessing</a:t>
                      </a:r>
                    </a:p>
                  </a:txBody>
                  <a:tcPr>
                    <a:solidFill>
                      <a:srgbClr val="FFFFFF"/>
                    </a:solidFill>
                  </a:tcPr>
                </a:tc>
                <a:tc>
                  <a:txBody>
                    <a:bodyPr/>
                    <a:lstStyle/>
                    <a:p>
                      <a:r>
                        <a:rPr sz="1875" b="0">
                          <a:solidFill>
                            <a:srgbClr val="153442"/>
                          </a:solidFill>
                          <a:latin typeface="Arial"/>
                          <a:ea typeface="Arial"/>
                          <a:cs typeface="Arial"/>
                        </a:rPr>
                        <a:t>Slides 1–4</a:t>
                      </a:r>
                    </a:p>
                  </a:txBody>
                  <a:tcPr>
                    <a:solidFill>
                      <a:srgbClr val="FFFFFF"/>
                    </a:solidFill>
                  </a:tcPr>
                </a:tc>
                <a:extLst>
                  <a:ext uri="{0D108BD9-81ED-4DB2-BD59-A6C34878D82A}">
                    <a16:rowId xmlns:a16="http://schemas.microsoft.com/office/drawing/2014/main" val="10001"/>
                  </a:ext>
                </a:extLst>
              </a:tr>
              <a:tr h="666750">
                <a:tc>
                  <a:txBody>
                    <a:bodyPr/>
                    <a:lstStyle/>
                    <a:p>
                      <a:r>
                        <a:rPr lang="fr-FR" sz="1800" b="1" dirty="0"/>
                        <a:t>Muhammad Zidan Arsyad </a:t>
                      </a:r>
                      <a:endParaRPr sz="1800" b="0" dirty="0">
                        <a:solidFill>
                          <a:srgbClr val="153442"/>
                        </a:solidFill>
                        <a:latin typeface="Arial"/>
                        <a:ea typeface="Arial"/>
                        <a:cs typeface="Arial"/>
                      </a:endParaRPr>
                    </a:p>
                  </a:txBody>
                  <a:tcPr>
                    <a:solidFill>
                      <a:srgbClr val="EAF1F1"/>
                    </a:solidFill>
                  </a:tcPr>
                </a:tc>
                <a:tc>
                  <a:txBody>
                    <a:bodyPr/>
                    <a:lstStyle/>
                    <a:p>
                      <a:r>
                        <a:rPr sz="1875" b="0">
                          <a:solidFill>
                            <a:srgbClr val="153442"/>
                          </a:solidFill>
                          <a:latin typeface="Arial"/>
                          <a:ea typeface="Arial"/>
                          <a:cs typeface="Arial"/>
                        </a:rPr>
                        <a:t>Architecture and training</a:t>
                      </a:r>
                    </a:p>
                  </a:txBody>
                  <a:tcPr>
                    <a:solidFill>
                      <a:srgbClr val="EAF1F1"/>
                    </a:solidFill>
                  </a:tcPr>
                </a:tc>
                <a:tc>
                  <a:txBody>
                    <a:bodyPr/>
                    <a:lstStyle/>
                    <a:p>
                      <a:r>
                        <a:rPr sz="1875" b="0">
                          <a:solidFill>
                            <a:srgbClr val="153442"/>
                          </a:solidFill>
                          <a:latin typeface="Arial"/>
                          <a:ea typeface="Arial"/>
                          <a:cs typeface="Arial"/>
                        </a:rPr>
                        <a:t>Slides 5–6</a:t>
                      </a:r>
                    </a:p>
                  </a:txBody>
                  <a:tcPr>
                    <a:solidFill>
                      <a:srgbClr val="EAF1F1"/>
                    </a:solidFill>
                  </a:tcPr>
                </a:tc>
                <a:extLst>
                  <a:ext uri="{0D108BD9-81ED-4DB2-BD59-A6C34878D82A}">
                    <a16:rowId xmlns:a16="http://schemas.microsoft.com/office/drawing/2014/main" val="10002"/>
                  </a:ext>
                </a:extLst>
              </a:tr>
              <a:tr h="666750">
                <a:tc>
                  <a:txBody>
                    <a:bodyPr/>
                    <a:lstStyle/>
                    <a:p>
                      <a:r>
                        <a:rPr lang="fr-FR" sz="1800" b="1" dirty="0" err="1"/>
                        <a:t>Aulia</a:t>
                      </a:r>
                      <a:r>
                        <a:rPr lang="fr-FR" sz="1800" b="1" dirty="0"/>
                        <a:t> Gita </a:t>
                      </a:r>
                      <a:r>
                        <a:rPr lang="fr-FR" sz="1800" b="1" dirty="0" err="1"/>
                        <a:t>Pratiwi</a:t>
                      </a:r>
                      <a:r>
                        <a:rPr lang="fr-FR" sz="1800" b="1" dirty="0"/>
                        <a:t> </a:t>
                      </a:r>
                      <a:endParaRPr sz="1800" b="0" dirty="0">
                        <a:solidFill>
                          <a:srgbClr val="153442"/>
                        </a:solidFill>
                        <a:latin typeface="Arial"/>
                        <a:ea typeface="Arial"/>
                        <a:cs typeface="Arial"/>
                      </a:endParaRPr>
                    </a:p>
                  </a:txBody>
                  <a:tcPr>
                    <a:solidFill>
                      <a:srgbClr val="FFFFFF"/>
                    </a:solidFill>
                  </a:tcPr>
                </a:tc>
                <a:tc>
                  <a:txBody>
                    <a:bodyPr/>
                    <a:lstStyle/>
                    <a:p>
                      <a:r>
                        <a:rPr sz="1875" b="0">
                          <a:solidFill>
                            <a:srgbClr val="153442"/>
                          </a:solidFill>
                          <a:latin typeface="Arial"/>
                          <a:ea typeface="Arial"/>
                          <a:cs typeface="Arial"/>
                        </a:rPr>
                        <a:t>Experiments and error analysis</a:t>
                      </a:r>
                    </a:p>
                  </a:txBody>
                  <a:tcPr>
                    <a:solidFill>
                      <a:srgbClr val="FFFFFF"/>
                    </a:solidFill>
                  </a:tcPr>
                </a:tc>
                <a:tc>
                  <a:txBody>
                    <a:bodyPr/>
                    <a:lstStyle/>
                    <a:p>
                      <a:r>
                        <a:rPr sz="1875" b="0">
                          <a:solidFill>
                            <a:srgbClr val="153442"/>
                          </a:solidFill>
                          <a:latin typeface="Arial"/>
                          <a:ea typeface="Arial"/>
                          <a:cs typeface="Arial"/>
                        </a:rPr>
                        <a:t>Slides 7–9</a:t>
                      </a:r>
                    </a:p>
                  </a:txBody>
                  <a:tcPr>
                    <a:solidFill>
                      <a:srgbClr val="FFFFFF"/>
                    </a:solidFill>
                  </a:tcPr>
                </a:tc>
                <a:extLst>
                  <a:ext uri="{0D108BD9-81ED-4DB2-BD59-A6C34878D82A}">
                    <a16:rowId xmlns:a16="http://schemas.microsoft.com/office/drawing/2014/main" val="10003"/>
                  </a:ext>
                </a:extLst>
              </a:tr>
              <a:tr h="666750">
                <a:tc>
                  <a:txBody>
                    <a:bodyPr/>
                    <a:lstStyle/>
                    <a:p>
                      <a:r>
                        <a:rPr lang="fr-FR" sz="1800" b="1" dirty="0" err="1"/>
                        <a:t>Farichaturrifqi</a:t>
                      </a:r>
                      <a:r>
                        <a:rPr lang="fr-FR" sz="1800" b="1" dirty="0"/>
                        <a:t> </a:t>
                      </a:r>
                      <a:r>
                        <a:rPr lang="fr-FR" sz="1800" b="1" dirty="0" err="1"/>
                        <a:t>Aryanitasari</a:t>
                      </a:r>
                      <a:r>
                        <a:rPr lang="fr-FR" sz="1800" b="1" dirty="0"/>
                        <a:t> </a:t>
                      </a:r>
                      <a:endParaRPr sz="1800" b="0" dirty="0">
                        <a:solidFill>
                          <a:srgbClr val="153442"/>
                        </a:solidFill>
                        <a:latin typeface="Arial"/>
                        <a:ea typeface="Arial"/>
                        <a:cs typeface="Arial"/>
                      </a:endParaRPr>
                    </a:p>
                  </a:txBody>
                  <a:tcPr>
                    <a:solidFill>
                      <a:srgbClr val="EAF1F1"/>
                    </a:solidFill>
                  </a:tcPr>
                </a:tc>
                <a:tc>
                  <a:txBody>
                    <a:bodyPr/>
                    <a:lstStyle/>
                    <a:p>
                      <a:r>
                        <a:rPr sz="1875" b="0">
                          <a:solidFill>
                            <a:srgbClr val="153442"/>
                          </a:solidFill>
                          <a:latin typeface="Arial"/>
                          <a:ea typeface="Arial"/>
                          <a:cs typeface="Arial"/>
                        </a:rPr>
                        <a:t>Documentation and reproducibility</a:t>
                      </a:r>
                    </a:p>
                  </a:txBody>
                  <a:tcPr>
                    <a:solidFill>
                      <a:srgbClr val="EAF1F1"/>
                    </a:solidFill>
                  </a:tcPr>
                </a:tc>
                <a:tc>
                  <a:txBody>
                    <a:bodyPr/>
                    <a:lstStyle/>
                    <a:p>
                      <a:r>
                        <a:rPr sz="1875" b="0" dirty="0">
                          <a:solidFill>
                            <a:srgbClr val="153442"/>
                          </a:solidFill>
                          <a:latin typeface="Arial"/>
                          <a:ea typeface="Arial"/>
                          <a:cs typeface="Arial"/>
                        </a:rPr>
                        <a:t>Slides 10–12</a:t>
                      </a:r>
                    </a:p>
                  </a:txBody>
                  <a:tcPr>
                    <a:solidFill>
                      <a:srgbClr val="EAF1F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441963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 13" descr="Dry Beans and Legumes Cooking Chart - Andrea Meyers">
            <a:extLst>
              <a:ext uri="{FF2B5EF4-FFF2-40B4-BE49-F238E27FC236}">
                <a16:creationId xmlns:a16="http://schemas.microsoft.com/office/drawing/2014/main" id="{250184C5-30C0-9B5D-0001-C948F6F12E70}"/>
              </a:ext>
            </a:extLst>
          </p:cNvPr>
          <p:cNvPicPr>
            <a:picLocks noChangeAspect="1"/>
          </p:cNvPicPr>
          <p:nvPr/>
        </p:nvPicPr>
        <p:blipFill>
          <a:blip r:embed="rId2"/>
          <a:stretch>
            <a:fillRect/>
          </a:stretch>
        </p:blipFill>
        <p:spPr>
          <a:xfrm>
            <a:off x="8736729" y="530444"/>
            <a:ext cx="3657600" cy="3657600"/>
          </a:xfrm>
          <a:prstGeom prst="ellipse">
            <a:avLst/>
          </a:prstGeom>
          <a:ln>
            <a:noFill/>
          </a:ln>
          <a:effectLst>
            <a:softEdge rad="317500"/>
          </a:effectLst>
        </p:spPr>
      </p:pic>
      <p:sp>
        <p:nvSpPr>
          <p:cNvPr id="2" name="Title 1">
            <a:extLst>
              <a:ext uri="{FF2B5EF4-FFF2-40B4-BE49-F238E27FC236}">
                <a16:creationId xmlns:a16="http://schemas.microsoft.com/office/drawing/2014/main" id="{A5B4FFB0-DF69-17E7-FE9E-52D430FFEAAC}"/>
              </a:ext>
            </a:extLst>
          </p:cNvPr>
          <p:cNvSpPr>
            <a:spLocks noGrp="1"/>
          </p:cNvSpPr>
          <p:nvPr>
            <p:ph type="title"/>
          </p:nvPr>
        </p:nvSpPr>
        <p:spPr>
          <a:xfrm>
            <a:off x="738187" y="333594"/>
            <a:ext cx="10515600" cy="1325563"/>
          </a:xfrm>
        </p:spPr>
        <p:txBody>
          <a:bodyPr/>
          <a:lstStyle/>
          <a:p>
            <a:r>
              <a:rPr lang="en-US" b="1" dirty="0"/>
              <a:t>Classifying seven bean varieties</a:t>
            </a:r>
          </a:p>
        </p:txBody>
      </p:sp>
      <p:sp>
        <p:nvSpPr>
          <p:cNvPr id="5" name="Rectangle 4">
            <a:extLst>
              <a:ext uri="{FF2B5EF4-FFF2-40B4-BE49-F238E27FC236}">
                <a16:creationId xmlns:a16="http://schemas.microsoft.com/office/drawing/2014/main" id="{C900CB86-5046-B991-DD0B-409FC0FE07E7}"/>
              </a:ext>
            </a:extLst>
          </p:cNvPr>
          <p:cNvSpPr>
            <a:spLocks noGrp="1"/>
          </p:cNvSpPr>
          <p:nvPr/>
        </p:nvSpPr>
        <p:spPr>
          <a:xfrm>
            <a:off x="590550" y="1533525"/>
            <a:ext cx="10477500" cy="1247775"/>
          </a:xfrm>
          <a:prstGeom prst="rect">
            <a:avLst/>
          </a:prstGeom>
          <a:noFill/>
          <a:ln w="0">
            <a:noFill/>
          </a:ln>
        </p:spPr>
        <p:txBody>
          <a:bodyPr>
            <a:noAutofit/>
          </a:bodyPr>
          <a:lstStyle/>
          <a:p>
            <a:pPr>
              <a:defRPr sz="3375" b="1">
                <a:solidFill>
                  <a:srgbClr val="007D88"/>
                </a:solidFill>
                <a:latin typeface="Arial"/>
                <a:ea typeface="Arial"/>
                <a:cs typeface="Arial"/>
              </a:defRPr>
            </a:pPr>
            <a:r>
              <a:rPr sz="3375" b="1">
                <a:solidFill>
                  <a:srgbClr val="007D88"/>
                </a:solidFill>
                <a:latin typeface="Arial"/>
                <a:ea typeface="Arial"/>
                <a:cs typeface="Arial"/>
              </a:rPr>
              <a:t>16 measured features</a:t>
            </a:r>
          </a:p>
          <a:p>
            <a:pPr>
              <a:defRPr sz="3375" b="1">
                <a:solidFill>
                  <a:srgbClr val="007D88"/>
                </a:solidFill>
                <a:latin typeface="Arial"/>
                <a:ea typeface="Arial"/>
                <a:cs typeface="Arial"/>
              </a:defRPr>
            </a:pPr>
            <a:r>
              <a:rPr sz="3375" b="1">
                <a:solidFill>
                  <a:srgbClr val="007D88"/>
                </a:solidFill>
                <a:latin typeface="Arial"/>
                <a:ea typeface="Arial"/>
                <a:cs typeface="Arial"/>
              </a:rPr>
              <a:t>7 possible varieties</a:t>
            </a:r>
          </a:p>
        </p:txBody>
      </p:sp>
      <p:sp>
        <p:nvSpPr>
          <p:cNvPr id="7" name="Rectangle 6">
            <a:extLst>
              <a:ext uri="{FF2B5EF4-FFF2-40B4-BE49-F238E27FC236}">
                <a16:creationId xmlns:a16="http://schemas.microsoft.com/office/drawing/2014/main" id="{80F4851C-D1A8-308A-7C64-ABE49B447A17}"/>
              </a:ext>
            </a:extLst>
          </p:cNvPr>
          <p:cNvSpPr>
            <a:spLocks noGrp="1"/>
          </p:cNvSpPr>
          <p:nvPr/>
        </p:nvSpPr>
        <p:spPr>
          <a:xfrm>
            <a:off x="590550" y="3190875"/>
            <a:ext cx="10953750" cy="1057275"/>
          </a:xfrm>
          <a:prstGeom prst="rect">
            <a:avLst/>
          </a:prstGeom>
          <a:noFill/>
          <a:ln w="0">
            <a:noFill/>
          </a:ln>
        </p:spPr>
        <p:txBody>
          <a:bodyPr>
            <a:noAutofit/>
          </a:bodyPr>
          <a:lstStyle/>
          <a:p>
            <a:pPr>
              <a:defRPr sz="2175" b="0">
                <a:solidFill>
                  <a:srgbClr val="153442"/>
                </a:solidFill>
                <a:latin typeface="Arial"/>
                <a:ea typeface="Arial"/>
                <a:cs typeface="Arial"/>
              </a:defRPr>
            </a:pPr>
            <a:r>
              <a:rPr sz="2175" b="1" dirty="0">
                <a:solidFill>
                  <a:srgbClr val="153442"/>
                </a:solidFill>
                <a:latin typeface="Arial"/>
                <a:ea typeface="Arial"/>
                <a:cs typeface="Arial"/>
              </a:rPr>
              <a:t>Area</a:t>
            </a:r>
            <a:r>
              <a:rPr sz="2175" b="0" dirty="0">
                <a:solidFill>
                  <a:srgbClr val="153442"/>
                </a:solidFill>
                <a:latin typeface="Arial"/>
                <a:ea typeface="Arial"/>
                <a:cs typeface="Arial"/>
              </a:rPr>
              <a:t>, </a:t>
            </a:r>
            <a:r>
              <a:rPr sz="2175" b="1" dirty="0">
                <a:solidFill>
                  <a:srgbClr val="153442"/>
                </a:solidFill>
                <a:latin typeface="Arial"/>
                <a:ea typeface="Arial"/>
                <a:cs typeface="Arial"/>
              </a:rPr>
              <a:t>perimeter</a:t>
            </a:r>
            <a:r>
              <a:rPr sz="2175" b="0" dirty="0">
                <a:solidFill>
                  <a:srgbClr val="153442"/>
                </a:solidFill>
                <a:latin typeface="Arial"/>
                <a:ea typeface="Arial"/>
                <a:cs typeface="Arial"/>
              </a:rPr>
              <a:t>, </a:t>
            </a:r>
            <a:r>
              <a:rPr sz="2175" b="1" dirty="0">
                <a:solidFill>
                  <a:srgbClr val="153442"/>
                </a:solidFill>
                <a:latin typeface="Arial"/>
                <a:ea typeface="Arial"/>
                <a:cs typeface="Arial"/>
              </a:rPr>
              <a:t>axis lengths </a:t>
            </a:r>
            <a:r>
              <a:rPr sz="2175" b="0" dirty="0">
                <a:solidFill>
                  <a:srgbClr val="153442"/>
                </a:solidFill>
                <a:latin typeface="Arial"/>
                <a:ea typeface="Arial"/>
                <a:cs typeface="Arial"/>
              </a:rPr>
              <a:t>and </a:t>
            </a:r>
            <a:r>
              <a:rPr sz="2175" b="1" dirty="0">
                <a:solidFill>
                  <a:srgbClr val="153442"/>
                </a:solidFill>
                <a:latin typeface="Arial"/>
                <a:ea typeface="Arial"/>
                <a:cs typeface="Arial"/>
              </a:rPr>
              <a:t>shape ratios </a:t>
            </a:r>
            <a:r>
              <a:rPr sz="2175" b="0" dirty="0">
                <a:solidFill>
                  <a:srgbClr val="153442"/>
                </a:solidFill>
                <a:latin typeface="Arial"/>
                <a:ea typeface="Arial"/>
                <a:cs typeface="Arial"/>
              </a:rPr>
              <a:t>describe each bean.</a:t>
            </a:r>
          </a:p>
          <a:p>
            <a:pPr>
              <a:defRPr sz="2175" b="0">
                <a:solidFill>
                  <a:srgbClr val="153442"/>
                </a:solidFill>
                <a:latin typeface="Arial"/>
                <a:ea typeface="Arial"/>
                <a:cs typeface="Arial"/>
              </a:defRPr>
            </a:pPr>
            <a:r>
              <a:rPr sz="2175" b="0" dirty="0">
                <a:solidFill>
                  <a:srgbClr val="153442"/>
                </a:solidFill>
                <a:latin typeface="Arial"/>
                <a:ea typeface="Arial"/>
                <a:cs typeface="Arial"/>
              </a:rPr>
              <a:t>Similar measurements can make different varieties difficult to distinguish.</a:t>
            </a:r>
          </a:p>
        </p:txBody>
      </p:sp>
      <p:sp>
        <p:nvSpPr>
          <p:cNvPr id="9" name="Rectangle 8">
            <a:extLst>
              <a:ext uri="{FF2B5EF4-FFF2-40B4-BE49-F238E27FC236}">
                <a16:creationId xmlns:a16="http://schemas.microsoft.com/office/drawing/2014/main" id="{FA5DCE38-FBDB-7AC3-686F-53CD17C69547}"/>
              </a:ext>
            </a:extLst>
          </p:cNvPr>
          <p:cNvSpPr>
            <a:spLocks noGrp="1"/>
          </p:cNvSpPr>
          <p:nvPr/>
        </p:nvSpPr>
        <p:spPr>
          <a:xfrm>
            <a:off x="590550" y="4414837"/>
            <a:ext cx="2381250" cy="400050"/>
          </a:xfrm>
          <a:prstGeom prst="rect">
            <a:avLst/>
          </a:prstGeom>
          <a:noFill/>
          <a:ln w="0">
            <a:noFill/>
          </a:ln>
        </p:spPr>
        <p:txBody>
          <a:bodyPr>
            <a:noAutofit/>
          </a:bodyPr>
          <a:lstStyle/>
          <a:p>
            <a:pPr>
              <a:defRPr sz="2100" b="1">
                <a:solidFill>
                  <a:srgbClr val="153442"/>
                </a:solidFill>
                <a:latin typeface="Arial"/>
                <a:ea typeface="Arial"/>
                <a:cs typeface="Arial"/>
              </a:defRPr>
            </a:pPr>
            <a:r>
              <a:rPr sz="2100" b="1">
                <a:solidFill>
                  <a:srgbClr val="153442"/>
                </a:solidFill>
                <a:latin typeface="Arial"/>
                <a:ea typeface="Arial"/>
                <a:cs typeface="Arial"/>
              </a:rPr>
              <a:t>Question</a:t>
            </a:r>
          </a:p>
        </p:txBody>
      </p:sp>
      <p:sp>
        <p:nvSpPr>
          <p:cNvPr id="11" name="Rectangle 10">
            <a:extLst>
              <a:ext uri="{FF2B5EF4-FFF2-40B4-BE49-F238E27FC236}">
                <a16:creationId xmlns:a16="http://schemas.microsoft.com/office/drawing/2014/main" id="{D6336519-2B7E-969D-9F30-0B30EA4C0C26}"/>
              </a:ext>
            </a:extLst>
          </p:cNvPr>
          <p:cNvSpPr>
            <a:spLocks noGrp="1"/>
          </p:cNvSpPr>
          <p:nvPr/>
        </p:nvSpPr>
        <p:spPr>
          <a:xfrm>
            <a:off x="590550" y="4948237"/>
            <a:ext cx="10810875" cy="800100"/>
          </a:xfrm>
          <a:prstGeom prst="rect">
            <a:avLst/>
          </a:prstGeom>
          <a:ln/>
        </p:spPr>
        <p:style>
          <a:lnRef idx="2">
            <a:schemeClr val="accent1"/>
          </a:lnRef>
          <a:fillRef idx="1">
            <a:schemeClr val="lt1"/>
          </a:fillRef>
          <a:effectRef idx="0">
            <a:schemeClr val="accent1"/>
          </a:effectRef>
          <a:fontRef idx="minor">
            <a:schemeClr val="dk1"/>
          </a:fontRef>
        </p:style>
        <p:txBody>
          <a:bodyPr>
            <a:noAutofit/>
          </a:bodyPr>
          <a:lstStyle/>
          <a:p>
            <a:pPr>
              <a:defRPr sz="2400" b="0">
                <a:solidFill>
                  <a:srgbClr val="153442"/>
                </a:solidFill>
                <a:latin typeface="Arial"/>
                <a:ea typeface="Arial"/>
                <a:cs typeface="Arial"/>
              </a:defRPr>
            </a:pPr>
            <a:r>
              <a:rPr sz="2400" b="0" dirty="0">
                <a:solidFill>
                  <a:srgbClr val="153442"/>
                </a:solidFill>
                <a:latin typeface="Arial"/>
                <a:ea typeface="Arial"/>
                <a:cs typeface="Arial"/>
              </a:rPr>
              <a:t>Do added capacity and different learning choices improve macro-F1?</a:t>
            </a:r>
          </a:p>
        </p:txBody>
      </p:sp>
      <p:sp>
        <p:nvSpPr>
          <p:cNvPr id="13" name="Rectangle 12">
            <a:extLst>
              <a:ext uri="{FF2B5EF4-FFF2-40B4-BE49-F238E27FC236}">
                <a16:creationId xmlns:a16="http://schemas.microsoft.com/office/drawing/2014/main" id="{0E6F98F5-D959-7345-7868-7DC21FC6FC66}"/>
              </a:ext>
            </a:extLst>
          </p:cNvPr>
          <p:cNvSpPr>
            <a:spLocks noGrp="1"/>
          </p:cNvSpPr>
          <p:nvPr/>
        </p:nvSpPr>
        <p:spPr>
          <a:xfrm>
            <a:off x="590550" y="5881687"/>
            <a:ext cx="10477500" cy="352425"/>
          </a:xfrm>
          <a:prstGeom prst="rect">
            <a:avLst/>
          </a:prstGeom>
          <a:noFill/>
          <a:ln w="0">
            <a:noFill/>
          </a:ln>
        </p:spPr>
        <p:txBody>
          <a:bodyPr>
            <a:noAutofit/>
          </a:bodyPr>
          <a:lstStyle/>
          <a:p>
            <a:pPr>
              <a:defRPr sz="1575" b="0">
                <a:solidFill>
                  <a:srgbClr val="536772"/>
                </a:solidFill>
                <a:latin typeface="Arial"/>
                <a:ea typeface="Arial"/>
                <a:cs typeface="Arial"/>
              </a:defRPr>
            </a:pPr>
            <a:r>
              <a:rPr sz="1575" b="0" dirty="0">
                <a:solidFill>
                  <a:srgbClr val="536772"/>
                </a:solidFill>
                <a:latin typeface="Arial"/>
                <a:ea typeface="Arial"/>
                <a:cs typeface="Arial"/>
              </a:rPr>
              <a:t>Tabular inputs already extracted from images. The model does not process photographs.</a:t>
            </a:r>
          </a:p>
        </p:txBody>
      </p:sp>
    </p:spTree>
    <p:extLst>
      <p:ext uri="{BB962C8B-B14F-4D97-AF65-F5344CB8AC3E}">
        <p14:creationId xmlns:p14="http://schemas.microsoft.com/office/powerpoint/2010/main" val="3225187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31C1C0-BD97-48B5-9E90-49295AF5A422}"/>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dirty="0">
                <a:solidFill>
                  <a:srgbClr val="153442"/>
                </a:solidFill>
                <a:latin typeface="Arial"/>
                <a:ea typeface="Arial"/>
                <a:cs typeface="Arial"/>
              </a:rPr>
              <a:t>Dataset, cleaning and splitting</a:t>
            </a:r>
          </a:p>
        </p:txBody>
      </p:sp>
      <p:sp>
        <p:nvSpPr>
          <p:cNvPr id="2" name="Rectangle 1">
            <a:extLst>
              <a:ext uri="{FF2B5EF4-FFF2-40B4-BE49-F238E27FC236}">
                <a16:creationId xmlns:a16="http://schemas.microsoft.com/office/drawing/2014/main" id="{AECABB13-3A2C-4445-BBBC-D3A0501872F5}"/>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04</a:t>
            </a:r>
          </a:p>
        </p:txBody>
      </p:sp>
      <p:sp>
        <p:nvSpPr>
          <p:cNvPr id="3" name="Rectangle 2">
            <a:extLst>
              <a:ext uri="{FF2B5EF4-FFF2-40B4-BE49-F238E27FC236}">
                <a16:creationId xmlns:a16="http://schemas.microsoft.com/office/drawing/2014/main" id="{89D0F164-6B57-43F0-A79E-8BE18D799360}"/>
              </a:ext>
            </a:extLst>
          </p:cNvPr>
          <p:cNvSpPr>
            <a:spLocks noGrp="1"/>
          </p:cNvSpPr>
          <p:nvPr/>
        </p:nvSpPr>
        <p:spPr>
          <a:xfrm>
            <a:off x="590550" y="1619251"/>
            <a:ext cx="11049000" cy="552450"/>
          </a:xfrm>
          <a:prstGeom prst="rect">
            <a:avLst/>
          </a:prstGeom>
          <a:noFill/>
          <a:ln w="0">
            <a:noFill/>
          </a:ln>
        </p:spPr>
        <p:txBody>
          <a:bodyPr>
            <a:noAutofit/>
          </a:bodyPr>
          <a:lstStyle/>
          <a:p>
            <a:pPr>
              <a:defRPr sz="2250" b="1">
                <a:solidFill>
                  <a:srgbClr val="007D88"/>
                </a:solidFill>
                <a:latin typeface="Arial"/>
                <a:ea typeface="Arial"/>
                <a:cs typeface="Arial"/>
              </a:defRPr>
            </a:pPr>
            <a:r>
              <a:rPr sz="2250" b="1">
                <a:solidFill>
                  <a:srgbClr val="007D88"/>
                </a:solidFill>
                <a:latin typeface="Arial"/>
                <a:ea typeface="Arial"/>
                <a:cs typeface="Arial"/>
              </a:rPr>
              <a:t>13,611 raw rows − 68 exact duplicates = 13,543 unique rows</a:t>
            </a:r>
          </a:p>
        </p:txBody>
      </p:sp>
      <p:graphicFrame>
        <p:nvGraphicFramePr>
          <p:cNvPr id="10" name="Tableau 9"/>
          <p:cNvGraphicFramePr/>
          <p:nvPr>
            <p:extLst>
              <p:ext uri="{D42A27DB-BD31-4B8C-83A1-F6EECF244321}">
                <p14:modId xmlns:p14="http://schemas.microsoft.com/office/powerpoint/2010/main" val="292740044"/>
              </p:ext>
            </p:extLst>
          </p:nvPr>
        </p:nvGraphicFramePr>
        <p:xfrm>
          <a:off x="590550" y="2300290"/>
          <a:ext cx="11049000" cy="2333624"/>
        </p:xfrm>
        <a:graphic>
          <a:graphicData uri="http://schemas.openxmlformats.org/drawingml/2006/table">
            <a:tbl>
              <a:tblPr/>
              <a:tblGrid>
                <a:gridCol w="2190750">
                  <a:extLst>
                    <a:ext uri="{9D8B030D-6E8A-4147-A177-3AD203B41FA5}">
                      <a16:colId xmlns:a16="http://schemas.microsoft.com/office/drawing/2014/main" val="20000"/>
                    </a:ext>
                  </a:extLst>
                </a:gridCol>
                <a:gridCol w="1571625">
                  <a:extLst>
                    <a:ext uri="{9D8B030D-6E8A-4147-A177-3AD203B41FA5}">
                      <a16:colId xmlns:a16="http://schemas.microsoft.com/office/drawing/2014/main" val="20001"/>
                    </a:ext>
                  </a:extLst>
                </a:gridCol>
                <a:gridCol w="7286625">
                  <a:extLst>
                    <a:ext uri="{9D8B030D-6E8A-4147-A177-3AD203B41FA5}">
                      <a16:colId xmlns:a16="http://schemas.microsoft.com/office/drawing/2014/main" val="20002"/>
                    </a:ext>
                  </a:extLst>
                </a:gridCol>
              </a:tblGrid>
              <a:tr h="583406">
                <a:tc>
                  <a:txBody>
                    <a:bodyPr/>
                    <a:lstStyle/>
                    <a:p>
                      <a:r>
                        <a:rPr sz="1875" b="1">
                          <a:solidFill>
                            <a:srgbClr val="FFFFFF"/>
                          </a:solidFill>
                          <a:latin typeface="Arial"/>
                          <a:ea typeface="Arial"/>
                          <a:cs typeface="Arial"/>
                        </a:rPr>
                        <a:t>Partition</a:t>
                      </a:r>
                    </a:p>
                  </a:txBody>
                  <a:tcPr>
                    <a:solidFill>
                      <a:srgbClr val="153442"/>
                    </a:solidFill>
                  </a:tcPr>
                </a:tc>
                <a:tc>
                  <a:txBody>
                    <a:bodyPr/>
                    <a:lstStyle/>
                    <a:p>
                      <a:r>
                        <a:rPr sz="1875" b="1">
                          <a:solidFill>
                            <a:srgbClr val="FFFFFF"/>
                          </a:solidFill>
                          <a:latin typeface="Arial"/>
                          <a:ea typeface="Arial"/>
                          <a:cs typeface="Arial"/>
                        </a:rPr>
                        <a:t>Rows</a:t>
                      </a:r>
                    </a:p>
                  </a:txBody>
                  <a:tcPr>
                    <a:solidFill>
                      <a:srgbClr val="153442"/>
                    </a:solidFill>
                  </a:tcPr>
                </a:tc>
                <a:tc>
                  <a:txBody>
                    <a:bodyPr/>
                    <a:lstStyle/>
                    <a:p>
                      <a:r>
                        <a:rPr sz="1875" b="1" dirty="0">
                          <a:solidFill>
                            <a:srgbClr val="FFFFFF"/>
                          </a:solidFill>
                          <a:latin typeface="Arial"/>
                          <a:ea typeface="Arial"/>
                          <a:cs typeface="Arial"/>
                        </a:rPr>
                        <a:t>Purpose</a:t>
                      </a:r>
                    </a:p>
                  </a:txBody>
                  <a:tcPr>
                    <a:solidFill>
                      <a:srgbClr val="153442"/>
                    </a:solidFill>
                  </a:tcPr>
                </a:tc>
                <a:extLst>
                  <a:ext uri="{0D108BD9-81ED-4DB2-BD59-A6C34878D82A}">
                    <a16:rowId xmlns:a16="http://schemas.microsoft.com/office/drawing/2014/main" val="10000"/>
                  </a:ext>
                </a:extLst>
              </a:tr>
              <a:tr h="583406">
                <a:tc>
                  <a:txBody>
                    <a:bodyPr/>
                    <a:lstStyle/>
                    <a:p>
                      <a:r>
                        <a:rPr sz="1875" b="0">
                          <a:solidFill>
                            <a:srgbClr val="153442"/>
                          </a:solidFill>
                          <a:latin typeface="Arial"/>
                          <a:ea typeface="Arial"/>
                          <a:cs typeface="Arial"/>
                        </a:rPr>
                        <a:t>Training</a:t>
                      </a:r>
                    </a:p>
                  </a:txBody>
                  <a:tcPr>
                    <a:solidFill>
                      <a:srgbClr val="FFFFFF"/>
                    </a:solidFill>
                  </a:tcPr>
                </a:tc>
                <a:tc>
                  <a:txBody>
                    <a:bodyPr/>
                    <a:lstStyle/>
                    <a:p>
                      <a:r>
                        <a:rPr sz="1875" b="0">
                          <a:solidFill>
                            <a:srgbClr val="153442"/>
                          </a:solidFill>
                          <a:latin typeface="Arial"/>
                          <a:ea typeface="Arial"/>
                          <a:cs typeface="Arial"/>
                        </a:rPr>
                        <a:t>9,480</a:t>
                      </a:r>
                    </a:p>
                  </a:txBody>
                  <a:tcPr>
                    <a:solidFill>
                      <a:srgbClr val="FFFFFF"/>
                    </a:solidFill>
                  </a:tcPr>
                </a:tc>
                <a:tc>
                  <a:txBody>
                    <a:bodyPr/>
                    <a:lstStyle/>
                    <a:p>
                      <a:r>
                        <a:rPr sz="1875" b="0">
                          <a:solidFill>
                            <a:srgbClr val="153442"/>
                          </a:solidFill>
                          <a:latin typeface="Arial"/>
                          <a:ea typeface="Arial"/>
                          <a:cs typeface="Arial"/>
                        </a:rPr>
                        <a:t>Fit scaler and model weights</a:t>
                      </a:r>
                    </a:p>
                  </a:txBody>
                  <a:tcPr>
                    <a:solidFill>
                      <a:srgbClr val="FFFFFF"/>
                    </a:solidFill>
                  </a:tcPr>
                </a:tc>
                <a:extLst>
                  <a:ext uri="{0D108BD9-81ED-4DB2-BD59-A6C34878D82A}">
                    <a16:rowId xmlns:a16="http://schemas.microsoft.com/office/drawing/2014/main" val="10001"/>
                  </a:ext>
                </a:extLst>
              </a:tr>
              <a:tr h="583406">
                <a:tc>
                  <a:txBody>
                    <a:bodyPr/>
                    <a:lstStyle/>
                    <a:p>
                      <a:r>
                        <a:rPr sz="1875" b="0">
                          <a:solidFill>
                            <a:srgbClr val="153442"/>
                          </a:solidFill>
                          <a:latin typeface="Arial"/>
                          <a:ea typeface="Arial"/>
                          <a:cs typeface="Arial"/>
                        </a:rPr>
                        <a:t>Validation</a:t>
                      </a:r>
                    </a:p>
                  </a:txBody>
                  <a:tcPr>
                    <a:solidFill>
                      <a:srgbClr val="EAF1F1"/>
                    </a:solidFill>
                  </a:tcPr>
                </a:tc>
                <a:tc>
                  <a:txBody>
                    <a:bodyPr/>
                    <a:lstStyle/>
                    <a:p>
                      <a:r>
                        <a:rPr sz="1875" b="0">
                          <a:solidFill>
                            <a:srgbClr val="153442"/>
                          </a:solidFill>
                          <a:latin typeface="Arial"/>
                          <a:ea typeface="Arial"/>
                          <a:cs typeface="Arial"/>
                        </a:rPr>
                        <a:t>2,031</a:t>
                      </a:r>
                    </a:p>
                  </a:txBody>
                  <a:tcPr>
                    <a:solidFill>
                      <a:srgbClr val="EAF1F1"/>
                    </a:solidFill>
                  </a:tcPr>
                </a:tc>
                <a:tc>
                  <a:txBody>
                    <a:bodyPr/>
                    <a:lstStyle/>
                    <a:p>
                      <a:r>
                        <a:rPr sz="1875" b="0">
                          <a:solidFill>
                            <a:srgbClr val="153442"/>
                          </a:solidFill>
                          <a:latin typeface="Arial"/>
                          <a:ea typeface="Arial"/>
                          <a:cs typeface="Arial"/>
                        </a:rPr>
                        <a:t>Select checkpoints and configuration</a:t>
                      </a:r>
                    </a:p>
                  </a:txBody>
                  <a:tcPr>
                    <a:solidFill>
                      <a:srgbClr val="EAF1F1"/>
                    </a:solidFill>
                  </a:tcPr>
                </a:tc>
                <a:extLst>
                  <a:ext uri="{0D108BD9-81ED-4DB2-BD59-A6C34878D82A}">
                    <a16:rowId xmlns:a16="http://schemas.microsoft.com/office/drawing/2014/main" val="10002"/>
                  </a:ext>
                </a:extLst>
              </a:tr>
              <a:tr h="583406">
                <a:tc>
                  <a:txBody>
                    <a:bodyPr/>
                    <a:lstStyle/>
                    <a:p>
                      <a:r>
                        <a:rPr sz="1875" b="0">
                          <a:solidFill>
                            <a:srgbClr val="153442"/>
                          </a:solidFill>
                          <a:latin typeface="Arial"/>
                          <a:ea typeface="Arial"/>
                          <a:cs typeface="Arial"/>
                        </a:rPr>
                        <a:t>Test</a:t>
                      </a:r>
                    </a:p>
                  </a:txBody>
                  <a:tcPr>
                    <a:solidFill>
                      <a:srgbClr val="FFFFFF"/>
                    </a:solidFill>
                  </a:tcPr>
                </a:tc>
                <a:tc>
                  <a:txBody>
                    <a:bodyPr/>
                    <a:lstStyle/>
                    <a:p>
                      <a:r>
                        <a:rPr sz="1875" b="0">
                          <a:solidFill>
                            <a:srgbClr val="153442"/>
                          </a:solidFill>
                          <a:latin typeface="Arial"/>
                          <a:ea typeface="Arial"/>
                          <a:cs typeface="Arial"/>
                        </a:rPr>
                        <a:t>2,032</a:t>
                      </a:r>
                    </a:p>
                  </a:txBody>
                  <a:tcPr>
                    <a:solidFill>
                      <a:srgbClr val="FFFFFF"/>
                    </a:solidFill>
                  </a:tcPr>
                </a:tc>
                <a:tc>
                  <a:txBody>
                    <a:bodyPr/>
                    <a:lstStyle/>
                    <a:p>
                      <a:r>
                        <a:rPr sz="1875" b="0" dirty="0">
                          <a:solidFill>
                            <a:srgbClr val="153442"/>
                          </a:solidFill>
                          <a:latin typeface="Arial"/>
                          <a:ea typeface="Arial"/>
                          <a:cs typeface="Arial"/>
                        </a:rPr>
                        <a:t>Evaluate the frozen choice</a:t>
                      </a:r>
                    </a:p>
                  </a:txBody>
                  <a:tcPr>
                    <a:solidFill>
                      <a:srgbClr val="FFFFFF"/>
                    </a:solidFill>
                  </a:tcPr>
                </a:tc>
                <a:extLst>
                  <a:ext uri="{0D108BD9-81ED-4DB2-BD59-A6C34878D82A}">
                    <a16:rowId xmlns:a16="http://schemas.microsoft.com/office/drawing/2014/main" val="10003"/>
                  </a:ext>
                </a:extLst>
              </a:tr>
            </a:tbl>
          </a:graphicData>
        </a:graphic>
      </p:graphicFrame>
      <p:sp>
        <p:nvSpPr>
          <p:cNvPr id="5" name="Rectangle 4">
            <a:extLst>
              <a:ext uri="{FF2B5EF4-FFF2-40B4-BE49-F238E27FC236}">
                <a16:creationId xmlns:a16="http://schemas.microsoft.com/office/drawing/2014/main" id="{0B3AEB93-E973-4524-B211-EC7CE5F77D84}"/>
              </a:ext>
            </a:extLst>
          </p:cNvPr>
          <p:cNvSpPr>
            <a:spLocks noGrp="1"/>
          </p:cNvSpPr>
          <p:nvPr/>
        </p:nvSpPr>
        <p:spPr>
          <a:xfrm>
            <a:off x="609600" y="5095876"/>
            <a:ext cx="10953750" cy="942975"/>
          </a:xfrm>
          <a:prstGeom prst="rect">
            <a:avLst/>
          </a:prstGeom>
          <a:noFill/>
          <a:ln w="0">
            <a:noFill/>
          </a:ln>
        </p:spPr>
        <p:txBody>
          <a:bodyPr>
            <a:noAutofit/>
          </a:bodyPr>
          <a:lstStyle/>
          <a:p>
            <a:pPr>
              <a:defRPr sz="1950" b="0">
                <a:solidFill>
                  <a:srgbClr val="153442"/>
                </a:solidFill>
                <a:latin typeface="Arial"/>
                <a:ea typeface="Arial"/>
                <a:cs typeface="Arial"/>
              </a:defRPr>
            </a:pPr>
            <a:r>
              <a:rPr sz="1950" b="0">
                <a:solidFill>
                  <a:srgbClr val="153442"/>
                </a:solidFill>
                <a:latin typeface="Arial"/>
                <a:ea typeface="Arial"/>
                <a:cs typeface="Arial"/>
              </a:rPr>
              <a:t>Stratified 70/15/15 split, seed 42. Fit StandardScaler on training only.</a:t>
            </a:r>
          </a:p>
          <a:p>
            <a:pPr>
              <a:defRPr sz="1950" b="0">
                <a:solidFill>
                  <a:srgbClr val="153442"/>
                </a:solidFill>
                <a:latin typeface="Arial"/>
                <a:ea typeface="Arial"/>
                <a:cs typeface="Arial"/>
              </a:defRPr>
            </a:pPr>
            <a:r>
              <a:rPr sz="1950" b="0">
                <a:solidFill>
                  <a:srgbClr val="153442"/>
                </a:solidFill>
                <a:latin typeface="Arial"/>
                <a:ea typeface="Arial"/>
                <a:cs typeface="Arial"/>
              </a:rPr>
              <a:t>One holdout split. Three seeds repeat training, not cross-validation.</a:t>
            </a:r>
          </a:p>
        </p:txBody>
      </p:sp>
      <p:sp>
        <p:nvSpPr>
          <p:cNvPr id="6" name="Rectangle 5">
            <a:extLst>
              <a:ext uri="{FF2B5EF4-FFF2-40B4-BE49-F238E27FC236}">
                <a16:creationId xmlns:a16="http://schemas.microsoft.com/office/drawing/2014/main" id="{B46D2079-8EFF-4832-A020-6B2F856275D5}"/>
              </a:ext>
            </a:extLst>
          </p:cNvPr>
          <p:cNvSpPr>
            <a:spLocks noGrp="1"/>
          </p:cNvSpPr>
          <p:nvPr/>
        </p:nvSpPr>
        <p:spPr>
          <a:xfrm>
            <a:off x="590550" y="6019800"/>
            <a:ext cx="10763250" cy="466725"/>
          </a:xfrm>
          <a:prstGeom prst="rect">
            <a:avLst/>
          </a:prstGeom>
          <a:noFill/>
          <a:ln w="0">
            <a:noFill/>
          </a:ln>
        </p:spPr>
        <p:txBody>
          <a:bodyPr>
            <a:noAutofit/>
          </a:bodyPr>
          <a:lstStyle/>
          <a:p>
            <a:pPr>
              <a:defRPr sz="1725" b="0">
                <a:solidFill>
                  <a:srgbClr val="536772"/>
                </a:solidFill>
                <a:latin typeface="Arial"/>
                <a:ea typeface="Arial"/>
                <a:cs typeface="Arial"/>
              </a:defRPr>
            </a:pPr>
            <a:r>
              <a:rPr sz="1725" b="0">
                <a:solidFill>
                  <a:srgbClr val="536772"/>
                </a:solidFill>
                <a:latin typeface="Arial"/>
                <a:ea typeface="Arial"/>
                <a:cs typeface="Arial"/>
              </a:rPr>
              <a:t>Unequal class sizes: select by macro-F1. Acquisition-group IDs are unavailable.</a:t>
            </a:r>
          </a:p>
        </p:txBody>
      </p:sp>
      <p:sp>
        <p:nvSpPr>
          <p:cNvPr id="4" name="Rectangle 3">
            <a:extLst>
              <a:ext uri="{FF2B5EF4-FFF2-40B4-BE49-F238E27FC236}">
                <a16:creationId xmlns:a16="http://schemas.microsoft.com/office/drawing/2014/main" id="{F284AD4B-2BFC-D5FF-9EB3-02C6B625AECF}"/>
              </a:ext>
            </a:extLst>
          </p:cNvPr>
          <p:cNvSpPr>
            <a:spLocks noGrp="1"/>
          </p:cNvSpPr>
          <p:nvPr/>
        </p:nvSpPr>
        <p:spPr>
          <a:xfrm>
            <a:off x="533400" y="862013"/>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lang="fr-FR" sz="2400" dirty="0">
                <a:solidFill>
                  <a:schemeClr val="tx2">
                    <a:lumMod val="75000"/>
                    <a:lumOff val="25000"/>
                  </a:schemeClr>
                </a:solidFill>
                <a:latin typeface="Arial"/>
                <a:ea typeface="Arial"/>
                <a:cs typeface="Arial"/>
              </a:rPr>
              <a:t>Dry Beans </a:t>
            </a:r>
            <a:r>
              <a:rPr lang="fr-FR" sz="2400" dirty="0" err="1">
                <a:solidFill>
                  <a:schemeClr val="tx2">
                    <a:lumMod val="75000"/>
                    <a:lumOff val="25000"/>
                  </a:schemeClr>
                </a:solidFill>
                <a:latin typeface="Arial"/>
                <a:ea typeface="Arial"/>
                <a:cs typeface="Arial"/>
              </a:rPr>
              <a:t>dataset</a:t>
            </a:r>
            <a:r>
              <a:rPr lang="fr-FR" sz="2400" dirty="0">
                <a:solidFill>
                  <a:schemeClr val="tx2">
                    <a:lumMod val="75000"/>
                    <a:lumOff val="25000"/>
                  </a:schemeClr>
                </a:solidFill>
                <a:latin typeface="Arial"/>
                <a:ea typeface="Arial"/>
                <a:cs typeface="Arial"/>
              </a:rPr>
              <a:t> – UC Irvine</a:t>
            </a:r>
            <a:endParaRPr lang="fr-FR" sz="3200" dirty="0">
              <a:solidFill>
                <a:schemeClr val="tx2">
                  <a:lumMod val="75000"/>
                  <a:lumOff val="25000"/>
                </a:schemeClr>
              </a:solidFill>
              <a:latin typeface="Arial"/>
              <a:ea typeface="Arial"/>
              <a:cs typeface="Arial"/>
            </a:endParaRPr>
          </a:p>
        </p:txBody>
      </p:sp>
    </p:spTree>
    <p:extLst>
      <p:ext uri="{BB962C8B-B14F-4D97-AF65-F5344CB8AC3E}">
        <p14:creationId xmlns:p14="http://schemas.microsoft.com/office/powerpoint/2010/main" val="751408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7BE3C0F-CB2F-482E-8299-0A8C50587C94}"/>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Simple fully connected architectures</a:t>
            </a:r>
          </a:p>
        </p:txBody>
      </p:sp>
      <p:sp>
        <p:nvSpPr>
          <p:cNvPr id="2" name="Rectangle 1">
            <a:extLst>
              <a:ext uri="{FF2B5EF4-FFF2-40B4-BE49-F238E27FC236}">
                <a16:creationId xmlns:a16="http://schemas.microsoft.com/office/drawing/2014/main" id="{6B4AC3D3-2AE5-448E-BF1A-C6081C774807}"/>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05</a:t>
            </a:r>
          </a:p>
        </p:txBody>
      </p:sp>
      <p:graphicFrame>
        <p:nvGraphicFramePr>
          <p:cNvPr id="8" name="Tableau 7"/>
          <p:cNvGraphicFramePr/>
          <p:nvPr/>
        </p:nvGraphicFramePr>
        <p:xfrm>
          <a:off x="571500" y="1495425"/>
          <a:ext cx="11049000" cy="2428876"/>
        </p:xfrm>
        <a:graphic>
          <a:graphicData uri="http://schemas.openxmlformats.org/drawingml/2006/table">
            <a:tbl>
              <a:tblPr/>
              <a:tblGrid>
                <a:gridCol w="2524125">
                  <a:extLst>
                    <a:ext uri="{9D8B030D-6E8A-4147-A177-3AD203B41FA5}">
                      <a16:colId xmlns:a16="http://schemas.microsoft.com/office/drawing/2014/main" val="20000"/>
                    </a:ext>
                  </a:extLst>
                </a:gridCol>
                <a:gridCol w="619125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tblGrid>
              <a:tr h="607219">
                <a:tc>
                  <a:txBody>
                    <a:bodyPr/>
                    <a:lstStyle/>
                    <a:p>
                      <a:r>
                        <a:rPr sz="1875" b="1">
                          <a:solidFill>
                            <a:srgbClr val="FFFFFF"/>
                          </a:solidFill>
                          <a:latin typeface="Arial"/>
                          <a:ea typeface="Arial"/>
                          <a:cs typeface="Arial"/>
                        </a:rPr>
                        <a:t>Model</a:t>
                      </a:r>
                    </a:p>
                  </a:txBody>
                  <a:tcPr>
                    <a:solidFill>
                      <a:srgbClr val="153442"/>
                    </a:solidFill>
                  </a:tcPr>
                </a:tc>
                <a:tc>
                  <a:txBody>
                    <a:bodyPr/>
                    <a:lstStyle/>
                    <a:p>
                      <a:r>
                        <a:rPr sz="1875" b="1">
                          <a:solidFill>
                            <a:srgbClr val="FFFFFF"/>
                          </a:solidFill>
                          <a:latin typeface="Arial"/>
                          <a:ea typeface="Arial"/>
                          <a:cs typeface="Arial"/>
                        </a:rPr>
                        <a:t>Layer widths</a:t>
                      </a:r>
                    </a:p>
                  </a:txBody>
                  <a:tcPr>
                    <a:solidFill>
                      <a:srgbClr val="153442"/>
                    </a:solidFill>
                  </a:tcPr>
                </a:tc>
                <a:tc>
                  <a:txBody>
                    <a:bodyPr/>
                    <a:lstStyle/>
                    <a:p>
                      <a:r>
                        <a:rPr sz="1875" b="1">
                          <a:solidFill>
                            <a:srgbClr val="FFFFFF"/>
                          </a:solidFill>
                          <a:latin typeface="Arial"/>
                          <a:ea typeface="Arial"/>
                          <a:cs typeface="Arial"/>
                        </a:rPr>
                        <a:t>Parameters</a:t>
                      </a:r>
                    </a:p>
                  </a:txBody>
                  <a:tcPr>
                    <a:solidFill>
                      <a:srgbClr val="153442"/>
                    </a:solidFill>
                  </a:tcPr>
                </a:tc>
                <a:extLst>
                  <a:ext uri="{0D108BD9-81ED-4DB2-BD59-A6C34878D82A}">
                    <a16:rowId xmlns:a16="http://schemas.microsoft.com/office/drawing/2014/main" val="10000"/>
                  </a:ext>
                </a:extLst>
              </a:tr>
              <a:tr h="607219">
                <a:tc>
                  <a:txBody>
                    <a:bodyPr/>
                    <a:lstStyle/>
                    <a:p>
                      <a:r>
                        <a:rPr sz="1875" b="0">
                          <a:solidFill>
                            <a:srgbClr val="153442"/>
                          </a:solidFill>
                          <a:latin typeface="Arial"/>
                          <a:ea typeface="Arial"/>
                          <a:cs typeface="Arial"/>
                        </a:rPr>
                        <a:t>Small MLP</a:t>
                      </a:r>
                    </a:p>
                  </a:txBody>
                  <a:tcPr>
                    <a:solidFill>
                      <a:srgbClr val="FFFFFF"/>
                    </a:solidFill>
                  </a:tcPr>
                </a:tc>
                <a:tc>
                  <a:txBody>
                    <a:bodyPr/>
                    <a:lstStyle/>
                    <a:p>
                      <a:r>
                        <a:rPr sz="1875" b="0">
                          <a:solidFill>
                            <a:srgbClr val="153442"/>
                          </a:solidFill>
                          <a:latin typeface="Arial"/>
                          <a:ea typeface="Arial"/>
                          <a:cs typeface="Arial"/>
                        </a:rPr>
                        <a:t>16 inputs, 32 hidden, 7 logits</a:t>
                      </a:r>
                    </a:p>
                  </a:txBody>
                  <a:tcPr>
                    <a:solidFill>
                      <a:srgbClr val="FFFFFF"/>
                    </a:solidFill>
                  </a:tcPr>
                </a:tc>
                <a:tc>
                  <a:txBody>
                    <a:bodyPr/>
                    <a:lstStyle/>
                    <a:p>
                      <a:r>
                        <a:rPr sz="1875" b="0">
                          <a:solidFill>
                            <a:srgbClr val="153442"/>
                          </a:solidFill>
                          <a:latin typeface="Arial"/>
                          <a:ea typeface="Arial"/>
                          <a:cs typeface="Arial"/>
                        </a:rPr>
                        <a:t>775</a:t>
                      </a:r>
                    </a:p>
                  </a:txBody>
                  <a:tcPr>
                    <a:solidFill>
                      <a:srgbClr val="FFFFFF"/>
                    </a:solidFill>
                  </a:tcPr>
                </a:tc>
                <a:extLst>
                  <a:ext uri="{0D108BD9-81ED-4DB2-BD59-A6C34878D82A}">
                    <a16:rowId xmlns:a16="http://schemas.microsoft.com/office/drawing/2014/main" val="10001"/>
                  </a:ext>
                </a:extLst>
              </a:tr>
              <a:tr h="607219">
                <a:tc>
                  <a:txBody>
                    <a:bodyPr/>
                    <a:lstStyle/>
                    <a:p>
                      <a:r>
                        <a:rPr sz="1875" b="0">
                          <a:solidFill>
                            <a:srgbClr val="153442"/>
                          </a:solidFill>
                          <a:latin typeface="Arial"/>
                          <a:ea typeface="Arial"/>
                          <a:cs typeface="Arial"/>
                        </a:rPr>
                        <a:t>Two-layer MLP</a:t>
                      </a:r>
                    </a:p>
                  </a:txBody>
                  <a:tcPr>
                    <a:solidFill>
                      <a:srgbClr val="EAF1F1"/>
                    </a:solidFill>
                  </a:tcPr>
                </a:tc>
                <a:tc>
                  <a:txBody>
                    <a:bodyPr/>
                    <a:lstStyle/>
                    <a:p>
                      <a:r>
                        <a:rPr sz="1875" b="0">
                          <a:solidFill>
                            <a:srgbClr val="153442"/>
                          </a:solidFill>
                          <a:latin typeface="Arial"/>
                          <a:ea typeface="Arial"/>
                          <a:cs typeface="Arial"/>
                        </a:rPr>
                        <a:t>16 inputs, 64 hidden, 32 hidden, 7 logits</a:t>
                      </a:r>
                    </a:p>
                  </a:txBody>
                  <a:tcPr>
                    <a:solidFill>
                      <a:srgbClr val="EAF1F1"/>
                    </a:solidFill>
                  </a:tcPr>
                </a:tc>
                <a:tc>
                  <a:txBody>
                    <a:bodyPr/>
                    <a:lstStyle/>
                    <a:p>
                      <a:r>
                        <a:rPr sz="1875" b="0">
                          <a:solidFill>
                            <a:srgbClr val="153442"/>
                          </a:solidFill>
                          <a:latin typeface="Arial"/>
                          <a:ea typeface="Arial"/>
                          <a:cs typeface="Arial"/>
                        </a:rPr>
                        <a:t>3,399</a:t>
                      </a:r>
                    </a:p>
                  </a:txBody>
                  <a:tcPr>
                    <a:solidFill>
                      <a:srgbClr val="EAF1F1"/>
                    </a:solidFill>
                  </a:tcPr>
                </a:tc>
                <a:extLst>
                  <a:ext uri="{0D108BD9-81ED-4DB2-BD59-A6C34878D82A}">
                    <a16:rowId xmlns:a16="http://schemas.microsoft.com/office/drawing/2014/main" val="10002"/>
                  </a:ext>
                </a:extLst>
              </a:tr>
              <a:tr h="607219">
                <a:tc>
                  <a:txBody>
                    <a:bodyPr/>
                    <a:lstStyle/>
                    <a:p>
                      <a:r>
                        <a:rPr sz="1875" b="0">
                          <a:solidFill>
                            <a:srgbClr val="153442"/>
                          </a:solidFill>
                          <a:latin typeface="Arial"/>
                          <a:ea typeface="Arial"/>
                          <a:cs typeface="Arial"/>
                        </a:rPr>
                        <a:t>Linear reference</a:t>
                      </a:r>
                    </a:p>
                  </a:txBody>
                  <a:tcPr>
                    <a:solidFill>
                      <a:srgbClr val="FFFFFF"/>
                    </a:solidFill>
                  </a:tcPr>
                </a:tc>
                <a:tc>
                  <a:txBody>
                    <a:bodyPr/>
                    <a:lstStyle/>
                    <a:p>
                      <a:r>
                        <a:rPr sz="1875" b="0">
                          <a:solidFill>
                            <a:srgbClr val="153442"/>
                          </a:solidFill>
                          <a:latin typeface="Arial"/>
                          <a:ea typeface="Arial"/>
                          <a:cs typeface="Arial"/>
                        </a:rPr>
                        <a:t>Logistic regression, fixed C = 1.0</a:t>
                      </a:r>
                    </a:p>
                  </a:txBody>
                  <a:tcPr>
                    <a:solidFill>
                      <a:srgbClr val="FFFFFF"/>
                    </a:solidFill>
                  </a:tcPr>
                </a:tc>
                <a:tc>
                  <a:txBody>
                    <a:bodyPr/>
                    <a:lstStyle/>
                    <a:p>
                      <a:r>
                        <a:rPr sz="1875" b="0">
                          <a:solidFill>
                            <a:srgbClr val="153442"/>
                          </a:solidFill>
                          <a:latin typeface="Arial"/>
                          <a:ea typeface="Arial"/>
                          <a:cs typeface="Arial"/>
                        </a:rPr>
                        <a:t>119</a:t>
                      </a:r>
                    </a:p>
                  </a:txBody>
                  <a:tcPr>
                    <a:solidFill>
                      <a:srgbClr val="FFFFFF"/>
                    </a:solid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80F42684-468B-4743-81A1-6D19DF2A4065}"/>
              </a:ext>
            </a:extLst>
          </p:cNvPr>
          <p:cNvSpPr>
            <a:spLocks noGrp="1"/>
          </p:cNvSpPr>
          <p:nvPr/>
        </p:nvSpPr>
        <p:spPr>
          <a:xfrm>
            <a:off x="619125" y="4333875"/>
            <a:ext cx="10763250" cy="1323975"/>
          </a:xfrm>
          <a:prstGeom prst="rect">
            <a:avLst/>
          </a:prstGeom>
          <a:noFill/>
          <a:ln w="0">
            <a:noFill/>
          </a:ln>
        </p:spPr>
        <p:txBody>
          <a:bodyPr>
            <a:noAutofit/>
          </a:bodyPr>
          <a:lstStyle/>
          <a:p>
            <a:pPr>
              <a:defRPr sz="2175" b="0">
                <a:solidFill>
                  <a:srgbClr val="153442"/>
                </a:solidFill>
                <a:latin typeface="Arial"/>
                <a:ea typeface="Arial"/>
                <a:cs typeface="Arial"/>
              </a:defRPr>
            </a:pPr>
            <a:r>
              <a:rPr sz="2175" b="0" dirty="0" err="1">
                <a:solidFill>
                  <a:srgbClr val="153442"/>
                </a:solidFill>
                <a:latin typeface="Arial"/>
                <a:ea typeface="Arial"/>
                <a:cs typeface="Arial"/>
              </a:rPr>
              <a:t>ReLU</a:t>
            </a:r>
            <a:r>
              <a:rPr sz="2175" b="0" dirty="0">
                <a:solidFill>
                  <a:srgbClr val="153442"/>
                </a:solidFill>
                <a:latin typeface="Arial"/>
                <a:ea typeface="Arial"/>
                <a:cs typeface="Arial"/>
              </a:rPr>
              <a:t> after every hidden dense layer</a:t>
            </a:r>
          </a:p>
          <a:p>
            <a:pPr>
              <a:defRPr sz="2175" b="0">
                <a:solidFill>
                  <a:srgbClr val="153442"/>
                </a:solidFill>
                <a:latin typeface="Arial"/>
                <a:ea typeface="Arial"/>
                <a:cs typeface="Arial"/>
              </a:defRPr>
            </a:pPr>
            <a:r>
              <a:rPr sz="2175" b="0" dirty="0">
                <a:solidFill>
                  <a:srgbClr val="153442"/>
                </a:solidFill>
                <a:latin typeface="Arial"/>
                <a:ea typeface="Arial"/>
                <a:cs typeface="Arial"/>
              </a:rPr>
              <a:t>Dropout variant: rate 0.20 after both hidden activations</a:t>
            </a:r>
          </a:p>
          <a:p>
            <a:pPr>
              <a:defRPr sz="2175" b="0">
                <a:solidFill>
                  <a:srgbClr val="153442"/>
                </a:solidFill>
                <a:latin typeface="Arial"/>
                <a:ea typeface="Arial"/>
                <a:cs typeface="Arial"/>
              </a:defRPr>
            </a:pPr>
            <a:r>
              <a:rPr sz="2175" b="0" dirty="0">
                <a:solidFill>
                  <a:srgbClr val="153442"/>
                </a:solidFill>
                <a:latin typeface="Arial"/>
                <a:ea typeface="Arial"/>
                <a:cs typeface="Arial"/>
              </a:rPr>
              <a:t>Cross-entropy receives seven raw logits</a:t>
            </a:r>
            <a:r>
              <a:rPr lang="fr-FR" sz="2175" b="0" dirty="0">
                <a:solidFill>
                  <a:srgbClr val="153442"/>
                </a:solidFill>
                <a:latin typeface="Arial"/>
                <a:ea typeface="Arial"/>
                <a:cs typeface="Arial"/>
              </a:rPr>
              <a:t> (</a:t>
            </a:r>
            <a:r>
              <a:rPr lang="fr-FR" sz="2175" b="0" dirty="0" err="1">
                <a:solidFill>
                  <a:srgbClr val="153442"/>
                </a:solidFill>
                <a:latin typeface="Arial"/>
                <a:ea typeface="Arial"/>
                <a:cs typeface="Arial"/>
              </a:rPr>
              <a:t>one-hot</a:t>
            </a:r>
            <a:r>
              <a:rPr lang="fr-FR" sz="2175" b="0" dirty="0">
                <a:solidFill>
                  <a:srgbClr val="153442"/>
                </a:solidFill>
                <a:latin typeface="Arial"/>
                <a:ea typeface="Arial"/>
                <a:cs typeface="Arial"/>
              </a:rPr>
              <a:t> </a:t>
            </a:r>
            <a:r>
              <a:rPr lang="fr-FR" sz="2175" b="0" dirty="0" err="1">
                <a:solidFill>
                  <a:srgbClr val="153442"/>
                </a:solidFill>
                <a:latin typeface="Arial"/>
                <a:ea typeface="Arial"/>
                <a:cs typeface="Arial"/>
              </a:rPr>
              <a:t>encoded</a:t>
            </a:r>
            <a:r>
              <a:rPr lang="fr-FR" sz="2175" b="0" dirty="0">
                <a:solidFill>
                  <a:srgbClr val="153442"/>
                </a:solidFill>
                <a:latin typeface="Arial"/>
                <a:ea typeface="Arial"/>
                <a:cs typeface="Arial"/>
              </a:rPr>
              <a:t> output)</a:t>
            </a:r>
            <a:endParaRPr sz="2175" b="0" dirty="0">
              <a:solidFill>
                <a:srgbClr val="153442"/>
              </a:solidFill>
              <a:latin typeface="Arial"/>
              <a:ea typeface="Arial"/>
              <a:cs typeface="Arial"/>
            </a:endParaRPr>
          </a:p>
        </p:txBody>
      </p:sp>
      <p:sp>
        <p:nvSpPr>
          <p:cNvPr id="5" name="Rectangle 4">
            <a:extLst>
              <a:ext uri="{FF2B5EF4-FFF2-40B4-BE49-F238E27FC236}">
                <a16:creationId xmlns:a16="http://schemas.microsoft.com/office/drawing/2014/main" id="{E94A8672-51AE-4A49-B838-A3D73D91D199}"/>
              </a:ext>
            </a:extLst>
          </p:cNvPr>
          <p:cNvSpPr>
            <a:spLocks noGrp="1"/>
          </p:cNvSpPr>
          <p:nvPr/>
        </p:nvSpPr>
        <p:spPr>
          <a:xfrm>
            <a:off x="619125" y="6038850"/>
            <a:ext cx="10763250" cy="400050"/>
          </a:xfrm>
          <a:prstGeom prst="rect">
            <a:avLst/>
          </a:prstGeom>
          <a:noFill/>
          <a:ln w="0">
            <a:noFill/>
          </a:ln>
        </p:spPr>
        <p:txBody>
          <a:bodyPr>
            <a:noAutofit/>
          </a:bodyPr>
          <a:lstStyle/>
          <a:p>
            <a:pPr>
              <a:defRPr sz="1725" b="0">
                <a:solidFill>
                  <a:srgbClr val="536772"/>
                </a:solidFill>
                <a:latin typeface="Arial"/>
                <a:ea typeface="Arial"/>
                <a:cs typeface="Arial"/>
              </a:defRPr>
            </a:pPr>
            <a:r>
              <a:rPr sz="1725" b="0" dirty="0">
                <a:solidFill>
                  <a:srgbClr val="536772"/>
                </a:solidFill>
                <a:latin typeface="Arial"/>
                <a:ea typeface="Arial"/>
                <a:cs typeface="Arial"/>
              </a:rPr>
              <a:t>MLPs suit named numerical measurements. No image grid is available for a CNN.</a:t>
            </a:r>
          </a:p>
        </p:txBody>
      </p:sp>
    </p:spTree>
    <p:extLst>
      <p:ext uri="{BB962C8B-B14F-4D97-AF65-F5344CB8AC3E}">
        <p14:creationId xmlns:p14="http://schemas.microsoft.com/office/powerpoint/2010/main" val="6652801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8FCB894-6AD4-48BB-8959-4CCAF8E95780}"/>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Learning strategy and controlled variants</a:t>
            </a:r>
          </a:p>
        </p:txBody>
      </p:sp>
      <p:sp>
        <p:nvSpPr>
          <p:cNvPr id="2" name="Rectangle 1">
            <a:extLst>
              <a:ext uri="{FF2B5EF4-FFF2-40B4-BE49-F238E27FC236}">
                <a16:creationId xmlns:a16="http://schemas.microsoft.com/office/drawing/2014/main" id="{F55670FD-94E9-4747-A287-8DCEB656783D}"/>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06</a:t>
            </a:r>
          </a:p>
        </p:txBody>
      </p:sp>
      <p:graphicFrame>
        <p:nvGraphicFramePr>
          <p:cNvPr id="10" name="Tableau 9"/>
          <p:cNvGraphicFramePr/>
          <p:nvPr/>
        </p:nvGraphicFramePr>
        <p:xfrm>
          <a:off x="571500" y="1400175"/>
          <a:ext cx="6953250" cy="3381378"/>
        </p:xfrm>
        <a:graphic>
          <a:graphicData uri="http://schemas.openxmlformats.org/drawingml/2006/table">
            <a:tbl>
              <a:tblPr/>
              <a:tblGrid>
                <a:gridCol w="276225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tblGrid>
              <a:tr h="483054">
                <a:tc>
                  <a:txBody>
                    <a:bodyPr/>
                    <a:lstStyle/>
                    <a:p>
                      <a:r>
                        <a:rPr sz="1725" b="1">
                          <a:solidFill>
                            <a:srgbClr val="FFFFFF"/>
                          </a:solidFill>
                          <a:latin typeface="Arial"/>
                          <a:ea typeface="Arial"/>
                          <a:cs typeface="Arial"/>
                        </a:rPr>
                        <a:t>Configuration</a:t>
                      </a:r>
                    </a:p>
                  </a:txBody>
                  <a:tcPr>
                    <a:solidFill>
                      <a:srgbClr val="153442"/>
                    </a:solidFill>
                  </a:tcPr>
                </a:tc>
                <a:tc>
                  <a:txBody>
                    <a:bodyPr/>
                    <a:lstStyle/>
                    <a:p>
                      <a:r>
                        <a:rPr sz="1725" b="1">
                          <a:solidFill>
                            <a:srgbClr val="FFFFFF"/>
                          </a:solidFill>
                          <a:latin typeface="Arial"/>
                          <a:ea typeface="Arial"/>
                          <a:cs typeface="Arial"/>
                        </a:rPr>
                        <a:t>Change</a:t>
                      </a:r>
                    </a:p>
                  </a:txBody>
                  <a:tcPr>
                    <a:solidFill>
                      <a:srgbClr val="153442"/>
                    </a:solidFill>
                  </a:tcPr>
                </a:tc>
                <a:extLst>
                  <a:ext uri="{0D108BD9-81ED-4DB2-BD59-A6C34878D82A}">
                    <a16:rowId xmlns:a16="http://schemas.microsoft.com/office/drawing/2014/main" val="10000"/>
                  </a:ext>
                </a:extLst>
              </a:tr>
              <a:tr h="483054">
                <a:tc>
                  <a:txBody>
                    <a:bodyPr/>
                    <a:lstStyle/>
                    <a:p>
                      <a:r>
                        <a:rPr sz="1725" b="0">
                          <a:solidFill>
                            <a:srgbClr val="153442"/>
                          </a:solidFill>
                          <a:latin typeface="Arial"/>
                          <a:ea typeface="Arial"/>
                          <a:cs typeface="Arial"/>
                        </a:rPr>
                        <a:t>MLP-32</a:t>
                      </a:r>
                    </a:p>
                  </a:txBody>
                  <a:tcPr>
                    <a:solidFill>
                      <a:srgbClr val="FFFFFF"/>
                    </a:solidFill>
                  </a:tcPr>
                </a:tc>
                <a:tc>
                  <a:txBody>
                    <a:bodyPr/>
                    <a:lstStyle/>
                    <a:p>
                      <a:r>
                        <a:rPr sz="1725" b="0">
                          <a:solidFill>
                            <a:srgbClr val="153442"/>
                          </a:solidFill>
                          <a:latin typeface="Arial"/>
                          <a:ea typeface="Arial"/>
                          <a:cs typeface="Arial"/>
                        </a:rPr>
                        <a:t>One hidden layer, 32 units</a:t>
                      </a:r>
                    </a:p>
                  </a:txBody>
                  <a:tcPr>
                    <a:solidFill>
                      <a:srgbClr val="FFFFFF"/>
                    </a:solidFill>
                  </a:tcPr>
                </a:tc>
                <a:extLst>
                  <a:ext uri="{0D108BD9-81ED-4DB2-BD59-A6C34878D82A}">
                    <a16:rowId xmlns:a16="http://schemas.microsoft.com/office/drawing/2014/main" val="10001"/>
                  </a:ext>
                </a:extLst>
              </a:tr>
              <a:tr h="483054">
                <a:tc>
                  <a:txBody>
                    <a:bodyPr/>
                    <a:lstStyle/>
                    <a:p>
                      <a:r>
                        <a:rPr sz="1725" b="0">
                          <a:solidFill>
                            <a:srgbClr val="153442"/>
                          </a:solidFill>
                          <a:latin typeface="Arial"/>
                          <a:ea typeface="Arial"/>
                          <a:cs typeface="Arial"/>
                        </a:rPr>
                        <a:t>MLP-base</a:t>
                      </a:r>
                    </a:p>
                  </a:txBody>
                  <a:tcPr>
                    <a:solidFill>
                      <a:srgbClr val="EAF1F1"/>
                    </a:solidFill>
                  </a:tcPr>
                </a:tc>
                <a:tc>
                  <a:txBody>
                    <a:bodyPr/>
                    <a:lstStyle/>
                    <a:p>
                      <a:r>
                        <a:rPr sz="1725" b="0">
                          <a:solidFill>
                            <a:srgbClr val="153442"/>
                          </a:solidFill>
                          <a:latin typeface="Arial"/>
                          <a:ea typeface="Arial"/>
                          <a:cs typeface="Arial"/>
                        </a:rPr>
                        <a:t>Two hidden layers, 64 and 32 units</a:t>
                      </a:r>
                    </a:p>
                  </a:txBody>
                  <a:tcPr>
                    <a:solidFill>
                      <a:srgbClr val="EAF1F1"/>
                    </a:solidFill>
                  </a:tcPr>
                </a:tc>
                <a:extLst>
                  <a:ext uri="{0D108BD9-81ED-4DB2-BD59-A6C34878D82A}">
                    <a16:rowId xmlns:a16="http://schemas.microsoft.com/office/drawing/2014/main" val="10002"/>
                  </a:ext>
                </a:extLst>
              </a:tr>
              <a:tr h="483054">
                <a:tc>
                  <a:txBody>
                    <a:bodyPr/>
                    <a:lstStyle/>
                    <a:p>
                      <a:r>
                        <a:rPr sz="1725" b="0">
                          <a:solidFill>
                            <a:srgbClr val="153442"/>
                          </a:solidFill>
                          <a:latin typeface="Arial"/>
                          <a:ea typeface="Arial"/>
                          <a:cs typeface="Arial"/>
                        </a:rPr>
                        <a:t>MLP-low-lr</a:t>
                      </a:r>
                    </a:p>
                  </a:txBody>
                  <a:tcPr>
                    <a:solidFill>
                      <a:srgbClr val="FFFFFF"/>
                    </a:solidFill>
                  </a:tcPr>
                </a:tc>
                <a:tc>
                  <a:txBody>
                    <a:bodyPr/>
                    <a:lstStyle/>
                    <a:p>
                      <a:r>
                        <a:rPr sz="1725" b="0">
                          <a:solidFill>
                            <a:srgbClr val="153442"/>
                          </a:solidFill>
                          <a:latin typeface="Arial"/>
                          <a:ea typeface="Arial"/>
                          <a:cs typeface="Arial"/>
                        </a:rPr>
                        <a:t>Learning rate 0.0003</a:t>
                      </a:r>
                    </a:p>
                  </a:txBody>
                  <a:tcPr>
                    <a:solidFill>
                      <a:srgbClr val="FFFFFF"/>
                    </a:solidFill>
                  </a:tcPr>
                </a:tc>
                <a:extLst>
                  <a:ext uri="{0D108BD9-81ED-4DB2-BD59-A6C34878D82A}">
                    <a16:rowId xmlns:a16="http://schemas.microsoft.com/office/drawing/2014/main" val="10003"/>
                  </a:ext>
                </a:extLst>
              </a:tr>
              <a:tr h="483054">
                <a:tc>
                  <a:txBody>
                    <a:bodyPr/>
                    <a:lstStyle/>
                    <a:p>
                      <a:r>
                        <a:rPr sz="1725" b="0">
                          <a:solidFill>
                            <a:srgbClr val="153442"/>
                          </a:solidFill>
                          <a:latin typeface="Arial"/>
                          <a:ea typeface="Arial"/>
                          <a:cs typeface="Arial"/>
                        </a:rPr>
                        <a:t>MLP-high-lr</a:t>
                      </a:r>
                    </a:p>
                  </a:txBody>
                  <a:tcPr>
                    <a:solidFill>
                      <a:srgbClr val="EAF1F1"/>
                    </a:solidFill>
                  </a:tcPr>
                </a:tc>
                <a:tc>
                  <a:txBody>
                    <a:bodyPr/>
                    <a:lstStyle/>
                    <a:p>
                      <a:r>
                        <a:rPr sz="1725" b="0">
                          <a:solidFill>
                            <a:srgbClr val="153442"/>
                          </a:solidFill>
                          <a:latin typeface="Arial"/>
                          <a:ea typeface="Arial"/>
                          <a:cs typeface="Arial"/>
                        </a:rPr>
                        <a:t>Learning rate 0.003</a:t>
                      </a:r>
                    </a:p>
                  </a:txBody>
                  <a:tcPr>
                    <a:solidFill>
                      <a:srgbClr val="EAF1F1"/>
                    </a:solidFill>
                  </a:tcPr>
                </a:tc>
                <a:extLst>
                  <a:ext uri="{0D108BD9-81ED-4DB2-BD59-A6C34878D82A}">
                    <a16:rowId xmlns:a16="http://schemas.microsoft.com/office/drawing/2014/main" val="10004"/>
                  </a:ext>
                </a:extLst>
              </a:tr>
              <a:tr h="483054">
                <a:tc>
                  <a:txBody>
                    <a:bodyPr/>
                    <a:lstStyle/>
                    <a:p>
                      <a:r>
                        <a:rPr sz="1725" b="0">
                          <a:solidFill>
                            <a:srgbClr val="153442"/>
                          </a:solidFill>
                          <a:latin typeface="Arial"/>
                          <a:ea typeface="Arial"/>
                          <a:cs typeface="Arial"/>
                        </a:rPr>
                        <a:t>MLP-dropout</a:t>
                      </a:r>
                    </a:p>
                  </a:txBody>
                  <a:tcPr>
                    <a:solidFill>
                      <a:srgbClr val="FFFFFF"/>
                    </a:solidFill>
                  </a:tcPr>
                </a:tc>
                <a:tc>
                  <a:txBody>
                    <a:bodyPr/>
                    <a:lstStyle/>
                    <a:p>
                      <a:r>
                        <a:rPr sz="1725" b="0">
                          <a:solidFill>
                            <a:srgbClr val="153442"/>
                          </a:solidFill>
                          <a:latin typeface="Arial"/>
                          <a:ea typeface="Arial"/>
                          <a:cs typeface="Arial"/>
                        </a:rPr>
                        <a:t>Dropout 0.20</a:t>
                      </a:r>
                    </a:p>
                  </a:txBody>
                  <a:tcPr>
                    <a:solidFill>
                      <a:srgbClr val="FFFFFF"/>
                    </a:solidFill>
                  </a:tcPr>
                </a:tc>
                <a:extLst>
                  <a:ext uri="{0D108BD9-81ED-4DB2-BD59-A6C34878D82A}">
                    <a16:rowId xmlns:a16="http://schemas.microsoft.com/office/drawing/2014/main" val="10005"/>
                  </a:ext>
                </a:extLst>
              </a:tr>
              <a:tr h="483054">
                <a:tc>
                  <a:txBody>
                    <a:bodyPr/>
                    <a:lstStyle/>
                    <a:p>
                      <a:r>
                        <a:rPr sz="1725" b="0">
                          <a:solidFill>
                            <a:srgbClr val="153442"/>
                          </a:solidFill>
                          <a:latin typeface="Arial"/>
                          <a:ea typeface="Arial"/>
                          <a:cs typeface="Arial"/>
                        </a:rPr>
                        <a:t>MLP-weighted</a:t>
                      </a:r>
                    </a:p>
                  </a:txBody>
                  <a:tcPr>
                    <a:solidFill>
                      <a:srgbClr val="EAF1F1"/>
                    </a:solidFill>
                  </a:tcPr>
                </a:tc>
                <a:tc>
                  <a:txBody>
                    <a:bodyPr/>
                    <a:lstStyle/>
                    <a:p>
                      <a:r>
                        <a:rPr sz="1725" b="0">
                          <a:solidFill>
                            <a:srgbClr val="153442"/>
                          </a:solidFill>
                          <a:latin typeface="Arial"/>
                          <a:ea typeface="Arial"/>
                          <a:cs typeface="Arial"/>
                        </a:rPr>
                        <a:t>Inverse-frequency class weights</a:t>
                      </a:r>
                    </a:p>
                  </a:txBody>
                  <a:tcPr>
                    <a:solidFill>
                      <a:srgbClr val="EAF1F1"/>
                    </a:solidFill>
                  </a:tcPr>
                </a:tc>
                <a:extLst>
                  <a:ext uri="{0D108BD9-81ED-4DB2-BD59-A6C34878D82A}">
                    <a16:rowId xmlns:a16="http://schemas.microsoft.com/office/drawing/2014/main" val="10006"/>
                  </a:ext>
                </a:extLst>
              </a:tr>
            </a:tbl>
          </a:graphicData>
        </a:graphic>
      </p:graphicFrame>
      <p:sp>
        <p:nvSpPr>
          <p:cNvPr id="4" name="Rectangle 3">
            <a:extLst>
              <a:ext uri="{FF2B5EF4-FFF2-40B4-BE49-F238E27FC236}">
                <a16:creationId xmlns:a16="http://schemas.microsoft.com/office/drawing/2014/main" id="{951D6040-1716-47E8-A8C4-5B881A3C23BC}"/>
              </a:ext>
            </a:extLst>
          </p:cNvPr>
          <p:cNvSpPr>
            <a:spLocks noGrp="1"/>
          </p:cNvSpPr>
          <p:nvPr/>
        </p:nvSpPr>
        <p:spPr>
          <a:xfrm>
            <a:off x="8001000" y="1476375"/>
            <a:ext cx="3524250" cy="523875"/>
          </a:xfrm>
          <a:prstGeom prst="rect">
            <a:avLst/>
          </a:prstGeom>
          <a:noFill/>
          <a:ln w="0">
            <a:noFill/>
          </a:ln>
        </p:spPr>
        <p:txBody>
          <a:bodyPr>
            <a:noAutofit/>
          </a:bodyPr>
          <a:lstStyle/>
          <a:p>
            <a:pPr>
              <a:defRPr sz="2475" b="1">
                <a:solidFill>
                  <a:srgbClr val="007D88"/>
                </a:solidFill>
                <a:latin typeface="Arial"/>
                <a:ea typeface="Arial"/>
                <a:cs typeface="Arial"/>
              </a:defRPr>
            </a:pPr>
            <a:r>
              <a:rPr sz="2475" b="1">
                <a:solidFill>
                  <a:srgbClr val="007D88"/>
                </a:solidFill>
                <a:latin typeface="Arial"/>
                <a:ea typeface="Arial"/>
                <a:cs typeface="Arial"/>
              </a:rPr>
              <a:t>18 neural runs</a:t>
            </a:r>
          </a:p>
        </p:txBody>
      </p:sp>
      <p:sp>
        <p:nvSpPr>
          <p:cNvPr id="5" name="Rectangle 4">
            <a:extLst>
              <a:ext uri="{FF2B5EF4-FFF2-40B4-BE49-F238E27FC236}">
                <a16:creationId xmlns:a16="http://schemas.microsoft.com/office/drawing/2014/main" id="{7FCEE5C9-41CC-4BD8-97AF-9FE0CE5FD639}"/>
              </a:ext>
            </a:extLst>
          </p:cNvPr>
          <p:cNvSpPr>
            <a:spLocks noGrp="1"/>
          </p:cNvSpPr>
          <p:nvPr/>
        </p:nvSpPr>
        <p:spPr>
          <a:xfrm>
            <a:off x="8001000" y="2314575"/>
            <a:ext cx="3571875" cy="1790700"/>
          </a:xfrm>
          <a:prstGeom prst="rect">
            <a:avLst/>
          </a:prstGeom>
          <a:noFill/>
          <a:ln w="0">
            <a:noFill/>
          </a:ln>
        </p:spPr>
        <p:txBody>
          <a:bodyPr>
            <a:noAutofit/>
          </a:bodyPr>
          <a:lstStyle/>
          <a:p>
            <a:pPr>
              <a:defRPr sz="2025" b="0">
                <a:solidFill>
                  <a:srgbClr val="153442"/>
                </a:solidFill>
                <a:latin typeface="Arial"/>
                <a:ea typeface="Arial"/>
                <a:cs typeface="Arial"/>
              </a:defRPr>
            </a:pPr>
            <a:r>
              <a:rPr sz="2025" b="0">
                <a:solidFill>
                  <a:srgbClr val="153442"/>
                </a:solidFill>
                <a:latin typeface="Arial"/>
                <a:ea typeface="Arial"/>
                <a:cs typeface="Arial"/>
              </a:rPr>
              <a:t>6 settings × 3 seeds</a:t>
            </a:r>
          </a:p>
          <a:p>
            <a:pPr>
              <a:defRPr sz="2025" b="0">
                <a:solidFill>
                  <a:srgbClr val="153442"/>
                </a:solidFill>
                <a:latin typeface="Arial"/>
                <a:ea typeface="Arial"/>
                <a:cs typeface="Arial"/>
              </a:defRPr>
            </a:pPr>
            <a:r>
              <a:rPr sz="2025" b="0">
                <a:solidFill>
                  <a:srgbClr val="153442"/>
                </a:solidFill>
                <a:latin typeface="Arial"/>
                <a:ea typeface="Arial"/>
                <a:cs typeface="Arial"/>
              </a:rPr>
              <a:t>Adam, batch 256</a:t>
            </a:r>
          </a:p>
          <a:p>
            <a:pPr>
              <a:defRPr sz="2025" b="0">
                <a:solidFill>
                  <a:srgbClr val="153442"/>
                </a:solidFill>
                <a:latin typeface="Arial"/>
                <a:ea typeface="Arial"/>
                <a:cs typeface="Arial"/>
              </a:defRPr>
            </a:pPr>
            <a:r>
              <a:rPr sz="2025" b="0">
                <a:solidFill>
                  <a:srgbClr val="153442"/>
                </a:solidFill>
                <a:latin typeface="Arial"/>
                <a:ea typeface="Arial"/>
                <a:cs typeface="Arial"/>
              </a:rPr>
              <a:t>Up to 40 epochs</a:t>
            </a:r>
          </a:p>
          <a:p>
            <a:pPr>
              <a:defRPr sz="2025" b="0">
                <a:solidFill>
                  <a:srgbClr val="153442"/>
                </a:solidFill>
                <a:latin typeface="Arial"/>
                <a:ea typeface="Arial"/>
                <a:cs typeface="Arial"/>
              </a:defRPr>
            </a:pPr>
            <a:r>
              <a:rPr sz="2025" b="0">
                <a:solidFill>
                  <a:srgbClr val="153442"/>
                </a:solidFill>
                <a:latin typeface="Arial"/>
                <a:ea typeface="Arial"/>
                <a:cs typeface="Arial"/>
              </a:rPr>
              <a:t>Base rate: 0.001</a:t>
            </a:r>
          </a:p>
        </p:txBody>
      </p:sp>
      <p:sp>
        <p:nvSpPr>
          <p:cNvPr id="6" name="Rectangle 5">
            <a:extLst>
              <a:ext uri="{FF2B5EF4-FFF2-40B4-BE49-F238E27FC236}">
                <a16:creationId xmlns:a16="http://schemas.microsoft.com/office/drawing/2014/main" id="{5F6D24A2-B407-47DC-8A71-D32E2A4C9D92}"/>
              </a:ext>
            </a:extLst>
          </p:cNvPr>
          <p:cNvSpPr>
            <a:spLocks noGrp="1"/>
          </p:cNvSpPr>
          <p:nvPr/>
        </p:nvSpPr>
        <p:spPr>
          <a:xfrm>
            <a:off x="590550" y="5067300"/>
            <a:ext cx="10953750" cy="866775"/>
          </a:xfrm>
          <a:prstGeom prst="rect">
            <a:avLst/>
          </a:prstGeom>
          <a:noFill/>
          <a:ln w="0">
            <a:noFill/>
          </a:ln>
        </p:spPr>
        <p:txBody>
          <a:bodyPr>
            <a:noAutofit/>
          </a:bodyPr>
          <a:lstStyle/>
          <a:p>
            <a:pPr>
              <a:defRPr sz="1950" b="0">
                <a:solidFill>
                  <a:srgbClr val="153442"/>
                </a:solidFill>
                <a:latin typeface="Arial"/>
                <a:ea typeface="Arial"/>
                <a:cs typeface="Arial"/>
              </a:defRPr>
            </a:pPr>
            <a:r>
              <a:rPr sz="1950" b="0">
                <a:solidFill>
                  <a:srgbClr val="153442"/>
                </a:solidFill>
                <a:latin typeface="Arial"/>
                <a:ea typeface="Arial"/>
                <a:cs typeface="Arial"/>
              </a:rPr>
              <a:t>Checkpoint: minimum unweighted validation loss, patience 8.</a:t>
            </a:r>
          </a:p>
          <a:p>
            <a:pPr>
              <a:defRPr sz="1950" b="0">
                <a:solidFill>
                  <a:srgbClr val="153442"/>
                </a:solidFill>
                <a:latin typeface="Arial"/>
                <a:ea typeface="Arial"/>
                <a:cs typeface="Arial"/>
              </a:defRPr>
            </a:pPr>
            <a:r>
              <a:rPr sz="1950" b="0">
                <a:solidFill>
                  <a:srgbClr val="153442"/>
                </a:solidFill>
                <a:latin typeface="Arial"/>
                <a:ea typeface="Arial"/>
                <a:cs typeface="Arial"/>
              </a:rPr>
              <a:t>Configuration: highest mean validation macro-F1, then lower loss and size.</a:t>
            </a:r>
          </a:p>
        </p:txBody>
      </p:sp>
      <p:sp>
        <p:nvSpPr>
          <p:cNvPr id="7" name="Rectangle 6">
            <a:extLst>
              <a:ext uri="{FF2B5EF4-FFF2-40B4-BE49-F238E27FC236}">
                <a16:creationId xmlns:a16="http://schemas.microsoft.com/office/drawing/2014/main" id="{AAD43068-D1CE-49A3-A2B9-CB4921634077}"/>
              </a:ext>
            </a:extLst>
          </p:cNvPr>
          <p:cNvSpPr>
            <a:spLocks noGrp="1"/>
          </p:cNvSpPr>
          <p:nvPr/>
        </p:nvSpPr>
        <p:spPr>
          <a:xfrm>
            <a:off x="590550" y="6153150"/>
            <a:ext cx="10525125" cy="333375"/>
          </a:xfrm>
          <a:prstGeom prst="rect">
            <a:avLst/>
          </a:prstGeom>
          <a:noFill/>
          <a:ln w="0">
            <a:noFill/>
          </a:ln>
        </p:spPr>
        <p:txBody>
          <a:bodyPr>
            <a:noAutofit/>
          </a:bodyPr>
          <a:lstStyle/>
          <a:p>
            <a:pPr>
              <a:defRPr sz="1650" b="1">
                <a:solidFill>
                  <a:srgbClr val="007D88"/>
                </a:solidFill>
                <a:latin typeface="Arial"/>
                <a:ea typeface="Arial"/>
                <a:cs typeface="Arial"/>
              </a:defRPr>
            </a:pPr>
            <a:r>
              <a:rPr sz="1650" b="1">
                <a:solidFill>
                  <a:srgbClr val="007D88"/>
                </a:solidFill>
                <a:latin typeface="Arial"/>
                <a:ea typeface="Arial"/>
                <a:cs typeface="Arial"/>
              </a:rPr>
              <a:t>Class weights use training labels only. Test scores never select settings.</a:t>
            </a:r>
          </a:p>
        </p:txBody>
      </p:sp>
    </p:spTree>
    <p:extLst>
      <p:ext uri="{BB962C8B-B14F-4D97-AF65-F5344CB8AC3E}">
        <p14:creationId xmlns:p14="http://schemas.microsoft.com/office/powerpoint/2010/main" val="7339052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144364E-044D-404A-95BD-09273F0528D9}"/>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Validation comparison across 18 runs</a:t>
            </a:r>
          </a:p>
        </p:txBody>
      </p:sp>
      <p:sp>
        <p:nvSpPr>
          <p:cNvPr id="2" name="Rectangle 1">
            <a:extLst>
              <a:ext uri="{FF2B5EF4-FFF2-40B4-BE49-F238E27FC236}">
                <a16:creationId xmlns:a16="http://schemas.microsoft.com/office/drawing/2014/main" id="{D1D87133-CA16-4C2D-BB88-1607CB1C6036}"/>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07</a:t>
            </a:r>
          </a:p>
        </p:txBody>
      </p:sp>
      <p:graphicFrame>
        <p:nvGraphicFramePr>
          <p:cNvPr id="8" name="Tableau 7"/>
          <p:cNvGraphicFramePr/>
          <p:nvPr>
            <p:extLst>
              <p:ext uri="{D42A27DB-BD31-4B8C-83A1-F6EECF244321}">
                <p14:modId xmlns:p14="http://schemas.microsoft.com/office/powerpoint/2010/main" val="3663658085"/>
              </p:ext>
            </p:extLst>
          </p:nvPr>
        </p:nvGraphicFramePr>
        <p:xfrm>
          <a:off x="571500" y="1409700"/>
          <a:ext cx="11049000" cy="3476627"/>
        </p:xfrm>
        <a:graphic>
          <a:graphicData uri="http://schemas.openxmlformats.org/drawingml/2006/table">
            <a:tbl>
              <a:tblPr/>
              <a:tblGrid>
                <a:gridCol w="3238500">
                  <a:extLst>
                    <a:ext uri="{9D8B030D-6E8A-4147-A177-3AD203B41FA5}">
                      <a16:colId xmlns:a16="http://schemas.microsoft.com/office/drawing/2014/main" val="20000"/>
                    </a:ext>
                  </a:extLst>
                </a:gridCol>
                <a:gridCol w="3286125">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gridCol w="2143125">
                  <a:extLst>
                    <a:ext uri="{9D8B030D-6E8A-4147-A177-3AD203B41FA5}">
                      <a16:colId xmlns:a16="http://schemas.microsoft.com/office/drawing/2014/main" val="20003"/>
                    </a:ext>
                  </a:extLst>
                </a:gridCol>
              </a:tblGrid>
              <a:tr h="496661">
                <a:tc>
                  <a:txBody>
                    <a:bodyPr/>
                    <a:lstStyle/>
                    <a:p>
                      <a:r>
                        <a:rPr sz="1800" b="1">
                          <a:solidFill>
                            <a:srgbClr val="FFFFFF"/>
                          </a:solidFill>
                          <a:latin typeface="Arial"/>
                          <a:ea typeface="Arial"/>
                          <a:cs typeface="Arial"/>
                        </a:rPr>
                        <a:t>Configuration</a:t>
                      </a:r>
                    </a:p>
                  </a:txBody>
                  <a:tcPr>
                    <a:solidFill>
                      <a:srgbClr val="153442"/>
                    </a:solidFill>
                  </a:tcPr>
                </a:tc>
                <a:tc>
                  <a:txBody>
                    <a:bodyPr/>
                    <a:lstStyle/>
                    <a:p>
                      <a:r>
                        <a:rPr sz="1800" b="1">
                          <a:solidFill>
                            <a:srgbClr val="FFFFFF"/>
                          </a:solidFill>
                          <a:latin typeface="Arial"/>
                          <a:ea typeface="Arial"/>
                          <a:cs typeface="Arial"/>
                        </a:rPr>
                        <a:t>Macro-F1 ± SD</a:t>
                      </a:r>
                    </a:p>
                  </a:txBody>
                  <a:tcPr>
                    <a:solidFill>
                      <a:srgbClr val="153442"/>
                    </a:solidFill>
                  </a:tcPr>
                </a:tc>
                <a:tc>
                  <a:txBody>
                    <a:bodyPr/>
                    <a:lstStyle/>
                    <a:p>
                      <a:r>
                        <a:rPr sz="1800" b="1">
                          <a:solidFill>
                            <a:srgbClr val="FFFFFF"/>
                          </a:solidFill>
                          <a:latin typeface="Arial"/>
                          <a:ea typeface="Arial"/>
                          <a:cs typeface="Arial"/>
                        </a:rPr>
                        <a:t>Accuracy, %</a:t>
                      </a:r>
                    </a:p>
                  </a:txBody>
                  <a:tcPr>
                    <a:solidFill>
                      <a:srgbClr val="153442"/>
                    </a:solidFill>
                  </a:tcPr>
                </a:tc>
                <a:tc>
                  <a:txBody>
                    <a:bodyPr/>
                    <a:lstStyle/>
                    <a:p>
                      <a:r>
                        <a:rPr sz="1800" b="1">
                          <a:solidFill>
                            <a:srgbClr val="FFFFFF"/>
                          </a:solidFill>
                          <a:latin typeface="Arial"/>
                          <a:ea typeface="Arial"/>
                          <a:cs typeface="Arial"/>
                        </a:rPr>
                        <a:t>Parameters</a:t>
                      </a:r>
                    </a:p>
                  </a:txBody>
                  <a:tcPr>
                    <a:solidFill>
                      <a:srgbClr val="153442"/>
                    </a:solidFill>
                  </a:tcPr>
                </a:tc>
                <a:extLst>
                  <a:ext uri="{0D108BD9-81ED-4DB2-BD59-A6C34878D82A}">
                    <a16:rowId xmlns:a16="http://schemas.microsoft.com/office/drawing/2014/main" val="10000"/>
                  </a:ext>
                </a:extLst>
              </a:tr>
              <a:tr h="496661">
                <a:tc>
                  <a:txBody>
                    <a:bodyPr/>
                    <a:lstStyle/>
                    <a:p>
                      <a:r>
                        <a:rPr sz="1800" b="0">
                          <a:solidFill>
                            <a:srgbClr val="153442"/>
                          </a:solidFill>
                          <a:latin typeface="Arial"/>
                          <a:ea typeface="Arial"/>
                          <a:cs typeface="Arial"/>
                        </a:rPr>
                        <a:t>MLP-32</a:t>
                      </a:r>
                    </a:p>
                  </a:txBody>
                  <a:tcPr>
                    <a:solidFill>
                      <a:srgbClr val="FFFFFF"/>
                    </a:solidFill>
                  </a:tcPr>
                </a:tc>
                <a:tc>
                  <a:txBody>
                    <a:bodyPr/>
                    <a:lstStyle/>
                    <a:p>
                      <a:r>
                        <a:rPr sz="1800" b="0">
                          <a:solidFill>
                            <a:srgbClr val="153442"/>
                          </a:solidFill>
                          <a:latin typeface="Arial"/>
                          <a:ea typeface="Arial"/>
                          <a:cs typeface="Arial"/>
                        </a:rPr>
                        <a:t>0.9300 ± 0.0009</a:t>
                      </a:r>
                    </a:p>
                  </a:txBody>
                  <a:tcPr>
                    <a:solidFill>
                      <a:srgbClr val="FFFFFF"/>
                    </a:solidFill>
                  </a:tcPr>
                </a:tc>
                <a:tc>
                  <a:txBody>
                    <a:bodyPr/>
                    <a:lstStyle/>
                    <a:p>
                      <a:r>
                        <a:rPr sz="1800" b="0">
                          <a:solidFill>
                            <a:srgbClr val="153442"/>
                          </a:solidFill>
                          <a:latin typeface="Arial"/>
                          <a:ea typeface="Arial"/>
                          <a:cs typeface="Arial"/>
                        </a:rPr>
                        <a:t>91.97</a:t>
                      </a:r>
                    </a:p>
                  </a:txBody>
                  <a:tcPr>
                    <a:solidFill>
                      <a:srgbClr val="FFFFFF"/>
                    </a:solidFill>
                  </a:tcPr>
                </a:tc>
                <a:tc>
                  <a:txBody>
                    <a:bodyPr/>
                    <a:lstStyle/>
                    <a:p>
                      <a:r>
                        <a:rPr sz="1800" b="0">
                          <a:solidFill>
                            <a:srgbClr val="153442"/>
                          </a:solidFill>
                          <a:latin typeface="Arial"/>
                          <a:ea typeface="Arial"/>
                          <a:cs typeface="Arial"/>
                        </a:rPr>
                        <a:t>775</a:t>
                      </a:r>
                    </a:p>
                  </a:txBody>
                  <a:tcPr>
                    <a:solidFill>
                      <a:srgbClr val="FFFFFF"/>
                    </a:solidFill>
                  </a:tcPr>
                </a:tc>
                <a:extLst>
                  <a:ext uri="{0D108BD9-81ED-4DB2-BD59-A6C34878D82A}">
                    <a16:rowId xmlns:a16="http://schemas.microsoft.com/office/drawing/2014/main" val="10001"/>
                  </a:ext>
                </a:extLst>
              </a:tr>
              <a:tr h="496661">
                <a:tc>
                  <a:txBody>
                    <a:bodyPr/>
                    <a:lstStyle/>
                    <a:p>
                      <a:r>
                        <a:rPr sz="1800" b="0">
                          <a:solidFill>
                            <a:srgbClr val="153442"/>
                          </a:solidFill>
                          <a:latin typeface="Arial"/>
                          <a:ea typeface="Arial"/>
                          <a:cs typeface="Arial"/>
                        </a:rPr>
                        <a:t>MLP-base</a:t>
                      </a:r>
                    </a:p>
                  </a:txBody>
                  <a:tcPr>
                    <a:solidFill>
                      <a:srgbClr val="EAF1F1"/>
                    </a:solidFill>
                  </a:tcPr>
                </a:tc>
                <a:tc>
                  <a:txBody>
                    <a:bodyPr/>
                    <a:lstStyle/>
                    <a:p>
                      <a:r>
                        <a:rPr sz="1800" b="0">
                          <a:solidFill>
                            <a:srgbClr val="153442"/>
                          </a:solidFill>
                          <a:latin typeface="Arial"/>
                          <a:ea typeface="Arial"/>
                          <a:cs typeface="Arial"/>
                        </a:rPr>
                        <a:t>0.9355 ± 0.0020</a:t>
                      </a:r>
                    </a:p>
                  </a:txBody>
                  <a:tcPr>
                    <a:solidFill>
                      <a:srgbClr val="EAF1F1"/>
                    </a:solidFill>
                  </a:tcPr>
                </a:tc>
                <a:tc>
                  <a:txBody>
                    <a:bodyPr/>
                    <a:lstStyle/>
                    <a:p>
                      <a:r>
                        <a:rPr sz="1800" b="0">
                          <a:solidFill>
                            <a:srgbClr val="153442"/>
                          </a:solidFill>
                          <a:latin typeface="Arial"/>
                          <a:ea typeface="Arial"/>
                          <a:cs typeface="Arial"/>
                        </a:rPr>
                        <a:t>92.65</a:t>
                      </a:r>
                    </a:p>
                  </a:txBody>
                  <a:tcPr>
                    <a:solidFill>
                      <a:srgbClr val="EAF1F1"/>
                    </a:solidFill>
                  </a:tcPr>
                </a:tc>
                <a:tc>
                  <a:txBody>
                    <a:bodyPr/>
                    <a:lstStyle/>
                    <a:p>
                      <a:r>
                        <a:rPr sz="1800" b="0">
                          <a:solidFill>
                            <a:srgbClr val="153442"/>
                          </a:solidFill>
                          <a:latin typeface="Arial"/>
                          <a:ea typeface="Arial"/>
                          <a:cs typeface="Arial"/>
                        </a:rPr>
                        <a:t>3,399</a:t>
                      </a:r>
                    </a:p>
                  </a:txBody>
                  <a:tcPr>
                    <a:solidFill>
                      <a:srgbClr val="EAF1F1"/>
                    </a:solidFill>
                  </a:tcPr>
                </a:tc>
                <a:extLst>
                  <a:ext uri="{0D108BD9-81ED-4DB2-BD59-A6C34878D82A}">
                    <a16:rowId xmlns:a16="http://schemas.microsoft.com/office/drawing/2014/main" val="10002"/>
                  </a:ext>
                </a:extLst>
              </a:tr>
              <a:tr h="496661">
                <a:tc>
                  <a:txBody>
                    <a:bodyPr/>
                    <a:lstStyle/>
                    <a:p>
                      <a:r>
                        <a:rPr sz="1800" b="0">
                          <a:solidFill>
                            <a:srgbClr val="153442"/>
                          </a:solidFill>
                          <a:latin typeface="Arial"/>
                          <a:ea typeface="Arial"/>
                          <a:cs typeface="Arial"/>
                        </a:rPr>
                        <a:t>MLP-low-lr</a:t>
                      </a:r>
                    </a:p>
                  </a:txBody>
                  <a:tcPr>
                    <a:solidFill>
                      <a:srgbClr val="FFFFFF"/>
                    </a:solidFill>
                  </a:tcPr>
                </a:tc>
                <a:tc>
                  <a:txBody>
                    <a:bodyPr/>
                    <a:lstStyle/>
                    <a:p>
                      <a:r>
                        <a:rPr sz="1800" b="0">
                          <a:solidFill>
                            <a:srgbClr val="153442"/>
                          </a:solidFill>
                          <a:latin typeface="Arial"/>
                          <a:ea typeface="Arial"/>
                          <a:cs typeface="Arial"/>
                        </a:rPr>
                        <a:t>0.9306 ± 0.0002</a:t>
                      </a:r>
                    </a:p>
                  </a:txBody>
                  <a:tcPr>
                    <a:solidFill>
                      <a:srgbClr val="FFFFFF"/>
                    </a:solidFill>
                  </a:tcPr>
                </a:tc>
                <a:tc>
                  <a:txBody>
                    <a:bodyPr/>
                    <a:lstStyle/>
                    <a:p>
                      <a:r>
                        <a:rPr sz="1800" b="0">
                          <a:solidFill>
                            <a:srgbClr val="153442"/>
                          </a:solidFill>
                          <a:latin typeface="Arial"/>
                          <a:ea typeface="Arial"/>
                          <a:cs typeface="Arial"/>
                        </a:rPr>
                        <a:t>92.07</a:t>
                      </a:r>
                    </a:p>
                  </a:txBody>
                  <a:tcPr>
                    <a:solidFill>
                      <a:srgbClr val="FFFFFF"/>
                    </a:solidFill>
                  </a:tcPr>
                </a:tc>
                <a:tc>
                  <a:txBody>
                    <a:bodyPr/>
                    <a:lstStyle/>
                    <a:p>
                      <a:r>
                        <a:rPr sz="1800" b="0">
                          <a:solidFill>
                            <a:srgbClr val="153442"/>
                          </a:solidFill>
                          <a:latin typeface="Arial"/>
                          <a:ea typeface="Arial"/>
                          <a:cs typeface="Arial"/>
                        </a:rPr>
                        <a:t>3,399</a:t>
                      </a:r>
                    </a:p>
                  </a:txBody>
                  <a:tcPr>
                    <a:solidFill>
                      <a:srgbClr val="FFFFFF"/>
                    </a:solidFill>
                  </a:tcPr>
                </a:tc>
                <a:extLst>
                  <a:ext uri="{0D108BD9-81ED-4DB2-BD59-A6C34878D82A}">
                    <a16:rowId xmlns:a16="http://schemas.microsoft.com/office/drawing/2014/main" val="10003"/>
                  </a:ext>
                </a:extLst>
              </a:tr>
              <a:tr h="496661">
                <a:tc>
                  <a:txBody>
                    <a:bodyPr/>
                    <a:lstStyle/>
                    <a:p>
                      <a:r>
                        <a:rPr sz="1800" b="0">
                          <a:solidFill>
                            <a:srgbClr val="153442"/>
                          </a:solidFill>
                          <a:latin typeface="Arial"/>
                          <a:ea typeface="Arial"/>
                          <a:cs typeface="Arial"/>
                        </a:rPr>
                        <a:t>MLP-high-lr</a:t>
                      </a:r>
                    </a:p>
                  </a:txBody>
                  <a:tcPr>
                    <a:solidFill>
                      <a:srgbClr val="EAF1F1"/>
                    </a:solidFill>
                  </a:tcPr>
                </a:tc>
                <a:tc>
                  <a:txBody>
                    <a:bodyPr/>
                    <a:lstStyle/>
                    <a:p>
                      <a:r>
                        <a:rPr sz="1800" b="0">
                          <a:solidFill>
                            <a:srgbClr val="153442"/>
                          </a:solidFill>
                          <a:latin typeface="Arial"/>
                          <a:ea typeface="Arial"/>
                          <a:cs typeface="Arial"/>
                        </a:rPr>
                        <a:t>0.9367 ± 0.0015</a:t>
                      </a:r>
                    </a:p>
                  </a:txBody>
                  <a:tcPr>
                    <a:solidFill>
                      <a:srgbClr val="EAF1F1"/>
                    </a:solidFill>
                  </a:tcPr>
                </a:tc>
                <a:tc>
                  <a:txBody>
                    <a:bodyPr/>
                    <a:lstStyle/>
                    <a:p>
                      <a:r>
                        <a:rPr sz="2400" b="1" dirty="0">
                          <a:solidFill>
                            <a:srgbClr val="153442"/>
                          </a:solidFill>
                          <a:latin typeface="Arial"/>
                          <a:ea typeface="Arial"/>
                          <a:cs typeface="Arial"/>
                        </a:rPr>
                        <a:t>92.78</a:t>
                      </a:r>
                    </a:p>
                  </a:txBody>
                  <a:tcPr>
                    <a:solidFill>
                      <a:srgbClr val="EAF1F1"/>
                    </a:solidFill>
                  </a:tcPr>
                </a:tc>
                <a:tc>
                  <a:txBody>
                    <a:bodyPr/>
                    <a:lstStyle/>
                    <a:p>
                      <a:r>
                        <a:rPr sz="1800" b="0">
                          <a:solidFill>
                            <a:srgbClr val="153442"/>
                          </a:solidFill>
                          <a:latin typeface="Arial"/>
                          <a:ea typeface="Arial"/>
                          <a:cs typeface="Arial"/>
                        </a:rPr>
                        <a:t>3,399</a:t>
                      </a:r>
                    </a:p>
                  </a:txBody>
                  <a:tcPr>
                    <a:solidFill>
                      <a:srgbClr val="EAF1F1"/>
                    </a:solidFill>
                  </a:tcPr>
                </a:tc>
                <a:extLst>
                  <a:ext uri="{0D108BD9-81ED-4DB2-BD59-A6C34878D82A}">
                    <a16:rowId xmlns:a16="http://schemas.microsoft.com/office/drawing/2014/main" val="10004"/>
                  </a:ext>
                </a:extLst>
              </a:tr>
              <a:tr h="496661">
                <a:tc>
                  <a:txBody>
                    <a:bodyPr/>
                    <a:lstStyle/>
                    <a:p>
                      <a:r>
                        <a:rPr sz="1800" b="0">
                          <a:solidFill>
                            <a:srgbClr val="153442"/>
                          </a:solidFill>
                          <a:latin typeface="Arial"/>
                          <a:ea typeface="Arial"/>
                          <a:cs typeface="Arial"/>
                        </a:rPr>
                        <a:t>MLP-dropout</a:t>
                      </a:r>
                    </a:p>
                  </a:txBody>
                  <a:tcPr>
                    <a:solidFill>
                      <a:srgbClr val="FFFFFF"/>
                    </a:solidFill>
                  </a:tcPr>
                </a:tc>
                <a:tc>
                  <a:txBody>
                    <a:bodyPr/>
                    <a:lstStyle/>
                    <a:p>
                      <a:r>
                        <a:rPr sz="1800" b="0">
                          <a:solidFill>
                            <a:srgbClr val="153442"/>
                          </a:solidFill>
                          <a:latin typeface="Arial"/>
                          <a:ea typeface="Arial"/>
                          <a:cs typeface="Arial"/>
                        </a:rPr>
                        <a:t>0.9342 ± 0.0027</a:t>
                      </a:r>
                    </a:p>
                  </a:txBody>
                  <a:tcPr>
                    <a:solidFill>
                      <a:srgbClr val="FFFFFF"/>
                    </a:solidFill>
                  </a:tcPr>
                </a:tc>
                <a:tc>
                  <a:txBody>
                    <a:bodyPr/>
                    <a:lstStyle/>
                    <a:p>
                      <a:r>
                        <a:rPr sz="1800" b="0">
                          <a:solidFill>
                            <a:srgbClr val="153442"/>
                          </a:solidFill>
                          <a:latin typeface="Arial"/>
                          <a:ea typeface="Arial"/>
                          <a:cs typeface="Arial"/>
                        </a:rPr>
                        <a:t>92.45</a:t>
                      </a:r>
                    </a:p>
                  </a:txBody>
                  <a:tcPr>
                    <a:solidFill>
                      <a:srgbClr val="FFFFFF"/>
                    </a:solidFill>
                  </a:tcPr>
                </a:tc>
                <a:tc>
                  <a:txBody>
                    <a:bodyPr/>
                    <a:lstStyle/>
                    <a:p>
                      <a:r>
                        <a:rPr sz="1800" b="0">
                          <a:solidFill>
                            <a:srgbClr val="153442"/>
                          </a:solidFill>
                          <a:latin typeface="Arial"/>
                          <a:ea typeface="Arial"/>
                          <a:cs typeface="Arial"/>
                        </a:rPr>
                        <a:t>3,399</a:t>
                      </a:r>
                    </a:p>
                  </a:txBody>
                  <a:tcPr>
                    <a:solidFill>
                      <a:srgbClr val="FFFFFF"/>
                    </a:solidFill>
                  </a:tcPr>
                </a:tc>
                <a:extLst>
                  <a:ext uri="{0D108BD9-81ED-4DB2-BD59-A6C34878D82A}">
                    <a16:rowId xmlns:a16="http://schemas.microsoft.com/office/drawing/2014/main" val="10005"/>
                  </a:ext>
                </a:extLst>
              </a:tr>
              <a:tr h="496661">
                <a:tc>
                  <a:txBody>
                    <a:bodyPr/>
                    <a:lstStyle/>
                    <a:p>
                      <a:r>
                        <a:rPr sz="1800" b="0">
                          <a:solidFill>
                            <a:srgbClr val="153442"/>
                          </a:solidFill>
                          <a:latin typeface="Arial"/>
                          <a:ea typeface="Arial"/>
                          <a:cs typeface="Arial"/>
                        </a:rPr>
                        <a:t>MLP-weighted</a:t>
                      </a:r>
                    </a:p>
                  </a:txBody>
                  <a:tcPr>
                    <a:solidFill>
                      <a:srgbClr val="EAF1F1"/>
                    </a:solidFill>
                  </a:tcPr>
                </a:tc>
                <a:tc>
                  <a:txBody>
                    <a:bodyPr/>
                    <a:lstStyle/>
                    <a:p>
                      <a:r>
                        <a:rPr sz="1800" b="0">
                          <a:solidFill>
                            <a:srgbClr val="153442"/>
                          </a:solidFill>
                          <a:latin typeface="Arial"/>
                          <a:ea typeface="Arial"/>
                          <a:cs typeface="Arial"/>
                        </a:rPr>
                        <a:t>0.9352 ± 0.0011</a:t>
                      </a:r>
                    </a:p>
                  </a:txBody>
                  <a:tcPr>
                    <a:solidFill>
                      <a:srgbClr val="EAF1F1"/>
                    </a:solidFill>
                  </a:tcPr>
                </a:tc>
                <a:tc>
                  <a:txBody>
                    <a:bodyPr/>
                    <a:lstStyle/>
                    <a:p>
                      <a:r>
                        <a:rPr sz="1800" b="0">
                          <a:solidFill>
                            <a:srgbClr val="153442"/>
                          </a:solidFill>
                          <a:latin typeface="Arial"/>
                          <a:ea typeface="Arial"/>
                          <a:cs typeface="Arial"/>
                        </a:rPr>
                        <a:t>92.60</a:t>
                      </a:r>
                    </a:p>
                  </a:txBody>
                  <a:tcPr>
                    <a:solidFill>
                      <a:srgbClr val="EAF1F1"/>
                    </a:solidFill>
                  </a:tcPr>
                </a:tc>
                <a:tc>
                  <a:txBody>
                    <a:bodyPr/>
                    <a:lstStyle/>
                    <a:p>
                      <a:r>
                        <a:rPr sz="1800" b="0" dirty="0">
                          <a:solidFill>
                            <a:srgbClr val="153442"/>
                          </a:solidFill>
                          <a:latin typeface="Arial"/>
                          <a:ea typeface="Arial"/>
                          <a:cs typeface="Arial"/>
                        </a:rPr>
                        <a:t>3,399</a:t>
                      </a:r>
                    </a:p>
                  </a:txBody>
                  <a:tcPr>
                    <a:solidFill>
                      <a:srgbClr val="EAF1F1"/>
                    </a:solidFill>
                  </a:tcPr>
                </a:tc>
                <a:extLst>
                  <a:ext uri="{0D108BD9-81ED-4DB2-BD59-A6C34878D82A}">
                    <a16:rowId xmlns:a16="http://schemas.microsoft.com/office/drawing/2014/main" val="10006"/>
                  </a:ext>
                </a:extLst>
              </a:tr>
            </a:tbl>
          </a:graphicData>
        </a:graphic>
      </p:graphicFrame>
      <p:sp>
        <p:nvSpPr>
          <p:cNvPr id="4" name="Rectangle 3">
            <a:extLst>
              <a:ext uri="{FF2B5EF4-FFF2-40B4-BE49-F238E27FC236}">
                <a16:creationId xmlns:a16="http://schemas.microsoft.com/office/drawing/2014/main" id="{53E295D7-54A1-40CE-A304-2C3889F4DAFF}"/>
              </a:ext>
            </a:extLst>
          </p:cNvPr>
          <p:cNvSpPr>
            <a:spLocks noGrp="1"/>
          </p:cNvSpPr>
          <p:nvPr/>
        </p:nvSpPr>
        <p:spPr>
          <a:xfrm>
            <a:off x="619125" y="5219700"/>
            <a:ext cx="10763250" cy="552450"/>
          </a:xfrm>
          <a:prstGeom prst="rect">
            <a:avLst/>
          </a:prstGeom>
          <a:noFill/>
          <a:ln w="0">
            <a:noFill/>
          </a:ln>
        </p:spPr>
        <p:txBody>
          <a:bodyPr>
            <a:noAutofit/>
          </a:bodyPr>
          <a:lstStyle/>
          <a:p>
            <a:pPr>
              <a:defRPr sz="2325" b="1">
                <a:solidFill>
                  <a:srgbClr val="007D88"/>
                </a:solidFill>
                <a:latin typeface="Arial"/>
                <a:ea typeface="Arial"/>
                <a:cs typeface="Arial"/>
              </a:defRPr>
            </a:pPr>
            <a:r>
              <a:rPr sz="2325" b="1" dirty="0">
                <a:solidFill>
                  <a:srgbClr val="007D88"/>
                </a:solidFill>
                <a:latin typeface="Arial"/>
                <a:ea typeface="Arial"/>
                <a:cs typeface="Arial"/>
              </a:rPr>
              <a:t>Selected neural configuration: </a:t>
            </a:r>
            <a:r>
              <a:rPr sz="2400" dirty="0">
                <a:solidFill>
                  <a:schemeClr val="tx2">
                    <a:lumMod val="75000"/>
                    <a:lumOff val="25000"/>
                  </a:schemeClr>
                </a:solidFill>
                <a:latin typeface="Arial"/>
                <a:ea typeface="Arial"/>
                <a:cs typeface="Arial"/>
              </a:rPr>
              <a:t>MLP-high-</a:t>
            </a:r>
            <a:r>
              <a:rPr sz="2400" dirty="0" err="1">
                <a:solidFill>
                  <a:schemeClr val="tx2">
                    <a:lumMod val="75000"/>
                    <a:lumOff val="25000"/>
                  </a:schemeClr>
                </a:solidFill>
                <a:latin typeface="Arial"/>
                <a:ea typeface="Arial"/>
                <a:cs typeface="Arial"/>
              </a:rPr>
              <a:t>lr</a:t>
            </a:r>
            <a:endParaRPr sz="2325" dirty="0">
              <a:solidFill>
                <a:schemeClr val="tx2">
                  <a:lumMod val="75000"/>
                  <a:lumOff val="25000"/>
                </a:schemeClr>
              </a:solidFill>
              <a:latin typeface="Arial"/>
              <a:ea typeface="Arial"/>
              <a:cs typeface="Arial"/>
            </a:endParaRPr>
          </a:p>
        </p:txBody>
      </p:sp>
      <p:sp>
        <p:nvSpPr>
          <p:cNvPr id="5" name="Rectangle 4">
            <a:extLst>
              <a:ext uri="{FF2B5EF4-FFF2-40B4-BE49-F238E27FC236}">
                <a16:creationId xmlns:a16="http://schemas.microsoft.com/office/drawing/2014/main" id="{F58729A7-DC02-4BD1-B7D9-ECC4B5616134}"/>
              </a:ext>
            </a:extLst>
          </p:cNvPr>
          <p:cNvSpPr>
            <a:spLocks noGrp="1"/>
          </p:cNvSpPr>
          <p:nvPr/>
        </p:nvSpPr>
        <p:spPr>
          <a:xfrm>
            <a:off x="619125" y="5876925"/>
            <a:ext cx="10668000" cy="590550"/>
          </a:xfrm>
          <a:prstGeom prst="rect">
            <a:avLst/>
          </a:prstGeom>
          <a:noFill/>
          <a:ln w="0">
            <a:noFill/>
          </a:ln>
        </p:spPr>
        <p:txBody>
          <a:bodyPr>
            <a:noAutofit/>
          </a:bodyPr>
          <a:lstStyle/>
          <a:p>
            <a:pPr>
              <a:defRPr sz="1650" b="0">
                <a:solidFill>
                  <a:srgbClr val="536772"/>
                </a:solidFill>
                <a:latin typeface="Arial"/>
                <a:ea typeface="Arial"/>
                <a:cs typeface="Arial"/>
              </a:defRPr>
            </a:pPr>
            <a:r>
              <a:rPr sz="1650" b="0">
                <a:solidFill>
                  <a:srgbClr val="536772"/>
                </a:solidFill>
                <a:latin typeface="Arial"/>
                <a:ea typeface="Arial"/>
                <a:cs typeface="Arial"/>
              </a:rPr>
              <a:t>Fixed logistic reference: validation macro-F1 0.9314.</a:t>
            </a:r>
          </a:p>
          <a:p>
            <a:pPr>
              <a:defRPr sz="1650" b="0">
                <a:solidFill>
                  <a:srgbClr val="536772"/>
                </a:solidFill>
                <a:latin typeface="Arial"/>
                <a:ea typeface="Arial"/>
                <a:cs typeface="Arial"/>
              </a:defRPr>
            </a:pPr>
            <a:r>
              <a:rPr sz="1650" b="0">
                <a:solidFill>
                  <a:srgbClr val="536772"/>
                </a:solidFill>
                <a:latin typeface="Arial"/>
                <a:ea typeface="Arial"/>
                <a:cs typeface="Arial"/>
              </a:rPr>
              <a:t>SD covers training seeds on one split. 9/18 runs reached the epoch cap.</a:t>
            </a:r>
          </a:p>
        </p:txBody>
      </p:sp>
    </p:spTree>
    <p:extLst>
      <p:ext uri="{BB962C8B-B14F-4D97-AF65-F5344CB8AC3E}">
        <p14:creationId xmlns:p14="http://schemas.microsoft.com/office/powerpoint/2010/main" val="18132428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D34A5A1-888F-43B9-AC7C-9C3933964F81}"/>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Held-out test results and learning curve</a:t>
            </a:r>
          </a:p>
        </p:txBody>
      </p:sp>
      <p:sp>
        <p:nvSpPr>
          <p:cNvPr id="2" name="Rectangle 1">
            <a:extLst>
              <a:ext uri="{FF2B5EF4-FFF2-40B4-BE49-F238E27FC236}">
                <a16:creationId xmlns:a16="http://schemas.microsoft.com/office/drawing/2014/main" id="{B504B6AC-EA5D-41DC-A3D0-1934DD0C2409}"/>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08</a:t>
            </a:r>
          </a:p>
        </p:txBody>
      </p:sp>
      <p:graphicFrame>
        <p:nvGraphicFramePr>
          <p:cNvPr id="11" name="Tableau 10"/>
          <p:cNvGraphicFramePr/>
          <p:nvPr/>
        </p:nvGraphicFramePr>
        <p:xfrm>
          <a:off x="571500" y="1381125"/>
          <a:ext cx="11049000" cy="1866900"/>
        </p:xfrm>
        <a:graphic>
          <a:graphicData uri="http://schemas.openxmlformats.org/drawingml/2006/table">
            <a:tbl>
              <a:tblPr/>
              <a:tblGrid>
                <a:gridCol w="3429000">
                  <a:extLst>
                    <a:ext uri="{9D8B030D-6E8A-4147-A177-3AD203B41FA5}">
                      <a16:colId xmlns:a16="http://schemas.microsoft.com/office/drawing/2014/main" val="20000"/>
                    </a:ext>
                  </a:extLst>
                </a:gridCol>
                <a:gridCol w="3905250">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tblGrid>
              <a:tr h="466725">
                <a:tc>
                  <a:txBody>
                    <a:bodyPr/>
                    <a:lstStyle/>
                    <a:p>
                      <a:r>
                        <a:rPr sz="1800" b="1">
                          <a:solidFill>
                            <a:srgbClr val="FFFFFF"/>
                          </a:solidFill>
                          <a:latin typeface="Arial"/>
                          <a:ea typeface="Arial"/>
                          <a:cs typeface="Arial"/>
                        </a:rPr>
                        <a:t>Model</a:t>
                      </a:r>
                    </a:p>
                  </a:txBody>
                  <a:tcPr>
                    <a:solidFill>
                      <a:srgbClr val="153442"/>
                    </a:solidFill>
                  </a:tcPr>
                </a:tc>
                <a:tc>
                  <a:txBody>
                    <a:bodyPr/>
                    <a:lstStyle/>
                    <a:p>
                      <a:r>
                        <a:rPr sz="1800" b="1">
                          <a:solidFill>
                            <a:srgbClr val="FFFFFF"/>
                          </a:solidFill>
                          <a:latin typeface="Arial"/>
                          <a:ea typeface="Arial"/>
                          <a:cs typeface="Arial"/>
                        </a:rPr>
                        <a:t>Macro-F1 ± SD</a:t>
                      </a:r>
                    </a:p>
                  </a:txBody>
                  <a:tcPr>
                    <a:solidFill>
                      <a:srgbClr val="153442"/>
                    </a:solidFill>
                  </a:tcPr>
                </a:tc>
                <a:tc>
                  <a:txBody>
                    <a:bodyPr/>
                    <a:lstStyle/>
                    <a:p>
                      <a:r>
                        <a:rPr sz="1800" b="1">
                          <a:solidFill>
                            <a:srgbClr val="FFFFFF"/>
                          </a:solidFill>
                          <a:latin typeface="Arial"/>
                          <a:ea typeface="Arial"/>
                          <a:cs typeface="Arial"/>
                        </a:rPr>
                        <a:t>Accuracy, % ± SD</a:t>
                      </a:r>
                    </a:p>
                  </a:txBody>
                  <a:tcPr>
                    <a:solidFill>
                      <a:srgbClr val="153442"/>
                    </a:solidFill>
                  </a:tcPr>
                </a:tc>
                <a:extLst>
                  <a:ext uri="{0D108BD9-81ED-4DB2-BD59-A6C34878D82A}">
                    <a16:rowId xmlns:a16="http://schemas.microsoft.com/office/drawing/2014/main" val="10000"/>
                  </a:ext>
                </a:extLst>
              </a:tr>
              <a:tr h="466725">
                <a:tc>
                  <a:txBody>
                    <a:bodyPr/>
                    <a:lstStyle/>
                    <a:p>
                      <a:r>
                        <a:rPr sz="1800" b="0">
                          <a:solidFill>
                            <a:srgbClr val="153442"/>
                          </a:solidFill>
                          <a:latin typeface="Arial"/>
                          <a:ea typeface="Arial"/>
                          <a:cs typeface="Arial"/>
                        </a:rPr>
                        <a:t>MLP-32</a:t>
                      </a:r>
                    </a:p>
                  </a:txBody>
                  <a:tcPr>
                    <a:solidFill>
                      <a:srgbClr val="FFFFFF"/>
                    </a:solidFill>
                  </a:tcPr>
                </a:tc>
                <a:tc>
                  <a:txBody>
                    <a:bodyPr/>
                    <a:lstStyle/>
                    <a:p>
                      <a:r>
                        <a:rPr sz="1800" b="0">
                          <a:solidFill>
                            <a:srgbClr val="153442"/>
                          </a:solidFill>
                          <a:latin typeface="Arial"/>
                          <a:ea typeface="Arial"/>
                          <a:cs typeface="Arial"/>
                        </a:rPr>
                        <a:t>0.9331 ± 0.0011</a:t>
                      </a:r>
                    </a:p>
                  </a:txBody>
                  <a:tcPr>
                    <a:solidFill>
                      <a:srgbClr val="FFFFFF"/>
                    </a:solidFill>
                  </a:tcPr>
                </a:tc>
                <a:tc>
                  <a:txBody>
                    <a:bodyPr/>
                    <a:lstStyle/>
                    <a:p>
                      <a:r>
                        <a:rPr sz="1800" b="0">
                          <a:solidFill>
                            <a:srgbClr val="153442"/>
                          </a:solidFill>
                          <a:latin typeface="Arial"/>
                          <a:ea typeface="Arial"/>
                          <a:cs typeface="Arial"/>
                        </a:rPr>
                        <a:t>92.03 ± 0.13</a:t>
                      </a:r>
                    </a:p>
                  </a:txBody>
                  <a:tcPr>
                    <a:solidFill>
                      <a:srgbClr val="FFFFFF"/>
                    </a:solidFill>
                  </a:tcPr>
                </a:tc>
                <a:extLst>
                  <a:ext uri="{0D108BD9-81ED-4DB2-BD59-A6C34878D82A}">
                    <a16:rowId xmlns:a16="http://schemas.microsoft.com/office/drawing/2014/main" val="10001"/>
                  </a:ext>
                </a:extLst>
              </a:tr>
              <a:tr h="466725">
                <a:tc>
                  <a:txBody>
                    <a:bodyPr/>
                    <a:lstStyle/>
                    <a:p>
                      <a:r>
                        <a:rPr sz="1800" b="0">
                          <a:solidFill>
                            <a:srgbClr val="153442"/>
                          </a:solidFill>
                          <a:latin typeface="Arial"/>
                          <a:ea typeface="Arial"/>
                          <a:cs typeface="Arial"/>
                        </a:rPr>
                        <a:t>MLP-high-lr</a:t>
                      </a:r>
                    </a:p>
                  </a:txBody>
                  <a:tcPr>
                    <a:solidFill>
                      <a:srgbClr val="EAF1F1"/>
                    </a:solidFill>
                  </a:tcPr>
                </a:tc>
                <a:tc>
                  <a:txBody>
                    <a:bodyPr/>
                    <a:lstStyle/>
                    <a:p>
                      <a:r>
                        <a:rPr sz="1800" b="0">
                          <a:solidFill>
                            <a:srgbClr val="153442"/>
                          </a:solidFill>
                          <a:latin typeface="Arial"/>
                          <a:ea typeface="Arial"/>
                          <a:cs typeface="Arial"/>
                        </a:rPr>
                        <a:t>0.9373 ± 0.0019</a:t>
                      </a:r>
                    </a:p>
                  </a:txBody>
                  <a:tcPr>
                    <a:solidFill>
                      <a:srgbClr val="EAF1F1"/>
                    </a:solidFill>
                  </a:tcPr>
                </a:tc>
                <a:tc>
                  <a:txBody>
                    <a:bodyPr/>
                    <a:lstStyle/>
                    <a:p>
                      <a:r>
                        <a:rPr sz="1800" b="0">
                          <a:solidFill>
                            <a:srgbClr val="153442"/>
                          </a:solidFill>
                          <a:latin typeface="Arial"/>
                          <a:ea typeface="Arial"/>
                          <a:cs typeface="Arial"/>
                        </a:rPr>
                        <a:t>92.44 ± 0.15</a:t>
                      </a:r>
                    </a:p>
                  </a:txBody>
                  <a:tcPr>
                    <a:solidFill>
                      <a:srgbClr val="EAF1F1"/>
                    </a:solidFill>
                  </a:tcPr>
                </a:tc>
                <a:extLst>
                  <a:ext uri="{0D108BD9-81ED-4DB2-BD59-A6C34878D82A}">
                    <a16:rowId xmlns:a16="http://schemas.microsoft.com/office/drawing/2014/main" val="10002"/>
                  </a:ext>
                </a:extLst>
              </a:tr>
              <a:tr h="466725">
                <a:tc>
                  <a:txBody>
                    <a:bodyPr/>
                    <a:lstStyle/>
                    <a:p>
                      <a:r>
                        <a:rPr sz="1800" b="0">
                          <a:solidFill>
                            <a:srgbClr val="153442"/>
                          </a:solidFill>
                          <a:latin typeface="Arial"/>
                          <a:ea typeface="Arial"/>
                          <a:cs typeface="Arial"/>
                        </a:rPr>
                        <a:t>Logistic regression¹</a:t>
                      </a:r>
                    </a:p>
                  </a:txBody>
                  <a:tcPr>
                    <a:solidFill>
                      <a:srgbClr val="FFFFFF"/>
                    </a:solidFill>
                  </a:tcPr>
                </a:tc>
                <a:tc>
                  <a:txBody>
                    <a:bodyPr/>
                    <a:lstStyle/>
                    <a:p>
                      <a:r>
                        <a:rPr sz="1800" b="0">
                          <a:solidFill>
                            <a:srgbClr val="153442"/>
                          </a:solidFill>
                          <a:latin typeface="Arial"/>
                          <a:ea typeface="Arial"/>
                          <a:cs typeface="Arial"/>
                        </a:rPr>
                        <a:t>0.9349</a:t>
                      </a:r>
                    </a:p>
                  </a:txBody>
                  <a:tcPr>
                    <a:solidFill>
                      <a:srgbClr val="FFFFFF"/>
                    </a:solidFill>
                  </a:tcPr>
                </a:tc>
                <a:tc>
                  <a:txBody>
                    <a:bodyPr/>
                    <a:lstStyle/>
                    <a:p>
                      <a:r>
                        <a:rPr sz="1800" b="0">
                          <a:solidFill>
                            <a:srgbClr val="153442"/>
                          </a:solidFill>
                          <a:latin typeface="Arial"/>
                          <a:ea typeface="Arial"/>
                          <a:cs typeface="Arial"/>
                        </a:rPr>
                        <a:t>92.18</a:t>
                      </a:r>
                    </a:p>
                  </a:txBody>
                  <a:tcPr>
                    <a:solidFill>
                      <a:srgbClr val="FFFFFF"/>
                    </a:solidFill>
                  </a:tcPr>
                </a:tc>
                <a:extLst>
                  <a:ext uri="{0D108BD9-81ED-4DB2-BD59-A6C34878D82A}">
                    <a16:rowId xmlns:a16="http://schemas.microsoft.com/office/drawing/2014/main" val="10003"/>
                  </a:ext>
                </a:extLst>
              </a:tr>
            </a:tbl>
          </a:graphicData>
        </a:graphic>
      </p:graphicFrame>
      <p:graphicFrame>
        <p:nvGraphicFramePr>
          <p:cNvPr id="12" name="Chart"/>
          <p:cNvGraphicFramePr/>
          <p:nvPr/>
        </p:nvGraphicFramePr>
        <p:xfrm>
          <a:off x="571500" y="3667125"/>
          <a:ext cx="7048500" cy="247650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1AE7FEAF-CF12-4722-922B-DEC80D285037}"/>
              </a:ext>
            </a:extLst>
          </p:cNvPr>
          <p:cNvSpPr>
            <a:spLocks noGrp="1"/>
          </p:cNvSpPr>
          <p:nvPr/>
        </p:nvSpPr>
        <p:spPr>
          <a:xfrm>
            <a:off x="8124825" y="3743325"/>
            <a:ext cx="3429000" cy="571500"/>
          </a:xfrm>
          <a:prstGeom prst="rect">
            <a:avLst/>
          </a:prstGeom>
          <a:noFill/>
          <a:ln w="0">
            <a:noFill/>
          </a:ln>
        </p:spPr>
        <p:txBody>
          <a:bodyPr>
            <a:noAutofit/>
          </a:bodyPr>
          <a:lstStyle/>
          <a:p>
            <a:pPr>
              <a:defRPr sz="2550" b="1">
                <a:solidFill>
                  <a:srgbClr val="007D88"/>
                </a:solidFill>
                <a:latin typeface="Arial"/>
                <a:ea typeface="Arial"/>
                <a:cs typeface="Arial"/>
              </a:defRPr>
            </a:pPr>
            <a:r>
              <a:rPr sz="2550" b="1" dirty="0">
                <a:solidFill>
                  <a:srgbClr val="007D88"/>
                </a:solidFill>
                <a:latin typeface="Arial"/>
                <a:ea typeface="Arial"/>
                <a:cs typeface="Arial"/>
              </a:rPr>
              <a:t>+0.0043 macro-F1</a:t>
            </a:r>
          </a:p>
        </p:txBody>
      </p:sp>
      <p:sp>
        <p:nvSpPr>
          <p:cNvPr id="6" name="Rectangle 5">
            <a:extLst>
              <a:ext uri="{FF2B5EF4-FFF2-40B4-BE49-F238E27FC236}">
                <a16:creationId xmlns:a16="http://schemas.microsoft.com/office/drawing/2014/main" id="{32214235-E7E4-42B1-A1C5-5B01A5A84D6E}"/>
              </a:ext>
            </a:extLst>
          </p:cNvPr>
          <p:cNvSpPr>
            <a:spLocks noGrp="1"/>
          </p:cNvSpPr>
          <p:nvPr/>
        </p:nvSpPr>
        <p:spPr>
          <a:xfrm>
            <a:off x="8124825" y="4476750"/>
            <a:ext cx="3333750" cy="1019175"/>
          </a:xfrm>
          <a:prstGeom prst="rect">
            <a:avLst/>
          </a:prstGeom>
          <a:noFill/>
          <a:ln w="0">
            <a:noFill/>
          </a:ln>
        </p:spPr>
        <p:txBody>
          <a:bodyPr>
            <a:noAutofit/>
          </a:bodyPr>
          <a:lstStyle/>
          <a:p>
            <a:pPr>
              <a:defRPr sz="1800" b="0">
                <a:solidFill>
                  <a:srgbClr val="153442"/>
                </a:solidFill>
                <a:latin typeface="Arial"/>
                <a:ea typeface="Arial"/>
                <a:cs typeface="Arial"/>
              </a:defRPr>
            </a:pPr>
            <a:r>
              <a:rPr sz="1800" b="0">
                <a:solidFill>
                  <a:srgbClr val="153442"/>
                </a:solidFill>
                <a:latin typeface="Arial"/>
                <a:ea typeface="Arial"/>
                <a:cs typeface="Arial"/>
              </a:rPr>
              <a:t>Difference versus MLP-32</a:t>
            </a:r>
          </a:p>
          <a:p>
            <a:pPr>
              <a:defRPr sz="1800" b="0">
                <a:solidFill>
                  <a:srgbClr val="153442"/>
                </a:solidFill>
                <a:latin typeface="Arial"/>
                <a:ea typeface="Arial"/>
                <a:cs typeface="Arial"/>
              </a:defRPr>
            </a:pPr>
            <a:r>
              <a:rPr sz="1800" b="0">
                <a:solidFill>
                  <a:srgbClr val="153442"/>
                </a:solidFill>
                <a:latin typeface="Arial"/>
                <a:ea typeface="Arial"/>
                <a:cs typeface="Arial"/>
              </a:rPr>
              <a:t>Small gains need cautious interpretation.</a:t>
            </a:r>
          </a:p>
        </p:txBody>
      </p:sp>
      <p:sp>
        <p:nvSpPr>
          <p:cNvPr id="7" name="Rectangle 6">
            <a:extLst>
              <a:ext uri="{FF2B5EF4-FFF2-40B4-BE49-F238E27FC236}">
                <a16:creationId xmlns:a16="http://schemas.microsoft.com/office/drawing/2014/main" id="{1B9C6A65-5C20-4377-8151-136DA980C124}"/>
              </a:ext>
            </a:extLst>
          </p:cNvPr>
          <p:cNvSpPr>
            <a:spLocks noGrp="1"/>
          </p:cNvSpPr>
          <p:nvPr/>
        </p:nvSpPr>
        <p:spPr>
          <a:xfrm>
            <a:off x="8124825" y="5724525"/>
            <a:ext cx="3381375" cy="571500"/>
          </a:xfrm>
          <a:prstGeom prst="rect">
            <a:avLst/>
          </a:prstGeom>
          <a:noFill/>
          <a:ln w="0">
            <a:noFill/>
          </a:ln>
        </p:spPr>
        <p:txBody>
          <a:bodyPr>
            <a:noAutofit/>
          </a:bodyPr>
          <a:lstStyle/>
          <a:p>
            <a:pPr>
              <a:defRPr sz="1575" b="0">
                <a:solidFill>
                  <a:srgbClr val="536772"/>
                </a:solidFill>
                <a:latin typeface="Arial"/>
                <a:ea typeface="Arial"/>
                <a:cs typeface="Arial"/>
              </a:defRPr>
            </a:pPr>
            <a:r>
              <a:rPr sz="1575" b="0" dirty="0">
                <a:solidFill>
                  <a:srgbClr val="536772"/>
                </a:solidFill>
                <a:latin typeface="Arial"/>
                <a:ea typeface="Arial"/>
                <a:cs typeface="Arial"/>
              </a:rPr>
              <a:t>Curve: </a:t>
            </a:r>
            <a:r>
              <a:rPr lang="fr-FR" sz="1575" b="1" dirty="0">
                <a:solidFill>
                  <a:srgbClr val="536772"/>
                </a:solidFill>
                <a:latin typeface="Arial"/>
                <a:ea typeface="Arial"/>
                <a:cs typeface="Arial"/>
              </a:rPr>
              <a:t>MLP-high-</a:t>
            </a:r>
            <a:r>
              <a:rPr lang="fr-FR" sz="1575" b="1" dirty="0" err="1">
                <a:solidFill>
                  <a:srgbClr val="536772"/>
                </a:solidFill>
                <a:latin typeface="Arial"/>
                <a:ea typeface="Arial"/>
                <a:cs typeface="Arial"/>
              </a:rPr>
              <a:t>lr</a:t>
            </a:r>
            <a:r>
              <a:rPr sz="1575" b="0" dirty="0">
                <a:solidFill>
                  <a:srgbClr val="536772"/>
                </a:solidFill>
                <a:latin typeface="Arial"/>
                <a:ea typeface="Arial"/>
                <a:cs typeface="Arial"/>
              </a:rPr>
              <a:t>, seed 7</a:t>
            </a:r>
          </a:p>
          <a:p>
            <a:pPr>
              <a:defRPr sz="1575" b="0">
                <a:solidFill>
                  <a:srgbClr val="536772"/>
                </a:solidFill>
                <a:latin typeface="Arial"/>
                <a:ea typeface="Arial"/>
                <a:cs typeface="Arial"/>
              </a:defRPr>
            </a:pPr>
            <a:r>
              <a:rPr sz="1575" b="0" dirty="0">
                <a:solidFill>
                  <a:srgbClr val="536772"/>
                </a:solidFill>
                <a:latin typeface="Arial"/>
                <a:ea typeface="Arial"/>
                <a:cs typeface="Arial"/>
              </a:rPr>
              <a:t>Restored epoch: 26</a:t>
            </a:r>
          </a:p>
        </p:txBody>
      </p:sp>
      <p:sp>
        <p:nvSpPr>
          <p:cNvPr id="8" name="Rectangle 7">
            <a:extLst>
              <a:ext uri="{FF2B5EF4-FFF2-40B4-BE49-F238E27FC236}">
                <a16:creationId xmlns:a16="http://schemas.microsoft.com/office/drawing/2014/main" id="{75106F9B-1C87-4082-B1B2-BE2C09F3871D}"/>
              </a:ext>
            </a:extLst>
          </p:cNvPr>
          <p:cNvSpPr>
            <a:spLocks noGrp="1"/>
          </p:cNvSpPr>
          <p:nvPr/>
        </p:nvSpPr>
        <p:spPr>
          <a:xfrm>
            <a:off x="590550" y="6448425"/>
            <a:ext cx="10382250" cy="276225"/>
          </a:xfrm>
          <a:prstGeom prst="rect">
            <a:avLst/>
          </a:prstGeom>
          <a:noFill/>
          <a:ln w="0">
            <a:noFill/>
          </a:ln>
        </p:spPr>
        <p:txBody>
          <a:bodyPr>
            <a:noAutofit/>
          </a:bodyPr>
          <a:lstStyle/>
          <a:p>
            <a:pPr>
              <a:defRPr sz="1425" b="0">
                <a:solidFill>
                  <a:srgbClr val="536772"/>
                </a:solidFill>
                <a:latin typeface="Arial"/>
                <a:ea typeface="Arial"/>
                <a:cs typeface="Arial"/>
              </a:defRPr>
            </a:pPr>
            <a:r>
              <a:rPr sz="1425" b="0">
                <a:solidFill>
                  <a:srgbClr val="536772"/>
                </a:solidFill>
                <a:latin typeface="Arial"/>
                <a:ea typeface="Arial"/>
                <a:cs typeface="Arial"/>
              </a:rPr>
              <a:t>Test: 2,032 rows. Neural mean ± sample SD over three seeds. ¹ One fixed fit.</a:t>
            </a:r>
          </a:p>
        </p:txBody>
      </p:sp>
    </p:spTree>
    <p:extLst>
      <p:ext uri="{BB962C8B-B14F-4D97-AF65-F5344CB8AC3E}">
        <p14:creationId xmlns:p14="http://schemas.microsoft.com/office/powerpoint/2010/main" val="1718753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3413D0B-389E-4E65-B26F-06F3E81514D0}"/>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dirty="0">
                <a:solidFill>
                  <a:srgbClr val="153442"/>
                </a:solidFill>
                <a:latin typeface="Arial"/>
                <a:ea typeface="Arial"/>
                <a:cs typeface="Arial"/>
              </a:rPr>
              <a:t>Error analysis by bean variety</a:t>
            </a:r>
            <a:r>
              <a:rPr lang="fr-FR" sz="3225" b="1" dirty="0">
                <a:solidFill>
                  <a:srgbClr val="153442"/>
                </a:solidFill>
                <a:latin typeface="Arial"/>
                <a:ea typeface="Arial"/>
                <a:cs typeface="Arial"/>
              </a:rPr>
              <a:t> (Confusion matrix)</a:t>
            </a:r>
            <a:endParaRPr sz="3225" b="1" dirty="0">
              <a:solidFill>
                <a:srgbClr val="153442"/>
              </a:solidFill>
              <a:latin typeface="Arial"/>
              <a:ea typeface="Arial"/>
              <a:cs typeface="Arial"/>
            </a:endParaRPr>
          </a:p>
        </p:txBody>
      </p:sp>
      <p:sp>
        <p:nvSpPr>
          <p:cNvPr id="2" name="Rectangle 1">
            <a:extLst>
              <a:ext uri="{FF2B5EF4-FFF2-40B4-BE49-F238E27FC236}">
                <a16:creationId xmlns:a16="http://schemas.microsoft.com/office/drawing/2014/main" id="{6E5B4EBB-D7B6-46DE-815B-DE1CA3E21882}"/>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09</a:t>
            </a:r>
          </a:p>
        </p:txBody>
      </p:sp>
      <p:graphicFrame>
        <p:nvGraphicFramePr>
          <p:cNvPr id="10" name="Tableau 9"/>
          <p:cNvGraphicFramePr/>
          <p:nvPr/>
        </p:nvGraphicFramePr>
        <p:xfrm>
          <a:off x="571500" y="1543050"/>
          <a:ext cx="7239000" cy="3781424"/>
        </p:xfrm>
        <a:graphic>
          <a:graphicData uri="http://schemas.openxmlformats.org/drawingml/2006/table">
            <a:tbl>
              <a:tblPr/>
              <a:tblGrid>
                <a:gridCol w="1371600">
                  <a:extLst>
                    <a:ext uri="{9D8B030D-6E8A-4147-A177-3AD203B41FA5}">
                      <a16:colId xmlns:a16="http://schemas.microsoft.com/office/drawing/2014/main" val="20000"/>
                    </a:ext>
                  </a:extLst>
                </a:gridCol>
                <a:gridCol w="838200">
                  <a:extLst>
                    <a:ext uri="{9D8B030D-6E8A-4147-A177-3AD203B41FA5}">
                      <a16:colId xmlns:a16="http://schemas.microsoft.com/office/drawing/2014/main" val="20001"/>
                    </a:ext>
                  </a:extLst>
                </a:gridCol>
                <a:gridCol w="838200">
                  <a:extLst>
                    <a:ext uri="{9D8B030D-6E8A-4147-A177-3AD203B41FA5}">
                      <a16:colId xmlns:a16="http://schemas.microsoft.com/office/drawing/2014/main" val="20002"/>
                    </a:ext>
                  </a:extLst>
                </a:gridCol>
                <a:gridCol w="838200">
                  <a:extLst>
                    <a:ext uri="{9D8B030D-6E8A-4147-A177-3AD203B41FA5}">
                      <a16:colId xmlns:a16="http://schemas.microsoft.com/office/drawing/2014/main" val="20003"/>
                    </a:ext>
                  </a:extLst>
                </a:gridCol>
                <a:gridCol w="838200">
                  <a:extLst>
                    <a:ext uri="{9D8B030D-6E8A-4147-A177-3AD203B41FA5}">
                      <a16:colId xmlns:a16="http://schemas.microsoft.com/office/drawing/2014/main" val="20004"/>
                    </a:ext>
                  </a:extLst>
                </a:gridCol>
                <a:gridCol w="838200">
                  <a:extLst>
                    <a:ext uri="{9D8B030D-6E8A-4147-A177-3AD203B41FA5}">
                      <a16:colId xmlns:a16="http://schemas.microsoft.com/office/drawing/2014/main" val="20005"/>
                    </a:ext>
                  </a:extLst>
                </a:gridCol>
                <a:gridCol w="838200">
                  <a:extLst>
                    <a:ext uri="{9D8B030D-6E8A-4147-A177-3AD203B41FA5}">
                      <a16:colId xmlns:a16="http://schemas.microsoft.com/office/drawing/2014/main" val="20006"/>
                    </a:ext>
                  </a:extLst>
                </a:gridCol>
                <a:gridCol w="838200">
                  <a:extLst>
                    <a:ext uri="{9D8B030D-6E8A-4147-A177-3AD203B41FA5}">
                      <a16:colId xmlns:a16="http://schemas.microsoft.com/office/drawing/2014/main" val="20007"/>
                    </a:ext>
                  </a:extLst>
                </a:gridCol>
              </a:tblGrid>
              <a:tr h="472678">
                <a:tc>
                  <a:txBody>
                    <a:bodyPr/>
                    <a:lstStyle/>
                    <a:p>
                      <a:r>
                        <a:rPr sz="1725" b="1">
                          <a:solidFill>
                            <a:srgbClr val="FFFFFF"/>
                          </a:solidFill>
                          <a:latin typeface="Arial"/>
                          <a:ea typeface="Arial"/>
                          <a:cs typeface="Arial"/>
                        </a:rPr>
                        <a:t>True / pred.</a:t>
                      </a:r>
                    </a:p>
                  </a:txBody>
                  <a:tcPr>
                    <a:solidFill>
                      <a:srgbClr val="153442"/>
                    </a:solidFill>
                  </a:tcPr>
                </a:tc>
                <a:tc>
                  <a:txBody>
                    <a:bodyPr/>
                    <a:lstStyle/>
                    <a:p>
                      <a:r>
                        <a:rPr sz="1725" b="1">
                          <a:solidFill>
                            <a:srgbClr val="FFFFFF"/>
                          </a:solidFill>
                          <a:latin typeface="Arial"/>
                          <a:ea typeface="Arial"/>
                          <a:cs typeface="Arial"/>
                        </a:rPr>
                        <a:t>BAR</a:t>
                      </a:r>
                    </a:p>
                  </a:txBody>
                  <a:tcPr>
                    <a:solidFill>
                      <a:srgbClr val="153442"/>
                    </a:solidFill>
                  </a:tcPr>
                </a:tc>
                <a:tc>
                  <a:txBody>
                    <a:bodyPr/>
                    <a:lstStyle/>
                    <a:p>
                      <a:r>
                        <a:rPr sz="1725" b="1">
                          <a:solidFill>
                            <a:srgbClr val="FFFFFF"/>
                          </a:solidFill>
                          <a:latin typeface="Arial"/>
                          <a:ea typeface="Arial"/>
                          <a:cs typeface="Arial"/>
                        </a:rPr>
                        <a:t>BOM</a:t>
                      </a:r>
                    </a:p>
                  </a:txBody>
                  <a:tcPr>
                    <a:solidFill>
                      <a:srgbClr val="153442"/>
                    </a:solidFill>
                  </a:tcPr>
                </a:tc>
                <a:tc>
                  <a:txBody>
                    <a:bodyPr/>
                    <a:lstStyle/>
                    <a:p>
                      <a:r>
                        <a:rPr sz="1725" b="1">
                          <a:solidFill>
                            <a:srgbClr val="FFFFFF"/>
                          </a:solidFill>
                          <a:latin typeface="Arial"/>
                          <a:ea typeface="Arial"/>
                          <a:cs typeface="Arial"/>
                        </a:rPr>
                        <a:t>CAL</a:t>
                      </a:r>
                    </a:p>
                  </a:txBody>
                  <a:tcPr>
                    <a:solidFill>
                      <a:srgbClr val="153442"/>
                    </a:solidFill>
                  </a:tcPr>
                </a:tc>
                <a:tc>
                  <a:txBody>
                    <a:bodyPr/>
                    <a:lstStyle/>
                    <a:p>
                      <a:r>
                        <a:rPr sz="1725" b="1">
                          <a:solidFill>
                            <a:srgbClr val="FFFFFF"/>
                          </a:solidFill>
                          <a:latin typeface="Arial"/>
                          <a:ea typeface="Arial"/>
                          <a:cs typeface="Arial"/>
                        </a:rPr>
                        <a:t>DER</a:t>
                      </a:r>
                    </a:p>
                  </a:txBody>
                  <a:tcPr>
                    <a:solidFill>
                      <a:srgbClr val="153442"/>
                    </a:solidFill>
                  </a:tcPr>
                </a:tc>
                <a:tc>
                  <a:txBody>
                    <a:bodyPr/>
                    <a:lstStyle/>
                    <a:p>
                      <a:r>
                        <a:rPr sz="1725" b="1">
                          <a:solidFill>
                            <a:srgbClr val="FFFFFF"/>
                          </a:solidFill>
                          <a:latin typeface="Arial"/>
                          <a:ea typeface="Arial"/>
                          <a:cs typeface="Arial"/>
                        </a:rPr>
                        <a:t>HOR</a:t>
                      </a:r>
                    </a:p>
                  </a:txBody>
                  <a:tcPr>
                    <a:solidFill>
                      <a:srgbClr val="153442"/>
                    </a:solidFill>
                  </a:tcPr>
                </a:tc>
                <a:tc>
                  <a:txBody>
                    <a:bodyPr/>
                    <a:lstStyle/>
                    <a:p>
                      <a:r>
                        <a:rPr sz="1725" b="1">
                          <a:solidFill>
                            <a:srgbClr val="FFFFFF"/>
                          </a:solidFill>
                          <a:latin typeface="Arial"/>
                          <a:ea typeface="Arial"/>
                          <a:cs typeface="Arial"/>
                        </a:rPr>
                        <a:t>SEK</a:t>
                      </a:r>
                    </a:p>
                  </a:txBody>
                  <a:tcPr>
                    <a:solidFill>
                      <a:srgbClr val="153442"/>
                    </a:solidFill>
                  </a:tcPr>
                </a:tc>
                <a:tc>
                  <a:txBody>
                    <a:bodyPr/>
                    <a:lstStyle/>
                    <a:p>
                      <a:r>
                        <a:rPr sz="1725" b="1">
                          <a:solidFill>
                            <a:srgbClr val="FFFFFF"/>
                          </a:solidFill>
                          <a:latin typeface="Arial"/>
                          <a:ea typeface="Arial"/>
                          <a:cs typeface="Arial"/>
                        </a:rPr>
                        <a:t>SIR</a:t>
                      </a:r>
                    </a:p>
                  </a:txBody>
                  <a:tcPr>
                    <a:solidFill>
                      <a:srgbClr val="153442"/>
                    </a:solidFill>
                  </a:tcPr>
                </a:tc>
                <a:extLst>
                  <a:ext uri="{0D108BD9-81ED-4DB2-BD59-A6C34878D82A}">
                    <a16:rowId xmlns:a16="http://schemas.microsoft.com/office/drawing/2014/main" val="10000"/>
                  </a:ext>
                </a:extLst>
              </a:tr>
              <a:tr h="472678">
                <a:tc>
                  <a:txBody>
                    <a:bodyPr/>
                    <a:lstStyle/>
                    <a:p>
                      <a:r>
                        <a:rPr sz="1725" b="0">
                          <a:solidFill>
                            <a:srgbClr val="153442"/>
                          </a:solidFill>
                          <a:latin typeface="Arial"/>
                          <a:ea typeface="Arial"/>
                          <a:cs typeface="Arial"/>
                        </a:rPr>
                        <a:t>BAR</a:t>
                      </a:r>
                    </a:p>
                  </a:txBody>
                  <a:tcPr>
                    <a:solidFill>
                      <a:srgbClr val="FFFFFF"/>
                    </a:solidFill>
                  </a:tcPr>
                </a:tc>
                <a:tc>
                  <a:txBody>
                    <a:bodyPr/>
                    <a:lstStyle/>
                    <a:p>
                      <a:r>
                        <a:rPr sz="1725" b="0">
                          <a:solidFill>
                            <a:srgbClr val="153442"/>
                          </a:solidFill>
                          <a:latin typeface="Arial"/>
                          <a:ea typeface="Arial"/>
                          <a:cs typeface="Arial"/>
                        </a:rPr>
                        <a:t>187</a:t>
                      </a:r>
                    </a:p>
                  </a:txBody>
                  <a:tcPr>
                    <a:solidFill>
                      <a:srgbClr val="CBE4E5"/>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3</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1</a:t>
                      </a:r>
                    </a:p>
                  </a:txBody>
                  <a:tcPr>
                    <a:solidFill>
                      <a:srgbClr val="FFFFFF"/>
                    </a:solidFill>
                  </a:tcPr>
                </a:tc>
                <a:tc>
                  <a:txBody>
                    <a:bodyPr/>
                    <a:lstStyle/>
                    <a:p>
                      <a:r>
                        <a:rPr sz="1725" b="0">
                          <a:solidFill>
                            <a:srgbClr val="153442"/>
                          </a:solidFill>
                          <a:latin typeface="Arial"/>
                          <a:ea typeface="Arial"/>
                          <a:cs typeface="Arial"/>
                        </a:rPr>
                        <a:t>5</a:t>
                      </a:r>
                    </a:p>
                  </a:txBody>
                  <a:tcPr>
                    <a:solidFill>
                      <a:srgbClr val="FFFFFF"/>
                    </a:solidFill>
                  </a:tcPr>
                </a:tc>
                <a:tc>
                  <a:txBody>
                    <a:bodyPr/>
                    <a:lstStyle/>
                    <a:p>
                      <a:r>
                        <a:rPr sz="1725" b="0">
                          <a:solidFill>
                            <a:srgbClr val="153442"/>
                          </a:solidFill>
                          <a:latin typeface="Arial"/>
                          <a:ea typeface="Arial"/>
                          <a:cs typeface="Arial"/>
                        </a:rPr>
                        <a:t>2</a:t>
                      </a:r>
                    </a:p>
                  </a:txBody>
                  <a:tcPr>
                    <a:solidFill>
                      <a:srgbClr val="FFFFFF"/>
                    </a:solidFill>
                  </a:tcPr>
                </a:tc>
                <a:extLst>
                  <a:ext uri="{0D108BD9-81ED-4DB2-BD59-A6C34878D82A}">
                    <a16:rowId xmlns:a16="http://schemas.microsoft.com/office/drawing/2014/main" val="10001"/>
                  </a:ext>
                </a:extLst>
              </a:tr>
              <a:tr h="472678">
                <a:tc>
                  <a:txBody>
                    <a:bodyPr/>
                    <a:lstStyle/>
                    <a:p>
                      <a:r>
                        <a:rPr sz="1725" b="0">
                          <a:solidFill>
                            <a:srgbClr val="153442"/>
                          </a:solidFill>
                          <a:latin typeface="Arial"/>
                          <a:ea typeface="Arial"/>
                          <a:cs typeface="Arial"/>
                        </a:rPr>
                        <a:t>BOM</a:t>
                      </a:r>
                    </a:p>
                  </a:txBody>
                  <a:tcPr>
                    <a:solidFill>
                      <a:srgbClr val="EAF1F1"/>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78</a:t>
                      </a:r>
                    </a:p>
                  </a:txBody>
                  <a:tcPr>
                    <a:solidFill>
                      <a:srgbClr val="CBE4E5"/>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extLst>
                  <a:ext uri="{0D108BD9-81ED-4DB2-BD59-A6C34878D82A}">
                    <a16:rowId xmlns:a16="http://schemas.microsoft.com/office/drawing/2014/main" val="10002"/>
                  </a:ext>
                </a:extLst>
              </a:tr>
              <a:tr h="472678">
                <a:tc>
                  <a:txBody>
                    <a:bodyPr/>
                    <a:lstStyle/>
                    <a:p>
                      <a:r>
                        <a:rPr sz="1725" b="0">
                          <a:solidFill>
                            <a:srgbClr val="153442"/>
                          </a:solidFill>
                          <a:latin typeface="Arial"/>
                          <a:ea typeface="Arial"/>
                          <a:cs typeface="Arial"/>
                        </a:rPr>
                        <a:t>CAL</a:t>
                      </a:r>
                    </a:p>
                  </a:txBody>
                  <a:tcPr>
                    <a:solidFill>
                      <a:srgbClr val="FFFFFF"/>
                    </a:solidFill>
                  </a:tcPr>
                </a:tc>
                <a:tc>
                  <a:txBody>
                    <a:bodyPr/>
                    <a:lstStyle/>
                    <a:p>
                      <a:r>
                        <a:rPr sz="1725" b="0">
                          <a:solidFill>
                            <a:srgbClr val="153442"/>
                          </a:solidFill>
                          <a:latin typeface="Arial"/>
                          <a:ea typeface="Arial"/>
                          <a:cs typeface="Arial"/>
                        </a:rPr>
                        <a:t>12</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227</a:t>
                      </a:r>
                    </a:p>
                  </a:txBody>
                  <a:tcPr>
                    <a:solidFill>
                      <a:srgbClr val="CBE4E5"/>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4</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2</a:t>
                      </a:r>
                    </a:p>
                  </a:txBody>
                  <a:tcPr>
                    <a:solidFill>
                      <a:srgbClr val="FFFFFF"/>
                    </a:solidFill>
                  </a:tcPr>
                </a:tc>
                <a:extLst>
                  <a:ext uri="{0D108BD9-81ED-4DB2-BD59-A6C34878D82A}">
                    <a16:rowId xmlns:a16="http://schemas.microsoft.com/office/drawing/2014/main" val="10003"/>
                  </a:ext>
                </a:extLst>
              </a:tr>
              <a:tr h="472678">
                <a:tc>
                  <a:txBody>
                    <a:bodyPr/>
                    <a:lstStyle/>
                    <a:p>
                      <a:r>
                        <a:rPr sz="1725" b="0">
                          <a:solidFill>
                            <a:srgbClr val="153442"/>
                          </a:solidFill>
                          <a:latin typeface="Arial"/>
                          <a:ea typeface="Arial"/>
                          <a:cs typeface="Arial"/>
                        </a:rPr>
                        <a:t>DER</a:t>
                      </a:r>
                    </a:p>
                  </a:txBody>
                  <a:tcPr>
                    <a:solidFill>
                      <a:srgbClr val="EAF1F1"/>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479</a:t>
                      </a:r>
                    </a:p>
                  </a:txBody>
                  <a:tcPr>
                    <a:solidFill>
                      <a:srgbClr val="CBE4E5"/>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8</a:t>
                      </a:r>
                    </a:p>
                  </a:txBody>
                  <a:tcPr>
                    <a:solidFill>
                      <a:srgbClr val="FFFFFF"/>
                    </a:solidFill>
                  </a:tcPr>
                </a:tc>
                <a:tc>
                  <a:txBody>
                    <a:bodyPr/>
                    <a:lstStyle/>
                    <a:p>
                      <a:r>
                        <a:rPr sz="1725" b="0">
                          <a:solidFill>
                            <a:srgbClr val="153442"/>
                          </a:solidFill>
                          <a:latin typeface="Arial"/>
                          <a:ea typeface="Arial"/>
                          <a:cs typeface="Arial"/>
                        </a:rPr>
                        <a:t>45</a:t>
                      </a:r>
                    </a:p>
                  </a:txBody>
                  <a:tcPr>
                    <a:solidFill>
                      <a:srgbClr val="FFFFFF"/>
                    </a:solidFill>
                  </a:tcPr>
                </a:tc>
                <a:extLst>
                  <a:ext uri="{0D108BD9-81ED-4DB2-BD59-A6C34878D82A}">
                    <a16:rowId xmlns:a16="http://schemas.microsoft.com/office/drawing/2014/main" val="10004"/>
                  </a:ext>
                </a:extLst>
              </a:tr>
              <a:tr h="472678">
                <a:tc>
                  <a:txBody>
                    <a:bodyPr/>
                    <a:lstStyle/>
                    <a:p>
                      <a:r>
                        <a:rPr sz="1725" b="0">
                          <a:solidFill>
                            <a:srgbClr val="153442"/>
                          </a:solidFill>
                          <a:latin typeface="Arial"/>
                          <a:ea typeface="Arial"/>
                          <a:cs typeface="Arial"/>
                        </a:rPr>
                        <a:t>HOR</a:t>
                      </a:r>
                    </a:p>
                  </a:txBody>
                  <a:tcPr>
                    <a:solidFill>
                      <a:srgbClr val="FFFFFF"/>
                    </a:solidFill>
                  </a:tcPr>
                </a:tc>
                <a:tc>
                  <a:txBody>
                    <a:bodyPr/>
                    <a:lstStyle/>
                    <a:p>
                      <a:r>
                        <a:rPr sz="1725" b="0">
                          <a:solidFill>
                            <a:srgbClr val="153442"/>
                          </a:solidFill>
                          <a:latin typeface="Arial"/>
                          <a:ea typeface="Arial"/>
                          <a:cs typeface="Arial"/>
                        </a:rPr>
                        <a:t>1</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8</a:t>
                      </a:r>
                    </a:p>
                  </a:txBody>
                  <a:tcPr>
                    <a:solidFill>
                      <a:srgbClr val="FFFFFF"/>
                    </a:solidFill>
                  </a:tcPr>
                </a:tc>
                <a:tc>
                  <a:txBody>
                    <a:bodyPr/>
                    <a:lstStyle/>
                    <a:p>
                      <a:r>
                        <a:rPr sz="1725" b="0">
                          <a:solidFill>
                            <a:srgbClr val="153442"/>
                          </a:solidFill>
                          <a:latin typeface="Arial"/>
                          <a:ea typeface="Arial"/>
                          <a:cs typeface="Arial"/>
                        </a:rPr>
                        <a:t>2</a:t>
                      </a:r>
                    </a:p>
                  </a:txBody>
                  <a:tcPr>
                    <a:solidFill>
                      <a:srgbClr val="FFFFFF"/>
                    </a:solidFill>
                  </a:tcPr>
                </a:tc>
                <a:tc>
                  <a:txBody>
                    <a:bodyPr/>
                    <a:lstStyle/>
                    <a:p>
                      <a:r>
                        <a:rPr sz="1725" b="0">
                          <a:solidFill>
                            <a:srgbClr val="153442"/>
                          </a:solidFill>
                          <a:latin typeface="Arial"/>
                          <a:ea typeface="Arial"/>
                          <a:cs typeface="Arial"/>
                        </a:rPr>
                        <a:t>266</a:t>
                      </a:r>
                    </a:p>
                  </a:txBody>
                  <a:tcPr>
                    <a:solidFill>
                      <a:srgbClr val="CBE4E5"/>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2</a:t>
                      </a:r>
                    </a:p>
                  </a:txBody>
                  <a:tcPr>
                    <a:solidFill>
                      <a:srgbClr val="FFFFFF"/>
                    </a:solidFill>
                  </a:tcPr>
                </a:tc>
                <a:extLst>
                  <a:ext uri="{0D108BD9-81ED-4DB2-BD59-A6C34878D82A}">
                    <a16:rowId xmlns:a16="http://schemas.microsoft.com/office/drawing/2014/main" val="10005"/>
                  </a:ext>
                </a:extLst>
              </a:tr>
              <a:tr h="472678">
                <a:tc>
                  <a:txBody>
                    <a:bodyPr/>
                    <a:lstStyle/>
                    <a:p>
                      <a:r>
                        <a:rPr sz="1725" b="0">
                          <a:solidFill>
                            <a:srgbClr val="153442"/>
                          </a:solidFill>
                          <a:latin typeface="Arial"/>
                          <a:ea typeface="Arial"/>
                          <a:cs typeface="Arial"/>
                        </a:rPr>
                        <a:t>SEK</a:t>
                      </a:r>
                    </a:p>
                  </a:txBody>
                  <a:tcPr>
                    <a:solidFill>
                      <a:srgbClr val="EAF1F1"/>
                    </a:solidFill>
                  </a:tcPr>
                </a:tc>
                <a:tc>
                  <a:txBody>
                    <a:bodyPr/>
                    <a:lstStyle/>
                    <a:p>
                      <a:r>
                        <a:rPr sz="1725" b="0">
                          <a:solidFill>
                            <a:srgbClr val="153442"/>
                          </a:solidFill>
                          <a:latin typeface="Arial"/>
                          <a:ea typeface="Arial"/>
                          <a:cs typeface="Arial"/>
                        </a:rPr>
                        <a:t>2</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4</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292</a:t>
                      </a:r>
                    </a:p>
                  </a:txBody>
                  <a:tcPr>
                    <a:solidFill>
                      <a:srgbClr val="CBE4E5"/>
                    </a:solidFill>
                  </a:tcPr>
                </a:tc>
                <a:tc>
                  <a:txBody>
                    <a:bodyPr/>
                    <a:lstStyle/>
                    <a:p>
                      <a:r>
                        <a:rPr sz="1725" b="0">
                          <a:solidFill>
                            <a:srgbClr val="153442"/>
                          </a:solidFill>
                          <a:latin typeface="Arial"/>
                          <a:ea typeface="Arial"/>
                          <a:cs typeface="Arial"/>
                        </a:rPr>
                        <a:t>6</a:t>
                      </a:r>
                    </a:p>
                  </a:txBody>
                  <a:tcPr>
                    <a:solidFill>
                      <a:srgbClr val="FFFFFF"/>
                    </a:solidFill>
                  </a:tcPr>
                </a:tc>
                <a:extLst>
                  <a:ext uri="{0D108BD9-81ED-4DB2-BD59-A6C34878D82A}">
                    <a16:rowId xmlns:a16="http://schemas.microsoft.com/office/drawing/2014/main" val="10006"/>
                  </a:ext>
                </a:extLst>
              </a:tr>
              <a:tr h="472678">
                <a:tc>
                  <a:txBody>
                    <a:bodyPr/>
                    <a:lstStyle/>
                    <a:p>
                      <a:r>
                        <a:rPr sz="1725" b="0">
                          <a:solidFill>
                            <a:srgbClr val="153442"/>
                          </a:solidFill>
                          <a:latin typeface="Arial"/>
                          <a:ea typeface="Arial"/>
                          <a:cs typeface="Arial"/>
                        </a:rPr>
                        <a:t>SIR</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0</a:t>
                      </a:r>
                    </a:p>
                  </a:txBody>
                  <a:tcPr>
                    <a:solidFill>
                      <a:srgbClr val="FFFFFF"/>
                    </a:solidFill>
                  </a:tcPr>
                </a:tc>
                <a:tc>
                  <a:txBody>
                    <a:bodyPr/>
                    <a:lstStyle/>
                    <a:p>
                      <a:r>
                        <a:rPr sz="1725" b="0">
                          <a:solidFill>
                            <a:srgbClr val="153442"/>
                          </a:solidFill>
                          <a:latin typeface="Arial"/>
                          <a:ea typeface="Arial"/>
                          <a:cs typeface="Arial"/>
                        </a:rPr>
                        <a:t>1</a:t>
                      </a:r>
                    </a:p>
                  </a:txBody>
                  <a:tcPr>
                    <a:solidFill>
                      <a:srgbClr val="FFFFFF"/>
                    </a:solidFill>
                  </a:tcPr>
                </a:tc>
                <a:tc>
                  <a:txBody>
                    <a:bodyPr/>
                    <a:lstStyle/>
                    <a:p>
                      <a:r>
                        <a:rPr sz="1725" b="0">
                          <a:solidFill>
                            <a:srgbClr val="153442"/>
                          </a:solidFill>
                          <a:latin typeface="Arial"/>
                          <a:ea typeface="Arial"/>
                          <a:cs typeface="Arial"/>
                        </a:rPr>
                        <a:t>34</a:t>
                      </a:r>
                    </a:p>
                  </a:txBody>
                  <a:tcPr>
                    <a:solidFill>
                      <a:srgbClr val="FFFFFF"/>
                    </a:solidFill>
                  </a:tcPr>
                </a:tc>
                <a:tc>
                  <a:txBody>
                    <a:bodyPr/>
                    <a:lstStyle/>
                    <a:p>
                      <a:r>
                        <a:rPr sz="1725" b="0">
                          <a:solidFill>
                            <a:srgbClr val="153442"/>
                          </a:solidFill>
                          <a:latin typeface="Arial"/>
                          <a:ea typeface="Arial"/>
                          <a:cs typeface="Arial"/>
                        </a:rPr>
                        <a:t>10</a:t>
                      </a:r>
                    </a:p>
                  </a:txBody>
                  <a:tcPr>
                    <a:solidFill>
                      <a:srgbClr val="FFFFFF"/>
                    </a:solidFill>
                  </a:tcPr>
                </a:tc>
                <a:tc>
                  <a:txBody>
                    <a:bodyPr/>
                    <a:lstStyle/>
                    <a:p>
                      <a:r>
                        <a:rPr sz="1725" b="0">
                          <a:solidFill>
                            <a:srgbClr val="153442"/>
                          </a:solidFill>
                          <a:latin typeface="Arial"/>
                          <a:ea typeface="Arial"/>
                          <a:cs typeface="Arial"/>
                        </a:rPr>
                        <a:t>1</a:t>
                      </a:r>
                    </a:p>
                  </a:txBody>
                  <a:tcPr>
                    <a:solidFill>
                      <a:srgbClr val="FFFFFF"/>
                    </a:solidFill>
                  </a:tcPr>
                </a:tc>
                <a:tc>
                  <a:txBody>
                    <a:bodyPr/>
                    <a:lstStyle/>
                    <a:p>
                      <a:r>
                        <a:rPr sz="1725" b="0">
                          <a:solidFill>
                            <a:srgbClr val="153442"/>
                          </a:solidFill>
                          <a:latin typeface="Arial"/>
                          <a:ea typeface="Arial"/>
                          <a:cs typeface="Arial"/>
                        </a:rPr>
                        <a:t>350</a:t>
                      </a:r>
                    </a:p>
                  </a:txBody>
                  <a:tcPr>
                    <a:solidFill>
                      <a:srgbClr val="CBE4E5"/>
                    </a:solidFill>
                  </a:tcPr>
                </a:tc>
                <a:extLst>
                  <a:ext uri="{0D108BD9-81ED-4DB2-BD59-A6C34878D82A}">
                    <a16:rowId xmlns:a16="http://schemas.microsoft.com/office/drawing/2014/main" val="10007"/>
                  </a:ext>
                </a:extLst>
              </a:tr>
            </a:tbl>
          </a:graphicData>
        </a:graphic>
      </p:graphicFrame>
      <p:sp>
        <p:nvSpPr>
          <p:cNvPr id="4" name="Rectangle 3">
            <a:extLst>
              <a:ext uri="{FF2B5EF4-FFF2-40B4-BE49-F238E27FC236}">
                <a16:creationId xmlns:a16="http://schemas.microsoft.com/office/drawing/2014/main" id="{34CD5E2D-FA3D-427C-B049-A21CAD74355A}"/>
              </a:ext>
            </a:extLst>
          </p:cNvPr>
          <p:cNvSpPr>
            <a:spLocks noGrp="1"/>
          </p:cNvSpPr>
          <p:nvPr/>
        </p:nvSpPr>
        <p:spPr>
          <a:xfrm>
            <a:off x="8248650" y="1695450"/>
            <a:ext cx="3209925" cy="619125"/>
          </a:xfrm>
          <a:prstGeom prst="rect">
            <a:avLst/>
          </a:prstGeom>
          <a:noFill/>
          <a:ln w="0">
            <a:noFill/>
          </a:ln>
        </p:spPr>
        <p:txBody>
          <a:bodyPr>
            <a:noAutofit/>
          </a:bodyPr>
          <a:lstStyle/>
          <a:p>
            <a:pPr>
              <a:defRPr sz="2550" b="1">
                <a:solidFill>
                  <a:srgbClr val="007D88"/>
                </a:solidFill>
                <a:latin typeface="Arial"/>
                <a:ea typeface="Arial"/>
                <a:cs typeface="Arial"/>
              </a:defRPr>
            </a:pPr>
            <a:r>
              <a:rPr sz="2550" b="1">
                <a:solidFill>
                  <a:srgbClr val="007D88"/>
                </a:solidFill>
                <a:latin typeface="Arial"/>
                <a:ea typeface="Arial"/>
                <a:cs typeface="Arial"/>
              </a:rPr>
              <a:t>153 mistakes</a:t>
            </a:r>
          </a:p>
        </p:txBody>
      </p:sp>
      <p:sp>
        <p:nvSpPr>
          <p:cNvPr id="5" name="Rectangle 4">
            <a:extLst>
              <a:ext uri="{FF2B5EF4-FFF2-40B4-BE49-F238E27FC236}">
                <a16:creationId xmlns:a16="http://schemas.microsoft.com/office/drawing/2014/main" id="{9992199F-19A2-4150-AEB6-6CA979D9F1EE}"/>
              </a:ext>
            </a:extLst>
          </p:cNvPr>
          <p:cNvSpPr>
            <a:spLocks noGrp="1"/>
          </p:cNvSpPr>
          <p:nvPr/>
        </p:nvSpPr>
        <p:spPr>
          <a:xfrm>
            <a:off x="8248650" y="2600325"/>
            <a:ext cx="3286125" cy="1533525"/>
          </a:xfrm>
          <a:prstGeom prst="rect">
            <a:avLst/>
          </a:prstGeom>
          <a:noFill/>
          <a:ln w="0">
            <a:noFill/>
          </a:ln>
        </p:spPr>
        <p:txBody>
          <a:bodyPr>
            <a:noAutofit/>
          </a:bodyPr>
          <a:lstStyle/>
          <a:p>
            <a:pPr>
              <a:defRPr sz="1875" b="0">
                <a:solidFill>
                  <a:srgbClr val="153442"/>
                </a:solidFill>
                <a:latin typeface="Arial"/>
                <a:ea typeface="Arial"/>
                <a:cs typeface="Arial"/>
              </a:defRPr>
            </a:pPr>
            <a:r>
              <a:rPr sz="1875" b="0">
                <a:solidFill>
                  <a:srgbClr val="153442"/>
                </a:solidFill>
                <a:latin typeface="Arial"/>
                <a:ea typeface="Arial"/>
                <a:cs typeface="Arial"/>
              </a:rPr>
              <a:t>2,032 test rows</a:t>
            </a:r>
          </a:p>
          <a:p>
            <a:pPr>
              <a:defRPr sz="1875" b="0">
                <a:solidFill>
                  <a:srgbClr val="153442"/>
                </a:solidFill>
                <a:latin typeface="Arial"/>
                <a:ea typeface="Arial"/>
                <a:cs typeface="Arial"/>
              </a:defRPr>
            </a:pPr>
            <a:r>
              <a:rPr sz="1875" b="0">
                <a:solidFill>
                  <a:srgbClr val="153442"/>
                </a:solidFill>
                <a:latin typeface="Arial"/>
                <a:ea typeface="Arial"/>
                <a:cs typeface="Arial"/>
              </a:rPr>
              <a:t>Selected model, seed 7</a:t>
            </a:r>
          </a:p>
          <a:p>
            <a:pPr>
              <a:defRPr sz="1875" b="0">
                <a:solidFill>
                  <a:srgbClr val="153442"/>
                </a:solidFill>
                <a:latin typeface="Arial"/>
                <a:ea typeface="Arial"/>
                <a:cs typeface="Arial"/>
              </a:defRPr>
            </a:pPr>
            <a:r>
              <a:rPr sz="1875" b="0">
                <a:solidFill>
                  <a:srgbClr val="153442"/>
                </a:solidFill>
                <a:latin typeface="Arial"/>
                <a:ea typeface="Arial"/>
                <a:cs typeface="Arial"/>
              </a:rPr>
              <a:t>Rows: actual variety</a:t>
            </a:r>
          </a:p>
          <a:p>
            <a:pPr>
              <a:defRPr sz="1875" b="0">
                <a:solidFill>
                  <a:srgbClr val="153442"/>
                </a:solidFill>
                <a:latin typeface="Arial"/>
                <a:ea typeface="Arial"/>
                <a:cs typeface="Arial"/>
              </a:defRPr>
            </a:pPr>
            <a:r>
              <a:rPr sz="1875" b="0">
                <a:solidFill>
                  <a:srgbClr val="153442"/>
                </a:solidFill>
                <a:latin typeface="Arial"/>
                <a:ea typeface="Arial"/>
                <a:cs typeface="Arial"/>
              </a:rPr>
              <a:t>Columns: prediction</a:t>
            </a:r>
          </a:p>
        </p:txBody>
      </p:sp>
      <p:sp>
        <p:nvSpPr>
          <p:cNvPr id="6" name="Rectangle 5">
            <a:extLst>
              <a:ext uri="{FF2B5EF4-FFF2-40B4-BE49-F238E27FC236}">
                <a16:creationId xmlns:a16="http://schemas.microsoft.com/office/drawing/2014/main" id="{57887CFC-68DB-4F27-887F-EC957BCDC657}"/>
              </a:ext>
            </a:extLst>
          </p:cNvPr>
          <p:cNvSpPr>
            <a:spLocks noGrp="1"/>
          </p:cNvSpPr>
          <p:nvPr/>
        </p:nvSpPr>
        <p:spPr>
          <a:xfrm>
            <a:off x="8248650" y="4572000"/>
            <a:ext cx="3209925" cy="781050"/>
          </a:xfrm>
          <a:prstGeom prst="rect">
            <a:avLst/>
          </a:prstGeom>
          <a:noFill/>
          <a:ln w="0">
            <a:noFill/>
          </a:ln>
        </p:spPr>
        <p:txBody>
          <a:bodyPr>
            <a:noAutofit/>
          </a:bodyPr>
          <a:lstStyle/>
          <a:p>
            <a:pPr>
              <a:defRPr sz="1800" b="0">
                <a:solidFill>
                  <a:srgbClr val="536772"/>
                </a:solidFill>
                <a:latin typeface="Arial"/>
                <a:ea typeface="Arial"/>
                <a:cs typeface="Arial"/>
              </a:defRPr>
            </a:pPr>
            <a:r>
              <a:rPr sz="1800" b="0">
                <a:solidFill>
                  <a:srgbClr val="536772"/>
                </a:solidFill>
                <a:latin typeface="Arial"/>
                <a:ea typeface="Arial"/>
                <a:cs typeface="Arial"/>
              </a:rPr>
              <a:t>Per-class recall and F1</a:t>
            </a:r>
          </a:p>
          <a:p>
            <a:pPr>
              <a:defRPr sz="1800" b="0">
                <a:solidFill>
                  <a:srgbClr val="536772"/>
                </a:solidFill>
                <a:latin typeface="Arial"/>
                <a:ea typeface="Arial"/>
                <a:cs typeface="Arial"/>
              </a:defRPr>
            </a:pPr>
            <a:r>
              <a:rPr sz="1800" b="0">
                <a:solidFill>
                  <a:srgbClr val="536772"/>
                </a:solidFill>
                <a:latin typeface="Arial"/>
                <a:ea typeface="Arial"/>
                <a:cs typeface="Arial"/>
              </a:rPr>
              <a:t>are in the notebook.</a:t>
            </a:r>
          </a:p>
        </p:txBody>
      </p:sp>
      <p:sp>
        <p:nvSpPr>
          <p:cNvPr id="7" name="Rectangle 6">
            <a:extLst>
              <a:ext uri="{FF2B5EF4-FFF2-40B4-BE49-F238E27FC236}">
                <a16:creationId xmlns:a16="http://schemas.microsoft.com/office/drawing/2014/main" id="{932D7078-28F6-4579-85A2-DA47E7CB5A04}"/>
              </a:ext>
            </a:extLst>
          </p:cNvPr>
          <p:cNvSpPr>
            <a:spLocks noGrp="1"/>
          </p:cNvSpPr>
          <p:nvPr/>
        </p:nvSpPr>
        <p:spPr>
          <a:xfrm>
            <a:off x="590550" y="5600700"/>
            <a:ext cx="10906125" cy="666750"/>
          </a:xfrm>
          <a:prstGeom prst="rect">
            <a:avLst/>
          </a:prstGeom>
          <a:noFill/>
          <a:ln w="0">
            <a:noFill/>
          </a:ln>
        </p:spPr>
        <p:txBody>
          <a:bodyPr>
            <a:noAutofit/>
          </a:bodyPr>
          <a:lstStyle/>
          <a:p>
            <a:pPr>
              <a:defRPr sz="1650" b="0">
                <a:solidFill>
                  <a:srgbClr val="536772"/>
                </a:solidFill>
                <a:latin typeface="Arial"/>
                <a:ea typeface="Arial"/>
                <a:cs typeface="Arial"/>
              </a:defRPr>
            </a:pPr>
            <a:r>
              <a:rPr sz="1650" b="0">
                <a:solidFill>
                  <a:srgbClr val="536772"/>
                </a:solidFill>
                <a:latin typeface="Arial"/>
                <a:ea typeface="Arial"/>
                <a:cs typeface="Arial"/>
              </a:rPr>
              <a:t>BAR Barbunya   BOM Bombay   CAL Cali   DER Dermason</a:t>
            </a:r>
          </a:p>
          <a:p>
            <a:pPr>
              <a:defRPr sz="1650" b="0">
                <a:solidFill>
                  <a:srgbClr val="536772"/>
                </a:solidFill>
                <a:latin typeface="Arial"/>
                <a:ea typeface="Arial"/>
                <a:cs typeface="Arial"/>
              </a:defRPr>
            </a:pPr>
            <a:r>
              <a:rPr sz="1650" b="0">
                <a:solidFill>
                  <a:srgbClr val="536772"/>
                </a:solidFill>
                <a:latin typeface="Arial"/>
                <a:ea typeface="Arial"/>
                <a:cs typeface="Arial"/>
              </a:rPr>
              <a:t>HOR Horoz   SEK Seker   SIR Sira</a:t>
            </a:r>
          </a:p>
        </p:txBody>
      </p:sp>
    </p:spTree>
    <p:extLst>
      <p:ext uri="{BB962C8B-B14F-4D97-AF65-F5344CB8AC3E}">
        <p14:creationId xmlns:p14="http://schemas.microsoft.com/office/powerpoint/2010/main" val="3719711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100CCF3-331C-402F-8B24-A86F8D8FC771}"/>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Conclusion and practical limits</a:t>
            </a:r>
          </a:p>
        </p:txBody>
      </p:sp>
      <p:sp>
        <p:nvSpPr>
          <p:cNvPr id="2" name="Rectangle 1">
            <a:extLst>
              <a:ext uri="{FF2B5EF4-FFF2-40B4-BE49-F238E27FC236}">
                <a16:creationId xmlns:a16="http://schemas.microsoft.com/office/drawing/2014/main" id="{9C662064-74C5-4DC7-BD9A-BE393548C135}"/>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10</a:t>
            </a:r>
          </a:p>
        </p:txBody>
      </p:sp>
      <p:sp>
        <p:nvSpPr>
          <p:cNvPr id="3" name="Rectangle 2">
            <a:extLst>
              <a:ext uri="{FF2B5EF4-FFF2-40B4-BE49-F238E27FC236}">
                <a16:creationId xmlns:a16="http://schemas.microsoft.com/office/drawing/2014/main" id="{434850EC-8834-44F6-84C7-7E5CA1D4C9CE}"/>
              </a:ext>
            </a:extLst>
          </p:cNvPr>
          <p:cNvSpPr>
            <a:spLocks noGrp="1"/>
          </p:cNvSpPr>
          <p:nvPr/>
        </p:nvSpPr>
        <p:spPr>
          <a:xfrm>
            <a:off x="571500" y="1457325"/>
            <a:ext cx="11049000" cy="762000"/>
          </a:xfrm>
          <a:prstGeom prst="rect">
            <a:avLst/>
          </a:prstGeom>
          <a:noFill/>
          <a:ln w="0">
            <a:noFill/>
          </a:ln>
        </p:spPr>
        <p:txBody>
          <a:bodyPr>
            <a:noAutofit/>
          </a:bodyPr>
          <a:lstStyle/>
          <a:p>
            <a:pPr>
              <a:defRPr sz="3000" b="1">
                <a:solidFill>
                  <a:srgbClr val="007D88"/>
                </a:solidFill>
                <a:latin typeface="Arial"/>
                <a:ea typeface="Arial"/>
                <a:cs typeface="Arial"/>
              </a:defRPr>
            </a:pPr>
            <a:r>
              <a:rPr sz="3000" b="1">
                <a:solidFill>
                  <a:srgbClr val="007D88"/>
                </a:solidFill>
                <a:latin typeface="Arial"/>
                <a:ea typeface="Arial"/>
                <a:cs typeface="Arial"/>
              </a:rPr>
              <a:t>MLP-high-lr: macro-F1 0.9373</a:t>
            </a:r>
          </a:p>
        </p:txBody>
      </p:sp>
      <p:sp>
        <p:nvSpPr>
          <p:cNvPr id="4" name="Rectangle 3">
            <a:extLst>
              <a:ext uri="{FF2B5EF4-FFF2-40B4-BE49-F238E27FC236}">
                <a16:creationId xmlns:a16="http://schemas.microsoft.com/office/drawing/2014/main" id="{C4486229-7F31-42B9-9515-081291937896}"/>
              </a:ext>
            </a:extLst>
          </p:cNvPr>
          <p:cNvSpPr>
            <a:spLocks noGrp="1"/>
          </p:cNvSpPr>
          <p:nvPr/>
        </p:nvSpPr>
        <p:spPr>
          <a:xfrm>
            <a:off x="590550" y="2619375"/>
            <a:ext cx="10810875" cy="1066800"/>
          </a:xfrm>
          <a:prstGeom prst="rect">
            <a:avLst/>
          </a:prstGeom>
          <a:noFill/>
          <a:ln w="0">
            <a:noFill/>
          </a:ln>
        </p:spPr>
        <p:txBody>
          <a:bodyPr>
            <a:noAutofit/>
          </a:bodyPr>
          <a:lstStyle/>
          <a:p>
            <a:pPr>
              <a:defRPr sz="2250" b="0">
                <a:solidFill>
                  <a:srgbClr val="153442"/>
                </a:solidFill>
                <a:latin typeface="Arial"/>
                <a:ea typeface="Arial"/>
                <a:cs typeface="Arial"/>
              </a:defRPr>
            </a:pPr>
            <a:r>
              <a:rPr sz="2250" b="0">
                <a:solidFill>
                  <a:srgbClr val="153442"/>
                </a:solidFill>
                <a:latin typeface="Arial"/>
                <a:ea typeface="Arial"/>
                <a:cs typeface="Arial"/>
              </a:rPr>
              <a:t>92.44% mean test accuracy</a:t>
            </a:r>
          </a:p>
          <a:p>
            <a:pPr>
              <a:defRPr sz="2250" b="0">
                <a:solidFill>
                  <a:srgbClr val="153442"/>
                </a:solidFill>
                <a:latin typeface="Arial"/>
                <a:ea typeface="Arial"/>
                <a:cs typeface="Arial"/>
              </a:defRPr>
            </a:pPr>
            <a:r>
              <a:rPr sz="2250" b="0">
                <a:solidFill>
                  <a:srgbClr val="153442"/>
                </a:solidFill>
                <a:latin typeface="Arial"/>
                <a:ea typeface="Arial"/>
                <a:cs typeface="Arial"/>
              </a:rPr>
              <a:t>Macro-F1 difference from logistic regression: +0.0024</a:t>
            </a:r>
          </a:p>
        </p:txBody>
      </p:sp>
      <p:sp>
        <p:nvSpPr>
          <p:cNvPr id="5" name="Rectangle 4">
            <a:extLst>
              <a:ext uri="{FF2B5EF4-FFF2-40B4-BE49-F238E27FC236}">
                <a16:creationId xmlns:a16="http://schemas.microsoft.com/office/drawing/2014/main" id="{92A6EAE4-E7D1-4D3F-B9B0-00C57E5C3BCC}"/>
              </a:ext>
            </a:extLst>
          </p:cNvPr>
          <p:cNvSpPr>
            <a:spLocks noGrp="1"/>
          </p:cNvSpPr>
          <p:nvPr/>
        </p:nvSpPr>
        <p:spPr>
          <a:xfrm>
            <a:off x="590550" y="4210050"/>
            <a:ext cx="4762500" cy="457200"/>
          </a:xfrm>
          <a:prstGeom prst="rect">
            <a:avLst/>
          </a:prstGeom>
          <a:noFill/>
          <a:ln w="0">
            <a:noFill/>
          </a:ln>
        </p:spPr>
        <p:txBody>
          <a:bodyPr>
            <a:noAutofit/>
          </a:bodyPr>
          <a:lstStyle/>
          <a:p>
            <a:pPr>
              <a:defRPr sz="2250" b="1">
                <a:solidFill>
                  <a:srgbClr val="153442"/>
                </a:solidFill>
                <a:latin typeface="Arial"/>
                <a:ea typeface="Arial"/>
                <a:cs typeface="Arial"/>
              </a:defRPr>
            </a:pPr>
            <a:r>
              <a:rPr sz="2250" b="1">
                <a:solidFill>
                  <a:srgbClr val="153442"/>
                </a:solidFill>
                <a:latin typeface="Arial"/>
                <a:ea typeface="Arial"/>
                <a:cs typeface="Arial"/>
              </a:rPr>
              <a:t>Limits</a:t>
            </a:r>
          </a:p>
        </p:txBody>
      </p:sp>
      <p:sp>
        <p:nvSpPr>
          <p:cNvPr id="6" name="Rectangle 5">
            <a:extLst>
              <a:ext uri="{FF2B5EF4-FFF2-40B4-BE49-F238E27FC236}">
                <a16:creationId xmlns:a16="http://schemas.microsoft.com/office/drawing/2014/main" id="{1FADE483-E4E1-4E60-9F2C-0A9EEB28787F}"/>
              </a:ext>
            </a:extLst>
          </p:cNvPr>
          <p:cNvSpPr>
            <a:spLocks noGrp="1"/>
          </p:cNvSpPr>
          <p:nvPr/>
        </p:nvSpPr>
        <p:spPr>
          <a:xfrm>
            <a:off x="590550" y="4781550"/>
            <a:ext cx="5572125" cy="1381125"/>
          </a:xfrm>
          <a:prstGeom prst="rect">
            <a:avLst/>
          </a:prstGeom>
          <a:noFill/>
          <a:ln w="0">
            <a:noFill/>
          </a:ln>
        </p:spPr>
        <p:txBody>
          <a:bodyPr>
            <a:noAutofit/>
          </a:bodyPr>
          <a:lstStyle/>
          <a:p>
            <a:pPr>
              <a:defRPr sz="1950" b="0">
                <a:solidFill>
                  <a:srgbClr val="153442"/>
                </a:solidFill>
                <a:latin typeface="Arial"/>
                <a:ea typeface="Arial"/>
                <a:cs typeface="Arial"/>
              </a:defRPr>
            </a:pPr>
            <a:r>
              <a:rPr sz="1950" b="0" dirty="0">
                <a:solidFill>
                  <a:srgbClr val="153442"/>
                </a:solidFill>
                <a:latin typeface="Arial"/>
                <a:ea typeface="Arial"/>
                <a:cs typeface="Arial"/>
              </a:rPr>
              <a:t>Pre-extracted numerical features</a:t>
            </a:r>
          </a:p>
          <a:p>
            <a:pPr>
              <a:defRPr sz="1950" b="0">
                <a:solidFill>
                  <a:srgbClr val="153442"/>
                </a:solidFill>
                <a:latin typeface="Arial"/>
                <a:ea typeface="Arial"/>
                <a:cs typeface="Arial"/>
              </a:defRPr>
            </a:pPr>
            <a:r>
              <a:rPr sz="1950" b="0" dirty="0">
                <a:solidFill>
                  <a:srgbClr val="153442"/>
                </a:solidFill>
                <a:latin typeface="Arial"/>
                <a:ea typeface="Arial"/>
                <a:cs typeface="Arial"/>
              </a:rPr>
              <a:t>One random split, three seeds</a:t>
            </a:r>
          </a:p>
          <a:p>
            <a:pPr>
              <a:defRPr sz="1950" b="0">
                <a:solidFill>
                  <a:srgbClr val="153442"/>
                </a:solidFill>
                <a:latin typeface="Arial"/>
                <a:ea typeface="Arial"/>
                <a:cs typeface="Arial"/>
              </a:defRPr>
            </a:pPr>
            <a:r>
              <a:rPr sz="1950" b="0" dirty="0">
                <a:solidFill>
                  <a:srgbClr val="153442"/>
                </a:solidFill>
                <a:latin typeface="Arial"/>
                <a:ea typeface="Arial"/>
                <a:cs typeface="Arial"/>
              </a:rPr>
              <a:t>No significance or deployment claim</a:t>
            </a:r>
          </a:p>
        </p:txBody>
      </p:sp>
      <p:sp>
        <p:nvSpPr>
          <p:cNvPr id="7" name="Rectangle 6">
            <a:extLst>
              <a:ext uri="{FF2B5EF4-FFF2-40B4-BE49-F238E27FC236}">
                <a16:creationId xmlns:a16="http://schemas.microsoft.com/office/drawing/2014/main" id="{6D63A12C-5E98-48FC-9B8B-D44DECD0CC90}"/>
              </a:ext>
            </a:extLst>
          </p:cNvPr>
          <p:cNvSpPr>
            <a:spLocks noGrp="1"/>
          </p:cNvSpPr>
          <p:nvPr/>
        </p:nvSpPr>
        <p:spPr>
          <a:xfrm>
            <a:off x="6619875" y="4210050"/>
            <a:ext cx="4667250" cy="457200"/>
          </a:xfrm>
          <a:prstGeom prst="rect">
            <a:avLst/>
          </a:prstGeom>
          <a:noFill/>
          <a:ln w="0">
            <a:noFill/>
          </a:ln>
        </p:spPr>
        <p:txBody>
          <a:bodyPr>
            <a:noAutofit/>
          </a:bodyPr>
          <a:lstStyle/>
          <a:p>
            <a:pPr>
              <a:defRPr sz="2250" b="1">
                <a:solidFill>
                  <a:srgbClr val="153442"/>
                </a:solidFill>
                <a:latin typeface="Arial"/>
                <a:ea typeface="Arial"/>
                <a:cs typeface="Arial"/>
              </a:defRPr>
            </a:pPr>
            <a:r>
              <a:rPr sz="2250" b="1">
                <a:solidFill>
                  <a:srgbClr val="153442"/>
                </a:solidFill>
                <a:latin typeface="Arial"/>
                <a:ea typeface="Arial"/>
                <a:cs typeface="Arial"/>
              </a:rPr>
              <a:t>Next experiment</a:t>
            </a:r>
          </a:p>
        </p:txBody>
      </p:sp>
      <p:sp>
        <p:nvSpPr>
          <p:cNvPr id="8" name="Rectangle 7">
            <a:extLst>
              <a:ext uri="{FF2B5EF4-FFF2-40B4-BE49-F238E27FC236}">
                <a16:creationId xmlns:a16="http://schemas.microsoft.com/office/drawing/2014/main" id="{28E26147-0D78-4752-A591-22DB82DC4378}"/>
              </a:ext>
            </a:extLst>
          </p:cNvPr>
          <p:cNvSpPr>
            <a:spLocks noGrp="1"/>
          </p:cNvSpPr>
          <p:nvPr/>
        </p:nvSpPr>
        <p:spPr>
          <a:xfrm>
            <a:off x="6619875" y="4781550"/>
            <a:ext cx="4762500" cy="1381125"/>
          </a:xfrm>
          <a:prstGeom prst="rect">
            <a:avLst/>
          </a:prstGeom>
          <a:noFill/>
          <a:ln w="0">
            <a:noFill/>
          </a:ln>
        </p:spPr>
        <p:txBody>
          <a:bodyPr>
            <a:noAutofit/>
          </a:bodyPr>
          <a:lstStyle/>
          <a:p>
            <a:pPr>
              <a:defRPr sz="1950" b="0">
                <a:solidFill>
                  <a:srgbClr val="153442"/>
                </a:solidFill>
                <a:latin typeface="Arial"/>
                <a:ea typeface="Arial"/>
                <a:cs typeface="Arial"/>
              </a:defRPr>
            </a:pPr>
            <a:r>
              <a:rPr sz="1950" b="0" dirty="0">
                <a:solidFill>
                  <a:srgbClr val="153442"/>
                </a:solidFill>
                <a:latin typeface="Arial"/>
                <a:ea typeface="Arial"/>
                <a:cs typeface="Arial"/>
              </a:rPr>
              <a:t>Repeat development splits</a:t>
            </a:r>
          </a:p>
          <a:p>
            <a:pPr>
              <a:defRPr sz="1950" b="0">
                <a:solidFill>
                  <a:srgbClr val="153442"/>
                </a:solidFill>
                <a:latin typeface="Arial"/>
                <a:ea typeface="Arial"/>
                <a:cs typeface="Arial"/>
              </a:defRPr>
            </a:pPr>
            <a:r>
              <a:rPr sz="1950" b="0" dirty="0">
                <a:solidFill>
                  <a:srgbClr val="153442"/>
                </a:solidFill>
                <a:latin typeface="Arial"/>
                <a:ea typeface="Arial"/>
                <a:cs typeface="Arial"/>
              </a:rPr>
              <a:t>Use acquisition groups if available</a:t>
            </a:r>
          </a:p>
          <a:p>
            <a:pPr>
              <a:defRPr sz="1950" b="0">
                <a:solidFill>
                  <a:srgbClr val="153442"/>
                </a:solidFill>
                <a:latin typeface="Arial"/>
                <a:ea typeface="Arial"/>
                <a:cs typeface="Arial"/>
              </a:defRPr>
            </a:pPr>
            <a:r>
              <a:rPr sz="1950" b="0" dirty="0">
                <a:solidFill>
                  <a:srgbClr val="153442"/>
                </a:solidFill>
                <a:latin typeface="Arial"/>
                <a:ea typeface="Arial"/>
                <a:cs typeface="Arial"/>
              </a:rPr>
              <a:t>Test a new acquisition session</a:t>
            </a:r>
          </a:p>
        </p:txBody>
      </p:sp>
    </p:spTree>
    <p:extLst>
      <p:ext uri="{BB962C8B-B14F-4D97-AF65-F5344CB8AC3E}">
        <p14:creationId xmlns:p14="http://schemas.microsoft.com/office/powerpoint/2010/main" val="525560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11D42B9-E4D2-45E4-B029-1D2B22525BCC}"/>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Code and reproducibility</a:t>
            </a:r>
          </a:p>
        </p:txBody>
      </p:sp>
      <p:sp>
        <p:nvSpPr>
          <p:cNvPr id="2" name="Rectangle 1">
            <a:extLst>
              <a:ext uri="{FF2B5EF4-FFF2-40B4-BE49-F238E27FC236}">
                <a16:creationId xmlns:a16="http://schemas.microsoft.com/office/drawing/2014/main" id="{24E8553D-F554-4878-8A5B-703C4179C059}"/>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11</a:t>
            </a:r>
          </a:p>
        </p:txBody>
      </p:sp>
      <p:sp>
        <p:nvSpPr>
          <p:cNvPr id="3" name="Rectangle 2">
            <a:extLst>
              <a:ext uri="{FF2B5EF4-FFF2-40B4-BE49-F238E27FC236}">
                <a16:creationId xmlns:a16="http://schemas.microsoft.com/office/drawing/2014/main" id="{2569E9CD-A8F8-433F-BE67-6526122DB214}"/>
              </a:ext>
            </a:extLst>
          </p:cNvPr>
          <p:cNvSpPr>
            <a:spLocks noGrp="1"/>
          </p:cNvSpPr>
          <p:nvPr/>
        </p:nvSpPr>
        <p:spPr>
          <a:xfrm>
            <a:off x="590550" y="1466850"/>
            <a:ext cx="10906125" cy="609600"/>
          </a:xfrm>
          <a:prstGeom prst="rect">
            <a:avLst/>
          </a:prstGeom>
          <a:noFill/>
          <a:ln w="0">
            <a:noFill/>
          </a:ln>
        </p:spPr>
        <p:txBody>
          <a:bodyPr>
            <a:noAutofit/>
          </a:bodyPr>
          <a:lstStyle/>
          <a:p>
            <a:pPr>
              <a:defRPr sz="2850" b="1">
                <a:solidFill>
                  <a:srgbClr val="007D88"/>
                </a:solidFill>
                <a:latin typeface="Arial"/>
                <a:ea typeface="Arial"/>
                <a:cs typeface="Arial"/>
              </a:defRPr>
            </a:pPr>
            <a:r>
              <a:rPr sz="2850" b="1">
                <a:solidFill>
                  <a:srgbClr val="007D88"/>
                </a:solidFill>
                <a:latin typeface="Arial"/>
                <a:ea typeface="Arial"/>
                <a:cs typeface="Arial"/>
              </a:rPr>
              <a:t>Dry_Bean_Project.ipynb</a:t>
            </a:r>
          </a:p>
        </p:txBody>
      </p:sp>
      <p:sp>
        <p:nvSpPr>
          <p:cNvPr id="4" name="Rectangle 3">
            <a:extLst>
              <a:ext uri="{FF2B5EF4-FFF2-40B4-BE49-F238E27FC236}">
                <a16:creationId xmlns:a16="http://schemas.microsoft.com/office/drawing/2014/main" id="{2DF4669C-46B0-4B35-9F0E-918413D38A3B}"/>
              </a:ext>
            </a:extLst>
          </p:cNvPr>
          <p:cNvSpPr>
            <a:spLocks noGrp="1"/>
          </p:cNvSpPr>
          <p:nvPr/>
        </p:nvSpPr>
        <p:spPr>
          <a:xfrm>
            <a:off x="590550" y="2476500"/>
            <a:ext cx="10839450" cy="952500"/>
          </a:xfrm>
          <a:prstGeom prst="rect">
            <a:avLst/>
          </a:prstGeom>
          <a:noFill/>
          <a:ln w="0">
            <a:noFill/>
          </a:ln>
        </p:spPr>
        <p:txBody>
          <a:bodyPr>
            <a:noAutofit/>
          </a:bodyPr>
          <a:lstStyle/>
          <a:p>
            <a:pPr>
              <a:defRPr sz="2400" b="1">
                <a:solidFill>
                  <a:srgbClr val="153442"/>
                </a:solidFill>
                <a:latin typeface="Arial"/>
                <a:ea typeface="Arial"/>
                <a:cs typeface="Arial"/>
              </a:defRPr>
            </a:pPr>
            <a:endParaRPr sz="2400" b="1" dirty="0">
              <a:solidFill>
                <a:srgbClr val="153442"/>
              </a:solidFill>
              <a:latin typeface="Arial"/>
              <a:ea typeface="Arial"/>
              <a:cs typeface="Arial"/>
            </a:endParaRPr>
          </a:p>
        </p:txBody>
      </p:sp>
      <p:sp>
        <p:nvSpPr>
          <p:cNvPr id="6" name="Rectangle 5">
            <a:extLst>
              <a:ext uri="{FF2B5EF4-FFF2-40B4-BE49-F238E27FC236}">
                <a16:creationId xmlns:a16="http://schemas.microsoft.com/office/drawing/2014/main" id="{DBE39F2C-14E1-46B4-A418-7F3C07A802D2}"/>
              </a:ext>
            </a:extLst>
          </p:cNvPr>
          <p:cNvSpPr>
            <a:spLocks noGrp="1"/>
          </p:cNvSpPr>
          <p:nvPr/>
        </p:nvSpPr>
        <p:spPr>
          <a:xfrm>
            <a:off x="604837" y="5105400"/>
            <a:ext cx="10810875" cy="904875"/>
          </a:xfrm>
          <a:prstGeom prst="rect">
            <a:avLst/>
          </a:prstGeom>
          <a:noFill/>
          <a:ln w="0">
            <a:noFill/>
          </a:ln>
        </p:spPr>
        <p:txBody>
          <a:bodyPr>
            <a:noAutofit/>
          </a:bodyPr>
          <a:lstStyle/>
          <a:p>
            <a:pPr>
              <a:defRPr sz="1950" b="0">
                <a:solidFill>
                  <a:srgbClr val="153442"/>
                </a:solidFill>
                <a:latin typeface="Arial"/>
                <a:ea typeface="Arial"/>
                <a:cs typeface="Arial"/>
              </a:defRPr>
            </a:pPr>
            <a:r>
              <a:rPr sz="1950" b="0" dirty="0">
                <a:solidFill>
                  <a:srgbClr val="153442"/>
                </a:solidFill>
                <a:latin typeface="Arial"/>
                <a:ea typeface="Arial"/>
                <a:cs typeface="Arial"/>
              </a:rPr>
              <a:t>Includes all experiments and a reloadable model with preprocessing.</a:t>
            </a:r>
          </a:p>
          <a:p>
            <a:pPr>
              <a:defRPr sz="1950" b="0">
                <a:solidFill>
                  <a:srgbClr val="153442"/>
                </a:solidFill>
                <a:latin typeface="Arial"/>
                <a:ea typeface="Arial"/>
                <a:cs typeface="Arial"/>
              </a:defRPr>
            </a:pPr>
            <a:r>
              <a:rPr sz="1950" b="0" dirty="0">
                <a:solidFill>
                  <a:srgbClr val="153442"/>
                </a:solidFill>
                <a:latin typeface="Arial"/>
                <a:ea typeface="Arial"/>
                <a:cs typeface="Arial"/>
              </a:rPr>
              <a:t>Saves splits, seeds, dataset checksum and software versions.</a:t>
            </a:r>
          </a:p>
        </p:txBody>
      </p:sp>
      <p:sp>
        <p:nvSpPr>
          <p:cNvPr id="7" name="Rectangle 6">
            <a:extLst>
              <a:ext uri="{FF2B5EF4-FFF2-40B4-BE49-F238E27FC236}">
                <a16:creationId xmlns:a16="http://schemas.microsoft.com/office/drawing/2014/main" id="{B8969E87-0CE1-4A74-AA9F-4450BF12734D}"/>
              </a:ext>
            </a:extLst>
          </p:cNvPr>
          <p:cNvSpPr>
            <a:spLocks noGrp="1"/>
          </p:cNvSpPr>
          <p:nvPr/>
        </p:nvSpPr>
        <p:spPr>
          <a:xfrm>
            <a:off x="619125" y="6019800"/>
            <a:ext cx="10763250" cy="381000"/>
          </a:xfrm>
          <a:prstGeom prst="rect">
            <a:avLst/>
          </a:prstGeom>
          <a:noFill/>
          <a:ln w="0">
            <a:noFill/>
          </a:ln>
        </p:spPr>
        <p:txBody>
          <a:bodyPr>
            <a:noAutofit/>
          </a:bodyPr>
          <a:lstStyle/>
          <a:p>
            <a:pPr>
              <a:defRPr sz="1650" b="0">
                <a:solidFill>
                  <a:srgbClr val="536772"/>
                </a:solidFill>
                <a:latin typeface="Arial"/>
                <a:ea typeface="Arial"/>
                <a:cs typeface="Arial"/>
              </a:defRPr>
            </a:pPr>
            <a:r>
              <a:rPr sz="1650" b="0" dirty="0">
                <a:solidFill>
                  <a:srgbClr val="536772"/>
                </a:solidFill>
                <a:latin typeface="Arial"/>
                <a:ea typeface="Arial"/>
                <a:cs typeface="Arial"/>
              </a:rPr>
              <a:t>Reference outputs were executed locally. </a:t>
            </a:r>
            <a:r>
              <a:rPr lang="fr-FR" sz="1650" b="0" dirty="0" err="1">
                <a:solidFill>
                  <a:srgbClr val="536772"/>
                </a:solidFill>
                <a:latin typeface="Arial"/>
                <a:ea typeface="Arial"/>
                <a:cs typeface="Arial"/>
              </a:rPr>
              <a:t>Results</a:t>
            </a:r>
            <a:r>
              <a:rPr sz="1650" b="0" dirty="0">
                <a:solidFill>
                  <a:srgbClr val="536772"/>
                </a:solidFill>
                <a:latin typeface="Arial"/>
                <a:ea typeface="Arial"/>
                <a:cs typeface="Arial"/>
              </a:rPr>
              <a:t> can differ slightly </a:t>
            </a:r>
            <a:r>
              <a:rPr lang="fr-FR" sz="1650" b="0" dirty="0" err="1">
                <a:solidFill>
                  <a:srgbClr val="536772"/>
                </a:solidFill>
                <a:latin typeface="Arial"/>
                <a:ea typeface="Arial"/>
                <a:cs typeface="Arial"/>
              </a:rPr>
              <a:t>depending</a:t>
            </a:r>
            <a:r>
              <a:rPr lang="fr-FR" sz="1650" b="0" dirty="0">
                <a:solidFill>
                  <a:srgbClr val="536772"/>
                </a:solidFill>
                <a:latin typeface="Arial"/>
                <a:ea typeface="Arial"/>
                <a:cs typeface="Arial"/>
              </a:rPr>
              <a:t> on </a:t>
            </a:r>
            <a:r>
              <a:rPr lang="fr-FR" sz="1650" b="0" dirty="0" err="1">
                <a:solidFill>
                  <a:srgbClr val="536772"/>
                </a:solidFill>
                <a:latin typeface="Arial"/>
                <a:ea typeface="Arial"/>
                <a:cs typeface="Arial"/>
              </a:rPr>
              <a:t>dependencies</a:t>
            </a:r>
            <a:r>
              <a:rPr lang="fr-FR" sz="1650" b="0" dirty="0">
                <a:solidFill>
                  <a:srgbClr val="536772"/>
                </a:solidFill>
                <a:latin typeface="Arial"/>
                <a:ea typeface="Arial"/>
                <a:cs typeface="Arial"/>
              </a:rPr>
              <a:t> versions</a:t>
            </a:r>
            <a:r>
              <a:rPr sz="1650" b="0" dirty="0">
                <a:solidFill>
                  <a:srgbClr val="536772"/>
                </a:solidFill>
                <a:latin typeface="Arial"/>
                <a:ea typeface="Arial"/>
                <a:cs typeface="Arial"/>
              </a:rPr>
              <a:t>.</a:t>
            </a:r>
          </a:p>
        </p:txBody>
      </p:sp>
      <p:sp>
        <p:nvSpPr>
          <p:cNvPr id="10" name="ZoneTexte 9">
            <a:extLst>
              <a:ext uri="{FF2B5EF4-FFF2-40B4-BE49-F238E27FC236}">
                <a16:creationId xmlns:a16="http://schemas.microsoft.com/office/drawing/2014/main" id="{00119663-9C1B-8ADA-73F0-4185FDD21C56}"/>
              </a:ext>
            </a:extLst>
          </p:cNvPr>
          <p:cNvSpPr txBox="1"/>
          <p:nvPr/>
        </p:nvSpPr>
        <p:spPr>
          <a:xfrm>
            <a:off x="619125" y="2491085"/>
            <a:ext cx="7389844" cy="461665"/>
          </a:xfrm>
          <a:prstGeom prst="rect">
            <a:avLst/>
          </a:prstGeom>
          <a:noFill/>
        </p:spPr>
        <p:txBody>
          <a:bodyPr wrap="none" rtlCol="0">
            <a:spAutoFit/>
          </a:bodyPr>
          <a:lstStyle/>
          <a:p>
            <a:r>
              <a:rPr lang="fr-FR" sz="2400" dirty="0">
                <a:hlinkClick r:id="rId3"/>
              </a:rPr>
              <a:t>https://github.com/zidanarsyad/pmml-group-project-1</a:t>
            </a:r>
            <a:r>
              <a:rPr lang="fr-FR" sz="2400" dirty="0"/>
              <a:t> </a:t>
            </a:r>
          </a:p>
        </p:txBody>
      </p:sp>
    </p:spTree>
    <p:extLst>
      <p:ext uri="{BB962C8B-B14F-4D97-AF65-F5344CB8AC3E}">
        <p14:creationId xmlns:p14="http://schemas.microsoft.com/office/powerpoint/2010/main" val="696699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607C5CA-C2EC-4DA6-8B56-356671B22297}"/>
              </a:ext>
            </a:extLst>
          </p:cNvPr>
          <p:cNvSpPr>
            <a:spLocks noGrp="1"/>
          </p:cNvSpPr>
          <p:nvPr/>
        </p:nvSpPr>
        <p:spPr>
          <a:xfrm>
            <a:off x="552450" y="361950"/>
            <a:ext cx="11087100" cy="809625"/>
          </a:xfrm>
          <a:prstGeom prst="rect">
            <a:avLst/>
          </a:prstGeom>
          <a:noFill/>
          <a:ln w="0">
            <a:noFill/>
          </a:ln>
        </p:spPr>
        <p:txBody>
          <a:bodyPr>
            <a:noAutofit/>
          </a:bodyPr>
          <a:lstStyle/>
          <a:p>
            <a:pPr>
              <a:defRPr sz="3225" b="1">
                <a:solidFill>
                  <a:srgbClr val="153442"/>
                </a:solidFill>
                <a:latin typeface="Arial"/>
                <a:ea typeface="Arial"/>
                <a:cs typeface="Arial"/>
              </a:defRPr>
            </a:pPr>
            <a:r>
              <a:rPr sz="3225" b="1">
                <a:solidFill>
                  <a:srgbClr val="153442"/>
                </a:solidFill>
                <a:latin typeface="Arial"/>
                <a:ea typeface="Arial"/>
                <a:cs typeface="Arial"/>
              </a:rPr>
              <a:t>References</a:t>
            </a:r>
          </a:p>
        </p:txBody>
      </p:sp>
      <p:sp>
        <p:nvSpPr>
          <p:cNvPr id="2" name="Rectangle 1">
            <a:extLst>
              <a:ext uri="{FF2B5EF4-FFF2-40B4-BE49-F238E27FC236}">
                <a16:creationId xmlns:a16="http://schemas.microsoft.com/office/drawing/2014/main" id="{1A1E72CB-49C8-4770-8935-BB88EE50A413}"/>
              </a:ext>
            </a:extLst>
          </p:cNvPr>
          <p:cNvSpPr>
            <a:spLocks noGrp="1"/>
          </p:cNvSpPr>
          <p:nvPr/>
        </p:nvSpPr>
        <p:spPr>
          <a:xfrm>
            <a:off x="11144250" y="6419850"/>
            <a:ext cx="571500" cy="266700"/>
          </a:xfrm>
          <a:prstGeom prst="rect">
            <a:avLst/>
          </a:prstGeom>
          <a:noFill/>
          <a:ln w="0">
            <a:noFill/>
          </a:ln>
        </p:spPr>
        <p:txBody>
          <a:bodyPr>
            <a:noAutofit/>
          </a:bodyPr>
          <a:lstStyle/>
          <a:p>
            <a:pPr>
              <a:defRPr sz="1350" b="0">
                <a:solidFill>
                  <a:srgbClr val="536772"/>
                </a:solidFill>
                <a:latin typeface="Arial"/>
                <a:ea typeface="Arial"/>
                <a:cs typeface="Arial"/>
              </a:defRPr>
            </a:pPr>
            <a:r>
              <a:rPr sz="1350" b="0">
                <a:solidFill>
                  <a:srgbClr val="536772"/>
                </a:solidFill>
                <a:latin typeface="Arial"/>
                <a:ea typeface="Arial"/>
                <a:cs typeface="Arial"/>
              </a:rPr>
              <a:t>12</a:t>
            </a:r>
          </a:p>
        </p:txBody>
      </p:sp>
      <p:sp>
        <p:nvSpPr>
          <p:cNvPr id="3" name="Rectangle 2">
            <a:extLst>
              <a:ext uri="{FF2B5EF4-FFF2-40B4-BE49-F238E27FC236}">
                <a16:creationId xmlns:a16="http://schemas.microsoft.com/office/drawing/2014/main" id="{01E04110-638F-4AA2-B11E-9F83F012321B}"/>
              </a:ext>
            </a:extLst>
          </p:cNvPr>
          <p:cNvSpPr>
            <a:spLocks noGrp="1"/>
          </p:cNvSpPr>
          <p:nvPr/>
        </p:nvSpPr>
        <p:spPr>
          <a:xfrm>
            <a:off x="590550" y="1390650"/>
            <a:ext cx="10953750" cy="876300"/>
          </a:xfrm>
          <a:prstGeom prst="rect">
            <a:avLst/>
          </a:prstGeom>
          <a:noFill/>
          <a:ln w="0">
            <a:noFill/>
          </a:ln>
        </p:spPr>
        <p:txBody>
          <a:bodyPr>
            <a:noAutofit/>
          </a:bodyPr>
          <a:lstStyle/>
          <a:p>
            <a:pPr>
              <a:defRPr sz="1875" b="0">
                <a:solidFill>
                  <a:srgbClr val="153442"/>
                </a:solidFill>
                <a:latin typeface="Arial"/>
                <a:ea typeface="Arial"/>
                <a:cs typeface="Arial"/>
              </a:defRPr>
            </a:pPr>
            <a:r>
              <a:rPr sz="1875" b="0">
                <a:solidFill>
                  <a:srgbClr val="153442"/>
                </a:solidFill>
                <a:latin typeface="Arial"/>
                <a:ea typeface="Arial"/>
                <a:cs typeface="Arial"/>
              </a:rPr>
              <a:t>Dry Bean (2020). UCI Machine Learning Repository. CC BY 4.0.</a:t>
            </a:r>
          </a:p>
          <a:p>
            <a:pPr>
              <a:defRPr sz="1875" b="0">
                <a:solidFill>
                  <a:srgbClr val="153442"/>
                </a:solidFill>
                <a:latin typeface="Arial"/>
                <a:ea typeface="Arial"/>
                <a:cs typeface="Arial"/>
              </a:defRPr>
            </a:pPr>
            <a:r>
              <a:rPr sz="1875" b="0">
                <a:solidFill>
                  <a:srgbClr val="153442"/>
                </a:solidFill>
                <a:latin typeface="Arial"/>
                <a:ea typeface="Arial"/>
                <a:cs typeface="Arial"/>
              </a:rPr>
              <a:t>https://doi.org/10.24432/C50S4B</a:t>
            </a:r>
          </a:p>
        </p:txBody>
      </p:sp>
      <p:sp>
        <p:nvSpPr>
          <p:cNvPr id="5" name="Rectangle 4">
            <a:extLst>
              <a:ext uri="{FF2B5EF4-FFF2-40B4-BE49-F238E27FC236}">
                <a16:creationId xmlns:a16="http://schemas.microsoft.com/office/drawing/2014/main" id="{43F1121E-D896-4D64-9A84-FAD19CA6501D}"/>
              </a:ext>
            </a:extLst>
          </p:cNvPr>
          <p:cNvSpPr>
            <a:spLocks noGrp="1"/>
          </p:cNvSpPr>
          <p:nvPr/>
        </p:nvSpPr>
        <p:spPr>
          <a:xfrm>
            <a:off x="590550" y="3781425"/>
            <a:ext cx="10953750" cy="790575"/>
          </a:xfrm>
          <a:prstGeom prst="rect">
            <a:avLst/>
          </a:prstGeom>
          <a:noFill/>
          <a:ln w="0">
            <a:noFill/>
          </a:ln>
        </p:spPr>
        <p:txBody>
          <a:bodyPr>
            <a:noAutofit/>
          </a:bodyPr>
          <a:lstStyle/>
          <a:p>
            <a:pPr>
              <a:defRPr sz="1875" b="0">
                <a:solidFill>
                  <a:srgbClr val="153442"/>
                </a:solidFill>
                <a:latin typeface="Arial"/>
                <a:ea typeface="Arial"/>
                <a:cs typeface="Arial"/>
              </a:defRPr>
            </a:pPr>
            <a:r>
              <a:rPr sz="1875" b="0" dirty="0" err="1">
                <a:solidFill>
                  <a:srgbClr val="153442"/>
                </a:solidFill>
                <a:latin typeface="Arial"/>
                <a:ea typeface="Arial"/>
                <a:cs typeface="Arial"/>
              </a:rPr>
              <a:t>PyTorch</a:t>
            </a:r>
            <a:r>
              <a:rPr sz="1875" b="0" dirty="0">
                <a:solidFill>
                  <a:srgbClr val="153442"/>
                </a:solidFill>
                <a:latin typeface="Arial"/>
                <a:ea typeface="Arial"/>
                <a:cs typeface="Arial"/>
              </a:rPr>
              <a:t>: </a:t>
            </a:r>
            <a:r>
              <a:rPr sz="1875" b="0" dirty="0" err="1">
                <a:solidFill>
                  <a:srgbClr val="153442"/>
                </a:solidFill>
                <a:latin typeface="Arial"/>
                <a:ea typeface="Arial"/>
                <a:cs typeface="Arial"/>
              </a:rPr>
              <a:t>CrossEntropyLoss</a:t>
            </a:r>
            <a:r>
              <a:rPr sz="1875" b="0" dirty="0">
                <a:solidFill>
                  <a:srgbClr val="153442"/>
                </a:solidFill>
                <a:latin typeface="Arial"/>
                <a:ea typeface="Arial"/>
                <a:cs typeface="Arial"/>
              </a:rPr>
              <a:t> and Reproducibility</a:t>
            </a:r>
          </a:p>
          <a:p>
            <a:pPr>
              <a:defRPr sz="1875" b="0">
                <a:solidFill>
                  <a:srgbClr val="153442"/>
                </a:solidFill>
                <a:latin typeface="Arial"/>
                <a:ea typeface="Arial"/>
                <a:cs typeface="Arial"/>
              </a:defRPr>
            </a:pPr>
            <a:r>
              <a:rPr sz="1875" b="0" dirty="0">
                <a:solidFill>
                  <a:srgbClr val="153442"/>
                </a:solidFill>
                <a:latin typeface="Arial"/>
                <a:ea typeface="Arial"/>
                <a:cs typeface="Arial"/>
              </a:rPr>
              <a:t>docs.pytorch.org/docs/stable/</a:t>
            </a:r>
          </a:p>
        </p:txBody>
      </p:sp>
      <p:sp>
        <p:nvSpPr>
          <p:cNvPr id="6" name="Rectangle 5">
            <a:extLst>
              <a:ext uri="{FF2B5EF4-FFF2-40B4-BE49-F238E27FC236}">
                <a16:creationId xmlns:a16="http://schemas.microsoft.com/office/drawing/2014/main" id="{DD7BFF34-2E80-4673-82F0-D050D08778CE}"/>
              </a:ext>
            </a:extLst>
          </p:cNvPr>
          <p:cNvSpPr>
            <a:spLocks noGrp="1"/>
          </p:cNvSpPr>
          <p:nvPr/>
        </p:nvSpPr>
        <p:spPr>
          <a:xfrm>
            <a:off x="552450" y="2562225"/>
            <a:ext cx="10953750" cy="866775"/>
          </a:xfrm>
          <a:prstGeom prst="rect">
            <a:avLst/>
          </a:prstGeom>
          <a:noFill/>
          <a:ln w="0">
            <a:noFill/>
          </a:ln>
        </p:spPr>
        <p:txBody>
          <a:bodyPr>
            <a:noAutofit/>
          </a:bodyPr>
          <a:lstStyle/>
          <a:p>
            <a:pPr>
              <a:defRPr sz="1875" b="0">
                <a:solidFill>
                  <a:srgbClr val="153442"/>
                </a:solidFill>
                <a:latin typeface="Arial"/>
                <a:ea typeface="Arial"/>
                <a:cs typeface="Arial"/>
              </a:defRPr>
            </a:pPr>
            <a:r>
              <a:rPr sz="1875" b="0" dirty="0">
                <a:solidFill>
                  <a:srgbClr val="153442"/>
                </a:solidFill>
                <a:latin typeface="Arial"/>
                <a:ea typeface="Arial"/>
                <a:cs typeface="Arial"/>
              </a:rPr>
              <a:t>scikit-learn: </a:t>
            </a:r>
            <a:r>
              <a:rPr sz="1875" b="0" dirty="0" err="1">
                <a:solidFill>
                  <a:srgbClr val="153442"/>
                </a:solidFill>
                <a:latin typeface="Arial"/>
                <a:ea typeface="Arial"/>
                <a:cs typeface="Arial"/>
              </a:rPr>
              <a:t>StandardScaler</a:t>
            </a:r>
            <a:r>
              <a:rPr sz="1875" b="0" dirty="0">
                <a:solidFill>
                  <a:srgbClr val="153442"/>
                </a:solidFill>
                <a:latin typeface="Arial"/>
                <a:ea typeface="Arial"/>
                <a:cs typeface="Arial"/>
              </a:rPr>
              <a:t> and LogisticRegression</a:t>
            </a:r>
            <a:r>
              <a:rPr lang="fr-FR" sz="1875" b="0" dirty="0">
                <a:solidFill>
                  <a:srgbClr val="153442"/>
                </a:solidFill>
                <a:latin typeface="Arial"/>
                <a:ea typeface="Arial"/>
                <a:cs typeface="Arial"/>
              </a:rPr>
              <a:t> </a:t>
            </a:r>
          </a:p>
          <a:p>
            <a:pPr>
              <a:defRPr sz="1875" b="0">
                <a:solidFill>
                  <a:srgbClr val="153442"/>
                </a:solidFill>
                <a:latin typeface="Arial"/>
                <a:ea typeface="Arial"/>
                <a:cs typeface="Arial"/>
              </a:defRPr>
            </a:pPr>
            <a:r>
              <a:rPr sz="1875" b="0" dirty="0">
                <a:solidFill>
                  <a:srgbClr val="153442"/>
                </a:solidFill>
                <a:latin typeface="Arial"/>
                <a:ea typeface="Arial"/>
                <a:cs typeface="Arial"/>
              </a:rPr>
              <a:t>scikit-learn.org/stable/modules/classes.html</a:t>
            </a:r>
            <a:r>
              <a:rPr lang="fr-FR" sz="1875" b="0" dirty="0">
                <a:solidFill>
                  <a:srgbClr val="153442"/>
                </a:solidFill>
                <a:latin typeface="Arial"/>
                <a:ea typeface="Arial"/>
                <a:cs typeface="Arial"/>
              </a:rPr>
              <a:t>  </a:t>
            </a:r>
            <a:endParaRPr sz="1875" b="0" dirty="0">
              <a:solidFill>
                <a:srgbClr val="153442"/>
              </a:solidFill>
              <a:latin typeface="Arial"/>
              <a:ea typeface="Arial"/>
              <a:cs typeface="Arial"/>
            </a:endParaRPr>
          </a:p>
        </p:txBody>
      </p:sp>
    </p:spTree>
    <p:extLst>
      <p:ext uri="{BB962C8B-B14F-4D97-AF65-F5344CB8AC3E}">
        <p14:creationId xmlns:p14="http://schemas.microsoft.com/office/powerpoint/2010/main" val="1938660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415A3531-78E1-0F23-1B61-931E962F71BA}"/>
            </a:ext>
          </a:extLst>
        </p:cNvPr>
        <p:cNvGrpSpPr/>
        <p:nvPr/>
      </p:nvGrpSpPr>
      <p:grpSpPr>
        <a:xfrm>
          <a:off x="0" y="0"/>
          <a:ext cx="0" cy="0"/>
          <a:chOff x="0" y="0"/>
          <a:chExt cx="0" cy="0"/>
        </a:xfrm>
      </p:grpSpPr>
      <p:sp>
        <p:nvSpPr>
          <p:cNvPr id="381" name="TextBox 380">
            <a:extLst>
              <a:ext uri="{FF2B5EF4-FFF2-40B4-BE49-F238E27FC236}">
                <a16:creationId xmlns:a16="http://schemas.microsoft.com/office/drawing/2014/main" id="{101FE267-F87D-BBA2-A2F6-B9696053311C}"/>
              </a:ext>
            </a:extLst>
          </p:cNvPr>
          <p:cNvSpPr txBox="1"/>
          <p:nvPr/>
        </p:nvSpPr>
        <p:spPr>
          <a:xfrm>
            <a:off x="495354" y="2794632"/>
            <a:ext cx="5602681" cy="584775"/>
          </a:xfrm>
          <a:prstGeom prst="rect">
            <a:avLst/>
          </a:prstGeom>
          <a:noFill/>
        </p:spPr>
        <p:txBody>
          <a:bodyPr wrap="square" lIns="91440" tIns="45720" rIns="91440" bIns="45720" rtlCol="0" anchor="t">
            <a:spAutoFit/>
          </a:bodyPr>
          <a:lstStyle/>
          <a:p>
            <a:r>
              <a:rPr lang="en-US" sz="3200" dirty="0" err="1">
                <a:ln/>
                <a:latin typeface="Gama-Sans-Regular"/>
                <a:sym typeface="Gama-Sans-Light-Italic"/>
              </a:rPr>
              <a:t>Terima</a:t>
            </a:r>
            <a:r>
              <a:rPr lang="en-US" sz="3200" dirty="0">
                <a:ln/>
                <a:latin typeface="Gama-Sans-Regular"/>
                <a:sym typeface="Gama-Sans-Light-Italic"/>
              </a:rPr>
              <a:t> Kasih</a:t>
            </a:r>
          </a:p>
        </p:txBody>
      </p:sp>
      <p:sp>
        <p:nvSpPr>
          <p:cNvPr id="26" name="TextBox 6">
            <a:extLst>
              <a:ext uri="{FF2B5EF4-FFF2-40B4-BE49-F238E27FC236}">
                <a16:creationId xmlns:a16="http://schemas.microsoft.com/office/drawing/2014/main" id="{B24825BC-7B11-7FF1-AF39-E5A3BEDD0E35}"/>
              </a:ext>
            </a:extLst>
          </p:cNvPr>
          <p:cNvSpPr txBox="1">
            <a:spLocks noGrp="1" noRot="1" noMove="1" noResize="1" noEditPoints="1" noAdjustHandles="1" noChangeArrowheads="1" noChangeShapeType="1"/>
          </p:cNvSpPr>
          <p:nvPr/>
        </p:nvSpPr>
        <p:spPr>
          <a:xfrm>
            <a:off x="10153363" y="6153891"/>
            <a:ext cx="1287780" cy="320040"/>
          </a:xfrm>
          <a:prstGeom prst="rect">
            <a:avLst/>
          </a:prstGeom>
          <a:noFill/>
        </p:spPr>
        <p:txBody>
          <a:bodyPr wrap="none" rtlCol="0">
            <a:spAutoFit/>
          </a:bodyPr>
          <a:lstStyle/>
          <a:p>
            <a:pPr algn="l"/>
            <a:r>
              <a:rPr lang="en-US" sz="1500" spc="300" baseline="0" dirty="0" err="1">
                <a:ln/>
                <a:solidFill>
                  <a:srgbClr val="0E426B"/>
                </a:solidFill>
                <a:latin typeface="Gama-Sans-Bold"/>
                <a:sym typeface="Gama-Sans-Bold"/>
                <a:rtl val="0"/>
              </a:rPr>
              <a:t>ugm.ac.id</a:t>
            </a:r>
            <a:endParaRPr lang="en-US" sz="1500" spc="300" baseline="0" dirty="0">
              <a:ln/>
              <a:solidFill>
                <a:srgbClr val="0E426B"/>
              </a:solidFill>
              <a:latin typeface="Gama-Sans-Bold"/>
              <a:sym typeface="Gama-Sans-Bold"/>
              <a:rtl val="0"/>
            </a:endParaRPr>
          </a:p>
        </p:txBody>
      </p:sp>
      <p:pic>
        <p:nvPicPr>
          <p:cNvPr id="29" name="Gambar 28" descr="Sebuah gambar berisi teks, Font, Grafis, desain grafis&#10;&#10;Konten yang dihasilkan AI mungkin salah.">
            <a:extLst>
              <a:ext uri="{FF2B5EF4-FFF2-40B4-BE49-F238E27FC236}">
                <a16:creationId xmlns:a16="http://schemas.microsoft.com/office/drawing/2014/main" id="{CA677186-D9D8-6519-54A1-758D4625282F}"/>
              </a:ext>
            </a:extLst>
          </p:cNvPr>
          <p:cNvPicPr>
            <a:picLocks noGrp="1" noRot="1" noChangeAspect="1" noMove="1" noResize="1" noEditPoints="1" noAdjustHandles="1" noChangeArrowheads="1" noChangeShapeType="1" noCrop="1"/>
          </p:cNvPicPr>
          <p:nvPr/>
        </p:nvPicPr>
        <p:blipFill>
          <a:blip r:embed="rId4"/>
          <a:stretch>
            <a:fillRect/>
          </a:stretch>
        </p:blipFill>
        <p:spPr>
          <a:xfrm>
            <a:off x="593651" y="565690"/>
            <a:ext cx="2622698" cy="742610"/>
          </a:xfrm>
          <a:prstGeom prst="rect">
            <a:avLst/>
          </a:prstGeom>
        </p:spPr>
      </p:pic>
      <p:sp>
        <p:nvSpPr>
          <p:cNvPr id="5" name="TextBox 372">
            <a:extLst>
              <a:ext uri="{FF2B5EF4-FFF2-40B4-BE49-F238E27FC236}">
                <a16:creationId xmlns:a16="http://schemas.microsoft.com/office/drawing/2014/main" id="{5AC0CECE-6BCB-BEE1-A0FB-3034B67F4BBD}"/>
              </a:ext>
            </a:extLst>
          </p:cNvPr>
          <p:cNvSpPr txBox="1">
            <a:spLocks noGrp="1" noRot="1" noMove="1" noResize="1" noEditPoints="1" noAdjustHandles="1" noChangeArrowheads="1" noChangeShapeType="1"/>
          </p:cNvSpPr>
          <p:nvPr/>
        </p:nvSpPr>
        <p:spPr>
          <a:xfrm>
            <a:off x="494166" y="5911993"/>
            <a:ext cx="7343814" cy="800219"/>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500" b="1" i="1" err="1">
                <a:ln/>
                <a:latin typeface="Gama-Sans-Bold"/>
                <a:sym typeface="Gama-Sans-Regular"/>
              </a:rPr>
              <a:t>Merakyat</a:t>
            </a:r>
            <a:r>
              <a:rPr lang="en-US" sz="1500" b="1" i="1">
                <a:ln/>
                <a:latin typeface="Gama-Sans-Bold"/>
                <a:sym typeface="Gama-Sans-Regular"/>
              </a:rPr>
              <a:t>, </a:t>
            </a:r>
            <a:r>
              <a:rPr lang="en-US" sz="1500" b="1" i="1" err="1">
                <a:ln/>
                <a:latin typeface="Gama-Sans-Bold"/>
                <a:sym typeface="Gama-Sans-Regular"/>
              </a:rPr>
              <a:t>Mandiri</a:t>
            </a:r>
            <a:r>
              <a:rPr lang="en-US" sz="1500" b="1" i="1">
                <a:ln/>
                <a:latin typeface="Gama-Sans-Bold"/>
                <a:sym typeface="Gama-Sans-Regular"/>
              </a:rPr>
              <a:t>, </a:t>
            </a:r>
            <a:r>
              <a:rPr lang="en-US" sz="1500" b="1" i="1" err="1">
                <a:ln/>
                <a:latin typeface="Gama-Sans-Bold"/>
                <a:sym typeface="Gama-Sans-Regular"/>
              </a:rPr>
              <a:t>Berkelanjutan</a:t>
            </a:r>
            <a:endParaRPr lang="en-US" sz="1500" i="1">
              <a:ln/>
              <a:latin typeface="Calibri" panose="020F0502020204030204"/>
              <a:ea typeface="Calibri" panose="020F0502020204030204"/>
              <a:cs typeface="Calibri" panose="020F0502020204030204"/>
            </a:endParaRPr>
          </a:p>
          <a:p>
            <a:r>
              <a:rPr lang="en-US" sz="1550" b="1" i="1">
                <a:ln/>
                <a:ea typeface="+mn-lt"/>
                <a:cs typeface="+mn-lt"/>
                <a:sym typeface="Gama-Sans-Regular"/>
              </a:rPr>
              <a:t>Inclusive, </a:t>
            </a:r>
            <a:r>
              <a:rPr lang="en-US" sz="1550" b="1" i="1">
                <a:ln/>
                <a:ea typeface="+mn-lt"/>
                <a:cs typeface="+mn-lt"/>
              </a:rPr>
              <a:t>Self-Reliant, Sustainable </a:t>
            </a:r>
            <a:endParaRPr lang="en-US" sz="1550" i="1">
              <a:ea typeface="Calibri"/>
              <a:cs typeface="Calibri"/>
            </a:endParaRPr>
          </a:p>
          <a:p>
            <a:endParaRPr lang="en-US" sz="1500" b="1" i="1">
              <a:ln/>
              <a:latin typeface="Calibri"/>
              <a:ea typeface="Calibri"/>
              <a:cs typeface="Calibri"/>
            </a:endParaRPr>
          </a:p>
        </p:txBody>
      </p:sp>
      <p:sp>
        <p:nvSpPr>
          <p:cNvPr id="14" name="Freeform 13">
            <a:extLst>
              <a:ext uri="{FF2B5EF4-FFF2-40B4-BE49-F238E27FC236}">
                <a16:creationId xmlns:a16="http://schemas.microsoft.com/office/drawing/2014/main" id="{A0AC745D-DDF8-6271-D737-9B365F973A3A}"/>
              </a:ext>
            </a:extLst>
          </p:cNvPr>
          <p:cNvSpPr>
            <a:spLocks noGrp="1" noRot="1" noMove="1" noResize="1" noEditPoints="1" noAdjustHandles="1" noChangeArrowheads="1" noChangeShapeType="1"/>
          </p:cNvSpPr>
          <p:nvPr/>
        </p:nvSpPr>
        <p:spPr>
          <a:xfrm>
            <a:off x="12006597" y="0"/>
            <a:ext cx="205098" cy="3904921"/>
          </a:xfrm>
          <a:custGeom>
            <a:avLst/>
            <a:gdLst>
              <a:gd name="connsiteX0" fmla="*/ 0 w 177926"/>
              <a:gd name="connsiteY0" fmla="*/ 0 h 1672272"/>
              <a:gd name="connsiteX1" fmla="*/ 177927 w 177926"/>
              <a:gd name="connsiteY1" fmla="*/ 0 h 1672272"/>
              <a:gd name="connsiteX2" fmla="*/ 177927 w 177926"/>
              <a:gd name="connsiteY2" fmla="*/ 1672273 h 1672272"/>
              <a:gd name="connsiteX3" fmla="*/ 0 w 177926"/>
              <a:gd name="connsiteY3" fmla="*/ 1672273 h 1672272"/>
            </a:gdLst>
            <a:ahLst/>
            <a:cxnLst>
              <a:cxn ang="0">
                <a:pos x="connsiteX0" y="connsiteY0"/>
              </a:cxn>
              <a:cxn ang="0">
                <a:pos x="connsiteX1" y="connsiteY1"/>
              </a:cxn>
              <a:cxn ang="0">
                <a:pos x="connsiteX2" y="connsiteY2"/>
              </a:cxn>
              <a:cxn ang="0">
                <a:pos x="connsiteX3" y="connsiteY3"/>
              </a:cxn>
            </a:cxnLst>
            <a:rect l="l" t="t" r="r" b="b"/>
            <a:pathLst>
              <a:path w="177926" h="1672272">
                <a:moveTo>
                  <a:pt x="0" y="0"/>
                </a:moveTo>
                <a:lnTo>
                  <a:pt x="177927" y="0"/>
                </a:lnTo>
                <a:lnTo>
                  <a:pt x="177927" y="1672273"/>
                </a:lnTo>
                <a:lnTo>
                  <a:pt x="0" y="1672273"/>
                </a:lnTo>
                <a:close/>
              </a:path>
            </a:pathLst>
          </a:custGeom>
          <a:solidFill>
            <a:srgbClr val="FDD402"/>
          </a:solidFill>
          <a:ln w="6350" cap="flat">
            <a:noFill/>
            <a:prstDash val="solid"/>
            <a:miter/>
          </a:ln>
        </p:spPr>
        <p:txBody>
          <a:bodyPr rtlCol="0" anchor="ctr"/>
          <a:lstStyle/>
          <a:p>
            <a:endParaRPr lang="en-US"/>
          </a:p>
        </p:txBody>
      </p:sp>
      <p:sp>
        <p:nvSpPr>
          <p:cNvPr id="15" name="Freeform 8">
            <a:extLst>
              <a:ext uri="{FF2B5EF4-FFF2-40B4-BE49-F238E27FC236}">
                <a16:creationId xmlns:a16="http://schemas.microsoft.com/office/drawing/2014/main" id="{3D41BFAF-D22B-C4B6-FD16-84AFFBEB6A23}"/>
              </a:ext>
            </a:extLst>
          </p:cNvPr>
          <p:cNvSpPr>
            <a:spLocks noGrp="1" noRot="1" noMove="1" noResize="1" noEditPoints="1" noAdjustHandles="1" noChangeArrowheads="1" noChangeShapeType="1"/>
          </p:cNvSpPr>
          <p:nvPr/>
        </p:nvSpPr>
        <p:spPr>
          <a:xfrm>
            <a:off x="12006597" y="3897744"/>
            <a:ext cx="204766" cy="2970372"/>
          </a:xfrm>
          <a:custGeom>
            <a:avLst/>
            <a:gdLst>
              <a:gd name="connsiteX0" fmla="*/ 0 w 177926"/>
              <a:gd name="connsiteY0" fmla="*/ 0 h 1672272"/>
              <a:gd name="connsiteX1" fmla="*/ 177927 w 177926"/>
              <a:gd name="connsiteY1" fmla="*/ 0 h 1672272"/>
              <a:gd name="connsiteX2" fmla="*/ 177927 w 177926"/>
              <a:gd name="connsiteY2" fmla="*/ 1672273 h 1672272"/>
              <a:gd name="connsiteX3" fmla="*/ 0 w 177926"/>
              <a:gd name="connsiteY3" fmla="*/ 1672273 h 1672272"/>
            </a:gdLst>
            <a:ahLst/>
            <a:cxnLst>
              <a:cxn ang="0">
                <a:pos x="connsiteX0" y="connsiteY0"/>
              </a:cxn>
              <a:cxn ang="0">
                <a:pos x="connsiteX1" y="connsiteY1"/>
              </a:cxn>
              <a:cxn ang="0">
                <a:pos x="connsiteX2" y="connsiteY2"/>
              </a:cxn>
              <a:cxn ang="0">
                <a:pos x="connsiteX3" y="connsiteY3"/>
              </a:cxn>
            </a:cxnLst>
            <a:rect l="l" t="t" r="r" b="b"/>
            <a:pathLst>
              <a:path w="177926" h="1672272">
                <a:moveTo>
                  <a:pt x="0" y="0"/>
                </a:moveTo>
                <a:lnTo>
                  <a:pt x="177927" y="0"/>
                </a:lnTo>
                <a:lnTo>
                  <a:pt x="177927" y="1672273"/>
                </a:lnTo>
                <a:lnTo>
                  <a:pt x="0" y="1672273"/>
                </a:lnTo>
                <a:close/>
              </a:path>
            </a:pathLst>
          </a:custGeom>
          <a:solidFill>
            <a:srgbClr val="01416B"/>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2906021234"/>
      </p:ext>
    </p:extLst>
  </p:cSld>
  <p:clrMapOvr>
    <a:masterClrMapping/>
  </p:clrMapOvr>
</p:sld>
</file>

<file path=ppt/theme/theme1.xml><?xml version="1.0" encoding="utf-8"?>
<a:theme xmlns:a="http://schemas.openxmlformats.org/drawingml/2006/main" name="Thè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hème1" id="{20D2A471-EF86-4AB3-9617-BABE0E4A0028}" vid="{EEBBFE08-D834-4141-BADE-7E51B75E2C5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Thème1</Template>
  <TotalTime>310</TotalTime>
  <Words>2770</Words>
  <Application>Microsoft Office PowerPoint</Application>
  <PresentationFormat>Grand écran</PresentationFormat>
  <Paragraphs>304</Paragraphs>
  <Slides>13</Slides>
  <Notes>12</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13</vt:i4>
      </vt:variant>
    </vt:vector>
  </HeadingPairs>
  <TitlesOfParts>
    <vt:vector size="20" baseType="lpstr">
      <vt:lpstr>Aptos</vt:lpstr>
      <vt:lpstr>Arial</vt:lpstr>
      <vt:lpstr>Calibri</vt:lpstr>
      <vt:lpstr>Gama-Sans</vt:lpstr>
      <vt:lpstr>Gama-Sans-Bold</vt:lpstr>
      <vt:lpstr>Gama-Sans-Regular</vt:lpstr>
      <vt:lpstr>Thème1</vt:lpstr>
      <vt:lpstr>Présentation PowerPoint</vt:lpstr>
      <vt:lpstr>Présentation PowerPoint</vt:lpstr>
      <vt:lpstr>Classifying seven bean varieties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Jaza Akmala</dc:creator>
  <cp:lastModifiedBy>Edgar PUYOU-BRACQ</cp:lastModifiedBy>
  <cp:revision>7</cp:revision>
  <dcterms:created xsi:type="dcterms:W3CDTF">2026-07-15T07:47:35Z</dcterms:created>
  <dcterms:modified xsi:type="dcterms:W3CDTF">2026-10-15T09:00:30Z</dcterms:modified>
</cp:coreProperties>
</file>