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1.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bc73d0f1437a4e1b" /><Relationship Type="http://schemas.openxmlformats.org/officeDocument/2006/relationships/extended-properties" Target="/docProps/app.xml" Id="R407da977f8524be5" /><Relationship Type="http://schemas.openxmlformats.org/officeDocument/2006/relationships/officeDocument" Target="/ppt/presentation.xml" Id="R099e20be9db54756" /></Relationships>
</file>

<file path=ppt/presentation.xml><?xml version="1.0" encoding="utf-8"?>
<p:presentation xmlns:p="http://schemas.openxmlformats.org/presentationml/2006/main">
  <p:sldMasterIdLst>
    <p:sldMasterId xmlns:r="http://schemas.openxmlformats.org/officeDocument/2006/relationships" id="2147483648" r:id="Re7a19d8a1eeb4d60"/>
  </p:sldMasterIdLst>
  <p:notesMasterIdLst>
    <p:notesMasterId xmlns:r="http://schemas.openxmlformats.org/officeDocument/2006/relationships" r:id="Rfb34b72a4c464fbb"/>
  </p:notesMasterIdLst>
  <p:sldIdLst>
    <p:sldId xmlns:r="http://schemas.openxmlformats.org/officeDocument/2006/relationships" id="256" r:id="R7de51bfa4a1d4abb"/>
    <p:sldId xmlns:r="http://schemas.openxmlformats.org/officeDocument/2006/relationships" id="257" r:id="R373c48aa1b544d92"/>
    <p:sldId xmlns:r="http://schemas.openxmlformats.org/officeDocument/2006/relationships" id="258" r:id="Ra70690492c914867"/>
    <p:sldId xmlns:r="http://schemas.openxmlformats.org/officeDocument/2006/relationships" id="259" r:id="Re63e24400dc74578"/>
    <p:sldId xmlns:r="http://schemas.openxmlformats.org/officeDocument/2006/relationships" id="260" r:id="R81e89d5cd0044c95"/>
    <p:sldId xmlns:r="http://schemas.openxmlformats.org/officeDocument/2006/relationships" id="261" r:id="Rf90c99c87a854542"/>
    <p:sldId xmlns:r="http://schemas.openxmlformats.org/officeDocument/2006/relationships" id="262" r:id="R66daec1f19fb476a"/>
    <p:sldId xmlns:r="http://schemas.openxmlformats.org/officeDocument/2006/relationships" id="263" r:id="R28843343ea5c4165"/>
    <p:sldId xmlns:r="http://schemas.openxmlformats.org/officeDocument/2006/relationships" id="264" r:id="R4833ec3503644f1f"/>
    <p:sldId xmlns:r="http://schemas.openxmlformats.org/officeDocument/2006/relationships" id="265" r:id="R1d629781329c4d63"/>
    <p:sldId xmlns:r="http://schemas.openxmlformats.org/officeDocument/2006/relationships" id="266" r:id="R48d3915e51fb44fb"/>
    <p:sldId xmlns:r="http://schemas.openxmlformats.org/officeDocument/2006/relationships" id="267" r:id="R05c2bc44b015409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0d6b9eefc984c1a" /><Relationship Type="http://schemas.openxmlformats.org/officeDocument/2006/relationships/slideMaster" Target="/ppt/slideMasters/slideMaster1.xml" Id="Re7a19d8a1eeb4d60" /><Relationship Type="http://schemas.openxmlformats.org/officeDocument/2006/relationships/notesMaster" Target="/ppt/notesMasters/notesMaster1.xml" Id="Rfb34b72a4c464fbb" /><Relationship Type="http://schemas.openxmlformats.org/officeDocument/2006/relationships/presProps" Target="/ppt/presProps.xml" Id="R333afcdb206742fd" /><Relationship Type="http://schemas.openxmlformats.org/officeDocument/2006/relationships/tableStyles" Target="/ppt/tableStyles.xml" Id="Rbc9b074b65454d86" /><Relationship Type="http://schemas.openxmlformats.org/officeDocument/2006/relationships/slide" Target="/ppt/slides/slide1.xml" Id="R7de51bfa4a1d4abb" /><Relationship Type="http://schemas.openxmlformats.org/officeDocument/2006/relationships/slide" Target="/ppt/slides/slide2.xml" Id="R373c48aa1b544d92" /><Relationship Type="http://schemas.openxmlformats.org/officeDocument/2006/relationships/slide" Target="/ppt/slides/slide3.xml" Id="Ra70690492c914867" /><Relationship Type="http://schemas.openxmlformats.org/officeDocument/2006/relationships/slide" Target="/ppt/slides/slide4.xml" Id="Re63e24400dc74578" /><Relationship Type="http://schemas.openxmlformats.org/officeDocument/2006/relationships/slide" Target="/ppt/slides/slide5.xml" Id="R81e89d5cd0044c95" /><Relationship Type="http://schemas.openxmlformats.org/officeDocument/2006/relationships/slide" Target="/ppt/slides/slide6.xml" Id="Rf90c99c87a854542" /><Relationship Type="http://schemas.openxmlformats.org/officeDocument/2006/relationships/slide" Target="/ppt/slides/slide7.xml" Id="R66daec1f19fb476a" /><Relationship Type="http://schemas.openxmlformats.org/officeDocument/2006/relationships/slide" Target="/ppt/slides/slide8.xml" Id="R28843343ea5c4165" /><Relationship Type="http://schemas.openxmlformats.org/officeDocument/2006/relationships/slide" Target="/ppt/slides/slide9.xml" Id="R4833ec3503644f1f" /><Relationship Type="http://schemas.openxmlformats.org/officeDocument/2006/relationships/slide" Target="/ppt/slides/slide10.xml" Id="R1d629781329c4d63" /><Relationship Type="http://schemas.openxmlformats.org/officeDocument/2006/relationships/slide" Target="/ppt/slides/slide11.xml" Id="R48d3915e51fb44fb" /><Relationship Type="http://schemas.openxmlformats.org/officeDocument/2006/relationships/slide" Target="/ppt/slides/slide12.xml" Id="R05c2bc44b015409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1f3482d56cb4a9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207c19af5be4a95" /><Relationship Type="http://schemas.openxmlformats.org/officeDocument/2006/relationships/notesMaster" Target="/ppt/notesMasters/notesMaster1.xml" Id="R0d797db7bff441dd" /></Relationships>
</file>

<file path=ppt/notesSlides/_rels/notesSlide2.xml.rels>&#65279;<?xml version="1.0" encoding="utf-8"?><Relationships xmlns="http://schemas.openxmlformats.org/package/2006/relationships"><Relationship Type="http://schemas.openxmlformats.org/officeDocument/2006/relationships/slide" Target="/ppt/slides/slide2.xml" Id="R5a2effe65bc347df" /><Relationship Type="http://schemas.openxmlformats.org/officeDocument/2006/relationships/notesMaster" Target="/ppt/notesMasters/notesMaster1.xml" Id="R89f9dfbe9fa44274" /></Relationships>
</file>

<file path=ppt/notesSlides/_rels/notesSlide3.xml.rels>&#65279;<?xml version="1.0" encoding="utf-8"?><Relationships xmlns="http://schemas.openxmlformats.org/package/2006/relationships"><Relationship Type="http://schemas.openxmlformats.org/officeDocument/2006/relationships/slide" Target="/ppt/slides/slide3.xml" Id="Rf254535d6a644f92" /><Relationship Type="http://schemas.openxmlformats.org/officeDocument/2006/relationships/notesMaster" Target="/ppt/notesMasters/notesMaster1.xml" Id="R9c4cad0d733548ec" /></Relationships>
</file>

<file path=ppt/notesSlides/_rels/notesSlide4.xml.rels>&#65279;<?xml version="1.0" encoding="utf-8"?><Relationships xmlns="http://schemas.openxmlformats.org/package/2006/relationships"><Relationship Type="http://schemas.openxmlformats.org/officeDocument/2006/relationships/slide" Target="/ppt/slides/slide4.xml" Id="R5568e895ee464a3b" /><Relationship Type="http://schemas.openxmlformats.org/officeDocument/2006/relationships/notesMaster" Target="/ppt/notesMasters/notesMaster1.xml" Id="R589808a57aae45be" /></Relationships>
</file>

<file path=ppt/notesSlides/_rels/notesSlide5.xml.rels>&#65279;<?xml version="1.0" encoding="utf-8"?><Relationships xmlns="http://schemas.openxmlformats.org/package/2006/relationships"><Relationship Type="http://schemas.openxmlformats.org/officeDocument/2006/relationships/slide" Target="/ppt/slides/slide5.xml" Id="Rc64fa03fd8b44397" /><Relationship Type="http://schemas.openxmlformats.org/officeDocument/2006/relationships/notesMaster" Target="/ppt/notesMasters/notesMaster1.xml" Id="Re01aac80113548e0" /></Relationships>
</file>

<file path=ppt/notesSlides/_rels/notesSlide6.xml.rels>&#65279;<?xml version="1.0" encoding="utf-8"?><Relationships xmlns="http://schemas.openxmlformats.org/package/2006/relationships"><Relationship Type="http://schemas.openxmlformats.org/officeDocument/2006/relationships/slide" Target="/ppt/slides/slide6.xml" Id="Rbd2cd9fabd394f6e" /><Relationship Type="http://schemas.openxmlformats.org/officeDocument/2006/relationships/notesMaster" Target="/ppt/notesMasters/notesMaster1.xml" Id="R34c3f6e6d6f3458e" /></Relationships>
</file>

<file path=ppt/notesSlides/_rels/notesSlide7.xml.rels>&#65279;<?xml version="1.0" encoding="utf-8"?><Relationships xmlns="http://schemas.openxmlformats.org/package/2006/relationships"><Relationship Type="http://schemas.openxmlformats.org/officeDocument/2006/relationships/slide" Target="/ppt/slides/slide7.xml" Id="Rb6174f0d71c1417c" /><Relationship Type="http://schemas.openxmlformats.org/officeDocument/2006/relationships/notesMaster" Target="/ppt/notesMasters/notesMaster1.xml" Id="R22c11196e75b4b7f" /></Relationships>
</file>

<file path=ppt/notesSlides/_rels/notesSlide8.xml.rels>&#65279;<?xml version="1.0" encoding="utf-8"?><Relationships xmlns="http://schemas.openxmlformats.org/package/2006/relationships"><Relationship Type="http://schemas.openxmlformats.org/officeDocument/2006/relationships/slide" Target="/ppt/slides/slide8.xml" Id="R1223d63587264796" /><Relationship Type="http://schemas.openxmlformats.org/officeDocument/2006/relationships/notesMaster" Target="/ppt/notesMasters/notesMaster1.xml" Id="R012a2bba35604ab5" /></Relationships>
</file>

<file path=ppt/notesSlides/_rels/notesSlide9.xml.rels>&#65279;<?xml version="1.0" encoding="utf-8"?><Relationships xmlns="http://schemas.openxmlformats.org/package/2006/relationships"><Relationship Type="http://schemas.openxmlformats.org/officeDocument/2006/relationships/slide" Target="/ppt/slides/slide9.xml" Id="R9f13392d2ad444a0" /><Relationship Type="http://schemas.openxmlformats.org/officeDocument/2006/relationships/notesMaster" Target="/ppt/notesMasters/notesMaster1.xml" Id="R331e9808d768414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49279ba5bde4370" /><Relationship Type="http://schemas.openxmlformats.org/officeDocument/2006/relationships/notesMaster" Target="/ppt/notesMasters/notesMaster1.xml" Id="R38ebcd9d7ba941aa"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47c64049a274bdc" /><Relationship Type="http://schemas.openxmlformats.org/officeDocument/2006/relationships/notesMaster" Target="/ppt/notesMasters/notesMaster1.xml" Id="Rdb84e1d403e74f07"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7dbc42f25ad41f7" /><Relationship Type="http://schemas.openxmlformats.org/officeDocument/2006/relationships/notesMaster" Target="/ppt/notesMasters/notesMaster1.xml" Id="Rf90bd901ff654d8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Good morning. We are [introduce all four names]. Our project classifies dry bean varieties using small neural networks. The input is a set of measured size and shape features, and the output is one of seven varieties. We use a public dataset and compare a small MLP with a two-hidden-layer MLP under a compact set of training choices. Our focus is a clear experiment that we can reproduce and explain, rather than a large architecture.</a:t>
            </a:r>
          </a:p>
          <a:p xmlns:a="http://schemas.openxmlformats.org/drawingml/2006/main">
            <a:r>
              <a:t/>
            </a:r>
          </a:p>
          <a:p xmlns:a="http://schemas.openxmlformats.org/drawingml/2006/main">
            <a:r>
              <a:t>Member 1, approximately 35 seconds.</a:t>
            </a:r>
          </a:p>
          <a:p xmlns:a="http://schemas.openxmlformats.org/drawingml/2006/main">
            <a:r>
              <a:t>Assignment: 4.2. Group Mini Project.pdf, page 1. Measured results: Dry_Bean_Project.ipynb and results CSVs.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Our proposed work allocation has four parts. Member one handles the problem, dataset and preprocessing. Member two handles model architecture and training. Member three handles experiments and error analysis. Member four handles documentation, presentation and reproducibility. We will adjust these entries to reflect our actual contributions. All members should run the notebook and understand the model-selection rule, because the evaluation belongs to the whole group.</a:t>
            </a:r>
          </a:p>
          <a:p xmlns:a="http://schemas.openxmlformats.org/drawingml/2006/main">
            <a:r>
              <a:t/>
            </a:r>
          </a:p>
          <a:p xmlns:a="http://schemas.openxmlformats.org/drawingml/2006/main">
            <a:r>
              <a:t>Member 1, approximately 35 seconds.</a:t>
            </a:r>
          </a:p>
          <a:p xmlns:a="http://schemas.openxmlformats.org/drawingml/2006/main">
            <a:r>
              <a:t>Assignment: 4.2. Group Mini Project.pdf, page 1. Measured results: Dry_Bean_Project.ipynb and results CSVs.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problem is supervised classification of seven dry bean varieties. The data creators measured sixteen features from segmented bean images. Examples include area, perimeter, axis lengths and compactness. Similar varieties can overlap in these measurements, which makes classification more interesting than applying one simple threshold. A classifier could support a sorting workflow, but we do not claim to build a complete sorting machine. We receive numerical features rather than original photographs, so an MLP is a natural model. A CNN would add an unnecessary spatial assumption to these named measurements. We ask whether a second hidden layer and changes in learning rate, dropout or class weighting improve classification. A logistic-regression reference checks how much value the neural models add over a simpler method.</a:t>
            </a:r>
          </a:p>
          <a:p xmlns:a="http://schemas.openxmlformats.org/drawingml/2006/main">
            <a:r>
              <a:t/>
            </a:r>
          </a:p>
          <a:p xmlns:a="http://schemas.openxmlformats.org/drawingml/2006/main">
            <a:r>
              <a:t>Member 1, approximately 65 seconds.</a:t>
            </a:r>
          </a:p>
          <a:p xmlns:a="http://schemas.openxmlformats.org/drawingml/2006/main">
            <a:r>
              <a:t>Assignment: 4.2. Group Mini Project.pdf, page 1. Measured results: Dry_Bean_Project.ipynb and results CSVs.</a:t>
            </a:r>
          </a:p>
          <a:p xmlns:a="http://schemas.openxmlformats.org/drawingml/2006/main">
            <a:r>
              <a:t>Dataset provenance: UCI Dry Bean (2020), https://doi.org/10.24432/C50S4B , CC BY 4.0.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public UCI Dry Bean dataset contains 13,611 rows, sixteen features and seven class labels. It has no missing values in the downloaded file. We found 68 exact duplicate rows and removed them before splitting, leaving 13,543 unique rows. The split is approximately seventy percent training, fifteen percent validation and fifteen percent test: 9,480, 2,031 and 2,032 rows respectively. Both splitting steps are stratified, so class proportions remain similar. We fit the standard scaler only on training data and reuse its means and standard deviations for validation and test. The test set does not select models. We use a fixed holdout rather than k-fold validation to keep the experiment small. The three training seeds are not three folds. We do not have acquisition-group identifiers, so this random split evaluates similar-distribution examples rather than new farms or cameras.</a:t>
            </a:r>
          </a:p>
          <a:p xmlns:a="http://schemas.openxmlformats.org/drawingml/2006/main">
            <a:r>
              <a:t/>
            </a:r>
          </a:p>
          <a:p xmlns:a="http://schemas.openxmlformats.org/drawingml/2006/main">
            <a:r>
              <a:t>Member 1, approximately 95 seconds.</a:t>
            </a:r>
          </a:p>
          <a:p xmlns:a="http://schemas.openxmlformats.org/drawingml/2006/main">
            <a:r>
              <a:t>Assignment: 4.2. Group Mini Project.pdf, page 1. Measured results: Dry_Bean_Project.ipynb and results CSVs.</a:t>
            </a:r>
          </a:p>
          <a:p xmlns:a="http://schemas.openxmlformats.org/drawingml/2006/main">
            <a:r>
              <a:t>Source: https://archive.ics.uci.edu/dataset/602/dry+bean . Cleaning and split counts were measured from the downloaded ARFF file. StandardScaler: https://scikit-learn.org/stable/modules/generated/sklearn.preprocessing.StandardScaler.html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small MLP takes sixteen standardized inputs, uses a hidden layer of thirty-two neurons with ReLU, then produces seven output logits. It has 775 trainable parameters. The larger MLP uses hidden layers of sixty-four and thirty-two neurons and has 3,399 parameters. The parameter count of a dense layer is input width times output width, plus one bias per output. ReLU introduces nonlinearity. Without it, stacked linear layers would still represent a linear transformation. The dropout variant places dropout after both hidden activations at a rate of 0.20. Dropout adds no trainable parameters and turns off during evaluation. The output consists of raw logits. Cross-entropy already performs the required log-softmax calculation, so we do not apply softmax before training loss. We use softmax only when displaying prediction confidence.</a:t>
            </a:r>
          </a:p>
          <a:p xmlns:a="http://schemas.openxmlformats.org/drawingml/2006/main">
            <a:r>
              <a:t/>
            </a:r>
          </a:p>
          <a:p xmlns:a="http://schemas.openxmlformats.org/drawingml/2006/main">
            <a:r>
              <a:t>Member 2, approximately 85 seconds.</a:t>
            </a:r>
          </a:p>
          <a:p xmlns:a="http://schemas.openxmlformats.org/drawingml/2006/main">
            <a:r>
              <a:t>Assignment: 4.2. Group Mini Project.pdf, page 1. Measured results: Dry_Bean_Project.ipynb and results CSVs.</a:t>
            </a:r>
          </a:p>
          <a:p xmlns:a="http://schemas.openxmlformats.org/drawingml/2006/main">
            <a:r>
              <a:t>Course: 4.1. MLP to Deep Learning.pdf. Dense-layer parameter counts verified by notebook. CrossEntropyLoss: https://docs.pytorch.org/docs/stable/generated/torch.nn.CrossEntropyLoss.html . LogisticRegression: https://scikit-learn.org/stable/modules/generated/sklearn.linear_model.LogisticRegression.html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compare six neural configurations with seeds seven, twenty-one and forty-two, giving eighteen runs. The small MLP is the baseline. The two-layer base model uses learning rate 0.001. Its variants use 0.0003, 0.003, dropout of 0.20, or class-weighted loss. Each variant changes one setting relative to the base. All use Adam, batches of 256 and up to forty epochs. We restore the checkpoint with the lowest unweighted validation cross-entropy and stop after eight epochs without sufficient improvement. The class-weighted variant changes only training loss. We calculate its weights from training counts, giving more influence to rare classes. Because the classes are imbalanced, we choose the neural configuration with the highest mean validation macro-F1 across seeds. Macro-F1 treats each variety equally. The fixed logistic regression uses C equal to one with no tuning and provides a separate reference.</a:t>
            </a:r>
          </a:p>
          <a:p xmlns:a="http://schemas.openxmlformats.org/drawingml/2006/main">
            <a:r>
              <a:t/>
            </a:r>
          </a:p>
          <a:p xmlns:a="http://schemas.openxmlformats.org/drawingml/2006/main">
            <a:r>
              <a:t>Member 2, approximately 100 seconds.</a:t>
            </a:r>
          </a:p>
          <a:p xmlns:a="http://schemas.openxmlformats.org/drawingml/2006/main">
            <a:r>
              <a:t>Assignment: 4.2. Group Mini Project.pdf, page 1. Measured results: Dry_Bean_Project.ipynb and results CSVs.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table reports every neural configuration. Macro-F1 is the primary comparison. The selected configuration is MLP-high-lr, with mean validation macro-F1 of 0.9367 and sample standard deviation 0.0015. Accuracy is also shown, but it is not our selection criterion. We compare the small and base MLPs for capacity, the learning-rate variants against the base for optimization, dropout against the base for regularization, and class weighting against the base for imbalance handling. This is a limited search on one split. The standard deviation describes variation from initialization and shuffling, not uncertainty across data splits. We have not established statistical significance. 9 of eighteen runs reached the forty-epoch cap, so the budget can affect the ranking. The logistic reference has validation macro-F1 0.9314, which provides useful context.</a:t>
            </a:r>
          </a:p>
          <a:p xmlns:a="http://schemas.openxmlformats.org/drawingml/2006/main">
            <a:r>
              <a:t/>
            </a:r>
          </a:p>
          <a:p xmlns:a="http://schemas.openxmlformats.org/drawingml/2006/main">
            <a:r>
              <a:t>Member 3, approximately 90 seconds.</a:t>
            </a:r>
          </a:p>
          <a:p xmlns:a="http://schemas.openxmlformats.org/drawingml/2006/main">
            <a:r>
              <a:t>Assignment: 4.2. Group Mini Project.pdf, page 1. Measured results: Dry_Bean_Project.ipynb and results CSVs.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After selecting the neural configuration, we evaluated it, the small MLP and the fixed logistic reference on the untouched test partition. The selected configuration achieved mean macro-F1 0.9373 and mean accuracy 92.44 percent. The small MLP achieved macro-F1 0.9331. The difference is +0.0043 macro-F1. The logistic reference achieved 0.9349, so the selected neural model's difference from that simpler method is +0.0024. We report this comparison even if the difference is small. The neural summaries describe three separate models, not an ensemble. The learning curve shows the predetermined seed-seven run, with the checkpoint restored from epoch 26. We use unweighted evaluation loss for both curves, including when training used class weights. We do not change hyperparameters after seeing these test scores.</a:t>
            </a:r>
          </a:p>
          <a:p xmlns:a="http://schemas.openxmlformats.org/drawingml/2006/main">
            <a:r>
              <a:t/>
            </a:r>
          </a:p>
          <a:p xmlns:a="http://schemas.openxmlformats.org/drawingml/2006/main">
            <a:r>
              <a:t>Member 3, approximately 90 seconds.</a:t>
            </a:r>
          </a:p>
          <a:p xmlns:a="http://schemas.openxmlformats.org/drawingml/2006/main">
            <a:r>
              <a:t>Assignment: 4.2. Group Mini Project.pdf, page 1. Measured results: Dry_Bean_Project.ipynb and results CSVs.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confusion matrix is for the selected neural configuration with seed seven only. Rows show actual classes and columns show predicted classes. The diagonal is correct classification. The model makes 153 mistakes out of 2,032 test rows. The largest off-diagonal counts include DERMASON as SIRA (45), SIRA as DERMASON (34), CALI as BARBUNYA (12). Raw counts can be larger for more common classes, so the notebook also reports per-class recall and F1. Recall asks how many true members of a variety were found. Precision asks how many predictions of that variety were correct. Macro-F1 averages the seven class F1 values equally. The first ten error rows include area, aspect ratio and compactness for inspection. We cannot show original photographs because the supplied archive contains feature tables. Similar measurements are a possible interpretation of confusions, not proof of the model's causal reasoning.</a:t>
            </a:r>
          </a:p>
          <a:p xmlns:a="http://schemas.openxmlformats.org/drawingml/2006/main">
            <a:r>
              <a:t/>
            </a:r>
          </a:p>
          <a:p xmlns:a="http://schemas.openxmlformats.org/drawingml/2006/main">
            <a:r>
              <a:t>Member 3, approximately 85 seconds.</a:t>
            </a:r>
          </a:p>
          <a:p xmlns:a="http://schemas.openxmlformats.org/drawingml/2006/main">
            <a:r>
              <a:t>Assignment: 4.2. Group Mini Project.pdf, page 1. Measured results: Dry_Bean_Project.ipynb and results CSVs.</a:t>
            </a:r>
          </a:p>
          <a:p xmlns:a="http://schemas.openxmlformats.org/drawingml/2006/main">
            <a:r>
              <a:t>Abbreviations preserve the same class order as the full confusion_matrix_seed7.csv. The matrix is for the selected model seed 7, not the three-seed average.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Our selected neural configuration is MLP-high-lr, with mean test macro-F1 0.9373 and accuracy 92.44 percent. Its macro-F1 differs from the small MLP by +0.0043 and from the fixed logistic reference by +0.0024. The project shows how to compare capacity and learning choices without making the code unnecessarily complicated. We should keep the scope clear. This is a classifier of pre-extracted features, not an end-to-end image system. We used one random split and three seeds, and acquisition groups are unavailable. We have not established transfer to new farms, harvests or cameras. A sensible next experiment is repeated development splits and an independent acquisition-session test. Greater model depth should be motivated by evidence rather than assumed to be better.</a:t>
            </a:r>
          </a:p>
          <a:p xmlns:a="http://schemas.openxmlformats.org/drawingml/2006/main">
            <a:r>
              <a:t/>
            </a:r>
          </a:p>
          <a:p xmlns:a="http://schemas.openxmlformats.org/drawingml/2006/main">
            <a:r>
              <a:t>Member 4, approximately 70 seconds.</a:t>
            </a:r>
          </a:p>
          <a:p xmlns:a="http://schemas.openxmlformats.org/drawingml/2006/main">
            <a:r>
              <a:t>Assignment: 4.2. Group Mini Project.pdf, page 1. Measured results: Dry_Bean_Project.ipynb and results CSVs.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shared Colab notebook contains the complete code and explanations. It downloads the public archive, cleans duplicates, creates the splits, standardizes features, trains all configurations and evaluates the frozen choice. CPU is sufficient. We save split indices, original-row mapping, software versions, dataset checksum and every run's results. The model checkpoint includes the feature order, scaler means and scales, class mapping and architecture settings, as well as learned weights. We verify that reloading it reproduces predictions. The delivered outputs were executed locally, so a Colab rerun may differ slightly with platform or version changes. We will add our actual viewable notebook link to this slide after uploading. The saved outputs are also available if live internet access fails during the presentation.</a:t>
            </a:r>
          </a:p>
          <a:p xmlns:a="http://schemas.openxmlformats.org/drawingml/2006/main">
            <a:r>
              <a:t/>
            </a:r>
          </a:p>
          <a:p xmlns:a="http://schemas.openxmlformats.org/drawingml/2006/main">
            <a:r>
              <a:t>Member 4, approximately 65 seconds.</a:t>
            </a:r>
          </a:p>
          <a:p xmlns:a="http://schemas.openxmlformats.org/drawingml/2006/main">
            <a:r>
              <a:t>Assignment: 4.2. Group Mini Project.pdf, page 1. Measured results: Dry_Bean_Project.ipynb and results CSVs.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data come from the UCI Machine Learning Repository under a Creative Commons attribution license. We also use the course materials and official PyTorch and scikit-learn documentation for implementation details. These sources support the dataset description, loss function, scaling and reproducibility choices. Thank you. We are ready for questions.</a:t>
            </a:r>
          </a:p>
          <a:p xmlns:a="http://schemas.openxmlformats.org/drawingml/2006/main">
            <a:r>
              <a:t/>
            </a:r>
          </a:p>
          <a:p xmlns:a="http://schemas.openxmlformats.org/drawingml/2006/main">
            <a:r>
              <a:t>Member 4, approximately 25 seconds.</a:t>
            </a:r>
          </a:p>
          <a:p xmlns:a="http://schemas.openxmlformats.org/drawingml/2006/main">
            <a:r>
              <a:t>Assignment: 4.2. Group Mini Project.pdf, page 1. Measured results: Dry_Bean_Project.ipynb and results CSVs.</a:t>
            </a:r>
          </a:p>
          <a:p xmlns:a="http://schemas.openxmlformats.org/drawingml/2006/main">
            <a:r>
              <a:t>Full references: https://doi.org/10.24432/C50S4B ; https://docs.pytorch.org/docs/stable/generated/torch.nn.CrossEntropyLoss.html ; https://docs.pytorch.org/docs/stable/notes/randomness.html ; https://scikit-learn.org/stable/modules/generated/sklearn.preprocessing.StandardScaler.html ; https://scikit-learn.org/stable/modules/generated/sklearn.linear_model.LogisticRegression.html . Accessed 5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37f656862a44e5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4c41bade69e4c87" /><Relationship Type="http://schemas.openxmlformats.org/officeDocument/2006/relationships/slideLayout" Target="/ppt/slideLayouts/slideLayout1.xml" Id="Rc79c60af53d4440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79c60af53d4440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0a31c98223c4379" /><Relationship Type="http://schemas.openxmlformats.org/officeDocument/2006/relationships/notesSlide" Target="/ppt/notesSlides/notesSlide1.xml" Id="Re331d2d9463c438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f91064bfc90549d8" /><Relationship Type="http://schemas.openxmlformats.org/officeDocument/2006/relationships/notesSlide" Target="/ppt/notesSlides/notesSlide2.xml" Id="R45bfd6be0dbe4aa9"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9f109378978c41bb" /><Relationship Type="http://schemas.openxmlformats.org/officeDocument/2006/relationships/notesSlide" Target="/ppt/notesSlides/notesSlide3.xml" Id="R8fa2a286dc4a45f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713958097c7e4397" /><Relationship Type="http://schemas.openxmlformats.org/officeDocument/2006/relationships/notesSlide" Target="/ppt/notesSlides/notesSlide4.xml" Id="R40527ff2fedb4093"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163401b375c24697" /><Relationship Type="http://schemas.openxmlformats.org/officeDocument/2006/relationships/notesSlide" Target="/ppt/notesSlides/notesSlide5.xml" Id="R0fb32f55519b4eb6"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5c820aee0d3b4c4a" /><Relationship Type="http://schemas.openxmlformats.org/officeDocument/2006/relationships/notesSlide" Target="/ppt/notesSlides/notesSlide6.xml" Id="Re7ece6f7f4564f64"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b13b06fb8a7e4bb8" /><Relationship Type="http://schemas.openxmlformats.org/officeDocument/2006/relationships/notesSlide" Target="/ppt/notesSlides/notesSlide7.xml" Id="R59166bb8bbaf41f2"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0b9611ee500d4fbb" /><Relationship Type="http://schemas.openxmlformats.org/officeDocument/2006/relationships/chart" Target="/ppt/slides/charts/chart1.xml" Id="R086bfd2732d54962" /><Relationship Type="http://schemas.openxmlformats.org/officeDocument/2006/relationships/notesSlide" Target="/ppt/notesSlides/notesSlide8.xml" Id="R73b976b319df4817"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cc8acab5a7e04e7b" /><Relationship Type="http://schemas.openxmlformats.org/officeDocument/2006/relationships/notesSlide" Target="/ppt/notesSlides/notesSlide9.xml" Id="Rb6727a8423364cb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30f3a0a14e31478b" /><Relationship Type="http://schemas.openxmlformats.org/officeDocument/2006/relationships/notesSlide" Target="/ppt/notesSlides/notesSlide10.xml" Id="R4757cbb5e98c4179"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77bd02232db040f9" /><Relationship Type="http://schemas.openxmlformats.org/officeDocument/2006/relationships/notesSlide" Target="/ppt/notesSlides/notesSlide11.xml" Id="R4158777306fc4f84"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08567af3f69a4453" /><Relationship Type="http://schemas.openxmlformats.org/officeDocument/2006/relationships/notesSlide" Target="/ppt/notesSlides/notesSlide12.xml" Id="R4ea7dbf6a781443f"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lineChart>
        <c:grouping val="standard"/>
        <c:ser>
          <c:idx val="0"/>
          <c:order val="0"/>
          <c:tx>
            <c:v>Training</c:v>
          </c:tx>
          <c:spPr>
            <a:ln xmlns:a="http://schemas.openxmlformats.org/drawingml/2006/main" w="28575">
              <a:solidFill>
                <a:srgbClr val="007D88"/>
              </a:solidFill>
            </a:ln>
          </c:spPr>
          <c:marker>
            <c:symbol val="none"/>
          </c:marker>
          <c:cat>
            <c:numRef>
              <c:f>'Chart Data'!$A$2:$A$35</c:f>
              <c:numCache>
                <c:formatCode>General</c:formatCode>
                <c:ptCount val="34"/>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numCache>
            </c:numRef>
          </c:cat>
          <c:val>
            <c:numRef>
              <c:f>'Chart Data'!$B$2:$B$35</c:f>
              <c:numCache>
                <c:formatCode>0.0</c:formatCode>
                <c:ptCount val="34"/>
                <c:pt idx="0">
                  <c:v>0.544812</c:v>
                </c:pt>
                <c:pt idx="1">
                  <c:v>0.249552</c:v>
                </c:pt>
                <c:pt idx="2">
                  <c:v>0.213391</c:v>
                </c:pt>
                <c:pt idx="3">
                  <c:v>0.203706</c:v>
                </c:pt>
                <c:pt idx="4">
                  <c:v>0.198779</c:v>
                </c:pt>
                <c:pt idx="5">
                  <c:v>0.203058</c:v>
                </c:pt>
                <c:pt idx="6">
                  <c:v>0.187992</c:v>
                </c:pt>
                <c:pt idx="7">
                  <c:v>0.190971</c:v>
                </c:pt>
                <c:pt idx="8">
                  <c:v>0.186444</c:v>
                </c:pt>
                <c:pt idx="9">
                  <c:v>0.190051</c:v>
                </c:pt>
                <c:pt idx="10">
                  <c:v>0.200107</c:v>
                </c:pt>
                <c:pt idx="11">
                  <c:v>0.191034</c:v>
                </c:pt>
                <c:pt idx="12">
                  <c:v>0.180987</c:v>
                </c:pt>
                <c:pt idx="13">
                  <c:v>0.178234</c:v>
                </c:pt>
                <c:pt idx="14">
                  <c:v>0.180748</c:v>
                </c:pt>
                <c:pt idx="15">
                  <c:v>0.17835</c:v>
                </c:pt>
                <c:pt idx="16">
                  <c:v>0.182465</c:v>
                </c:pt>
                <c:pt idx="17">
                  <c:v>0.178719</c:v>
                </c:pt>
                <c:pt idx="18">
                  <c:v>0.173056</c:v>
                </c:pt>
                <c:pt idx="19">
                  <c:v>0.173811</c:v>
                </c:pt>
                <c:pt idx="20">
                  <c:v>0.170711</c:v>
                </c:pt>
                <c:pt idx="21">
                  <c:v>0.174661</c:v>
                </c:pt>
                <c:pt idx="22">
                  <c:v>0.171587</c:v>
                </c:pt>
                <c:pt idx="23">
                  <c:v>0.169927</c:v>
                </c:pt>
                <c:pt idx="24">
                  <c:v>0.170142</c:v>
                </c:pt>
                <c:pt idx="25">
                  <c:v>0.16736</c:v>
                </c:pt>
                <c:pt idx="26">
                  <c:v>0.168654</c:v>
                </c:pt>
                <c:pt idx="27">
                  <c:v>0.166327</c:v>
                </c:pt>
                <c:pt idx="28">
                  <c:v>0.168745</c:v>
                </c:pt>
                <c:pt idx="29">
                  <c:v>0.166808</c:v>
                </c:pt>
                <c:pt idx="30">
                  <c:v>0.166907</c:v>
                </c:pt>
                <c:pt idx="31">
                  <c:v>0.173348</c:v>
                </c:pt>
                <c:pt idx="32">
                  <c:v>0.164338</c:v>
                </c:pt>
                <c:pt idx="33">
                  <c:v>0.169409</c:v>
                </c:pt>
              </c:numCache>
            </c:numRef>
          </c:val>
        </c:ser>
        <c:ser>
          <c:idx val="1"/>
          <c:order val="1"/>
          <c:tx>
            <c:v>Validation</c:v>
          </c:tx>
          <c:spPr>
            <a:ln xmlns:a="http://schemas.openxmlformats.org/drawingml/2006/main" w="28575">
              <a:solidFill>
                <a:srgbClr val="CD8C35"/>
              </a:solidFill>
            </a:ln>
          </c:spPr>
          <c:marker>
            <c:symbol val="none"/>
          </c:marker>
          <c:cat>
            <c:numRef>
              <c:f>'Chart Data'!$C$2:$C$35</c:f>
              <c:numCache>
                <c:formatCode>General</c:formatCode>
                <c:ptCount val="34"/>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numCache>
            </c:numRef>
          </c:cat>
          <c:val>
            <c:numRef>
              <c:f>'Chart Data'!$D$2:$D$35</c:f>
              <c:numCache>
                <c:formatCode>0.0</c:formatCode>
                <c:ptCount val="34"/>
                <c:pt idx="0">
                  <c:v>0.55324</c:v>
                </c:pt>
                <c:pt idx="1">
                  <c:v>0.268073</c:v>
                </c:pt>
                <c:pt idx="2">
                  <c:v>0.23424</c:v>
                </c:pt>
                <c:pt idx="3">
                  <c:v>0.220903</c:v>
                </c:pt>
                <c:pt idx="4">
                  <c:v>0.222041</c:v>
                </c:pt>
                <c:pt idx="5">
                  <c:v>0.229205</c:v>
                </c:pt>
                <c:pt idx="6">
                  <c:v>0.20919</c:v>
                </c:pt>
                <c:pt idx="7">
                  <c:v>0.214585</c:v>
                </c:pt>
                <c:pt idx="8">
                  <c:v>0.211531</c:v>
                </c:pt>
                <c:pt idx="9">
                  <c:v>0.219242</c:v>
                </c:pt>
                <c:pt idx="10">
                  <c:v>0.218186</c:v>
                </c:pt>
                <c:pt idx="11">
                  <c:v>0.217253</c:v>
                </c:pt>
                <c:pt idx="12">
                  <c:v>0.206607</c:v>
                </c:pt>
                <c:pt idx="13">
                  <c:v>0.204887</c:v>
                </c:pt>
                <c:pt idx="14">
                  <c:v>0.207267</c:v>
                </c:pt>
                <c:pt idx="15">
                  <c:v>0.206615</c:v>
                </c:pt>
                <c:pt idx="16">
                  <c:v>0.209059</c:v>
                </c:pt>
                <c:pt idx="17">
                  <c:v>0.208303</c:v>
                </c:pt>
                <c:pt idx="18">
                  <c:v>0.201045</c:v>
                </c:pt>
                <c:pt idx="19">
                  <c:v>0.203088</c:v>
                </c:pt>
                <c:pt idx="20">
                  <c:v>0.200486</c:v>
                </c:pt>
                <c:pt idx="21">
                  <c:v>0.205564</c:v>
                </c:pt>
                <c:pt idx="22">
                  <c:v>0.202881</c:v>
                </c:pt>
                <c:pt idx="23">
                  <c:v>0.203168</c:v>
                </c:pt>
                <c:pt idx="24">
                  <c:v>0.207192</c:v>
                </c:pt>
                <c:pt idx="25">
                  <c:v>0.199533</c:v>
                </c:pt>
                <c:pt idx="26">
                  <c:v>0.204068</c:v>
                </c:pt>
                <c:pt idx="27">
                  <c:v>0.201267</c:v>
                </c:pt>
                <c:pt idx="28">
                  <c:v>0.20696</c:v>
                </c:pt>
                <c:pt idx="29">
                  <c:v>0.200918</c:v>
                </c:pt>
                <c:pt idx="30">
                  <c:v>0.204792</c:v>
                </c:pt>
                <c:pt idx="31">
                  <c:v>0.207905</c:v>
                </c:pt>
                <c:pt idx="32">
                  <c:v>0.202343</c:v>
                </c:pt>
                <c:pt idx="33">
                  <c:v>0.209573</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Epoch</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666666"/>
                </a:solidFill>
                <a:latin typeface="Arial"/>
                <a:ea typeface="Arial"/>
                <a:cs typeface="Arial"/>
              </a:defRPr>
            </a:pPr>
          </a:p>
        </c:txPr>
        <c:crossAx val="48672768"/>
      </c:catAx>
      <c:valAx>
        <c:axId val="48672768"/>
        <c:scaling>
          <c:orientation val="minMax"/>
          <c:min val="0"/>
        </c:scaling>
        <c:delete val="0"/>
        <c:axPos val="l"/>
        <c:title>
          <c:tx>
            <c:rich>
              <a:bodyPr xmlns:a="http://schemas.openxmlformats.org/drawingml/2006/main"/>
              <a:lstStyle xmlns:a="http://schemas.openxmlformats.org/drawingml/2006/main"/>
              <a:p xmlns:a="http://schemas.openxmlformats.org/drawingml/2006/main">
                <a:r>
                  <a:rPr>
                    <a:latin typeface="Arial"/>
                    <a:ea typeface="Arial"/>
                    <a:cs typeface="Arial"/>
                  </a:rPr>
                  <a:t>Cross-entropy</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666666"/>
                </a:solidFill>
                <a:latin typeface="Arial"/>
                <a:ea typeface="Arial"/>
                <a:cs typeface="Arial"/>
              </a:defRPr>
            </a:pPr>
          </a:p>
        </c:txPr>
        <c:crossAx val="48650112"/>
        <c:crossBetween val="between"/>
      </c:valAx>
      <c:spPr>
        <a:solidFill xmlns:a="http://schemas.openxmlformats.org/drawingml/2006/main">
          <a:srgbClr val="FAF9F5"/>
        </a:solidFill>
      </c:spPr>
    </c:plotArea>
    <c:legend>
      <c:legendPos val="b"/>
      <c:overlay val="0"/>
      <c:txPr>
        <a:bodyPr xmlns:a="http://schemas.openxmlformats.org/drawingml/2006/main" anchorCtr="1"/>
        <a:lstStyle xmlns:a="http://schemas.openxmlformats.org/drawingml/2006/main"/>
        <a:p xmlns:a="http://schemas.openxmlformats.org/drawingml/2006/main">
          <a:pPr>
            <a:defRPr sz="1350">
              <a:latin typeface="Arial"/>
              <a:ea typeface="Arial"/>
              <a:cs typeface="Arial"/>
            </a:defRPr>
          </a:pPr>
        </a:p>
      </c:txPr>
    </c:legend>
    <c:plotVisOnly val="1"/>
  </c:chart>
  <c:spPr>
    <a:solidFill xmlns:a="http://schemas.openxmlformats.org/drawingml/2006/main">
      <a:srgbClr val="FAF9F5"/>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AF9F5"/>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9F69837-37B6-429B-B566-F32F56AD980B}"/>
              </a:ext>
            </a:extLst>
          </p:cNvPr>
          <p:cNvSpPr>
            <a:spLocks xmlns:a="http://schemas.openxmlformats.org/drawingml/2006/main" noGrp="1"/>
          </p:cNvSpPr>
          <p:nvPr/>
        </p:nvSpPr>
        <p:spPr>
          <a:xfrm xmlns:a="http://schemas.openxmlformats.org/drawingml/2006/main">
            <a:off x="552450" y="361950"/>
            <a:ext cx="110871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53442"/>
                </a:solidFill>
                <a:latin typeface="Arial"/>
                <a:ea typeface="Arial"/>
                <a:cs typeface="Arial"/>
              </a:defRPr>
            </a:pPr>
            <a:r>
              <a:rPr sz="3225" b="1">
                <a:solidFill>
                  <a:srgbClr val="153442"/>
                </a:solidFill>
                <a:latin typeface="Arial"/>
                <a:ea typeface="Arial"/>
                <a:cs typeface="Arial"/>
              </a:rPr>
              <a:t>Dry bean variety classification</a:t>
            </a:r>
          </a:p>
        </p:txBody>
      </p:sp>
      <p:sp>
        <p:nvSpPr>
          <p:cNvPr id="2" name="">
            <a:extLst xmlns:a="http://schemas.openxmlformats.org/drawingml/2006/main">
              <a:ext uri="{FF2B5EF4-FFF2-40B4-BE49-F238E27FC236}">
                <a16:creationId xmlns:a16="http://schemas.microsoft.com/office/drawing/2014/main" id="{FCF1657C-9FEC-4DFD-83BC-D55A6D262CE0}"/>
              </a:ext>
            </a:extLst>
          </p:cNvPr>
          <p:cNvSpPr>
            <a:spLocks xmlns:a="http://schemas.openxmlformats.org/drawingml/2006/main" noGrp="1"/>
          </p:cNvSpPr>
          <p:nvPr/>
        </p:nvSpPr>
        <p:spPr>
          <a:xfrm xmlns:a="http://schemas.openxmlformats.org/drawingml/2006/main">
            <a:off x="11144250" y="641985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36772"/>
                </a:solidFill>
                <a:latin typeface="Arial"/>
                <a:ea typeface="Arial"/>
                <a:cs typeface="Arial"/>
              </a:defRPr>
            </a:pPr>
            <a:r>
              <a:rPr sz="1350" b="0">
                <a:solidFill>
                  <a:srgbClr val="536772"/>
                </a:solidFill>
                <a:latin typeface="Arial"/>
                <a:ea typeface="Arial"/>
                <a:cs typeface="Arial"/>
              </a:rPr>
              <a:t>01</a:t>
            </a:r>
          </a:p>
        </p:txBody>
      </p:sp>
      <p:sp>
        <p:nvSpPr>
          <p:cNvPr id="3" name="">
            <a:extLst xmlns:a="http://schemas.openxmlformats.org/drawingml/2006/main">
              <a:ext uri="{FF2B5EF4-FFF2-40B4-BE49-F238E27FC236}">
                <a16:creationId xmlns:a16="http://schemas.microsoft.com/office/drawing/2014/main" id="{80D77620-BEEB-4329-A0C8-43351CDDF9FE}"/>
              </a:ext>
            </a:extLst>
          </p:cNvPr>
          <p:cNvSpPr>
            <a:spLocks xmlns:a="http://schemas.openxmlformats.org/drawingml/2006/main" noGrp="1"/>
          </p:cNvSpPr>
          <p:nvPr/>
        </p:nvSpPr>
        <p:spPr>
          <a:xfrm xmlns:a="http://schemas.openxmlformats.org/drawingml/2006/main">
            <a:off x="571500" y="1371600"/>
            <a:ext cx="1095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0">
                <a:solidFill>
                  <a:srgbClr val="007D88"/>
                </a:solidFill>
                <a:latin typeface="Arial"/>
                <a:ea typeface="Arial"/>
                <a:cs typeface="Arial"/>
              </a:defRPr>
            </a:pPr>
            <a:r>
              <a:rPr sz="2700" b="0">
                <a:solidFill>
                  <a:srgbClr val="007D88"/>
                </a:solidFill>
                <a:latin typeface="Arial"/>
                <a:ea typeface="Arial"/>
                <a:cs typeface="Arial"/>
              </a:rPr>
              <a:t>Small neural networks on public UCI data</a:t>
            </a:r>
          </a:p>
        </p:txBody>
      </p:sp>
      <p:sp>
        <p:nvSpPr>
          <p:cNvPr id="4" name="">
            <a:extLst xmlns:a="http://schemas.openxmlformats.org/drawingml/2006/main">
              <a:ext uri="{FF2B5EF4-FFF2-40B4-BE49-F238E27FC236}">
                <a16:creationId xmlns:a16="http://schemas.microsoft.com/office/drawing/2014/main" id="{3105BC0E-01B8-4058-A247-54C7BF68C9B9}"/>
              </a:ext>
            </a:extLst>
          </p:cNvPr>
          <p:cNvSpPr>
            <a:spLocks xmlns:a="http://schemas.openxmlformats.org/drawingml/2006/main" noGrp="1"/>
          </p:cNvSpPr>
          <p:nvPr/>
        </p:nvSpPr>
        <p:spPr>
          <a:xfrm xmlns:a="http://schemas.openxmlformats.org/drawingml/2006/main">
            <a:off x="590550" y="2381250"/>
            <a:ext cx="10858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536772"/>
                </a:solidFill>
                <a:latin typeface="Arial"/>
                <a:ea typeface="Arial"/>
                <a:cs typeface="Arial"/>
              </a:defRPr>
            </a:pPr>
            <a:r>
              <a:rPr sz="2025" b="0">
                <a:solidFill>
                  <a:srgbClr val="536772"/>
                </a:solidFill>
                <a:latin typeface="Arial"/>
                <a:ea typeface="Arial"/>
                <a:cs typeface="Arial"/>
              </a:rPr>
              <a:t>Advanced Deep Learning</a:t>
            </a:r>
          </a:p>
          <a:p xmlns:a="http://schemas.openxmlformats.org/drawingml/2006/main">
            <a:pPr>
              <a:defRPr sz="2025" b="0">
                <a:solidFill>
                  <a:srgbClr val="536772"/>
                </a:solidFill>
                <a:latin typeface="Arial"/>
                <a:ea typeface="Arial"/>
                <a:cs typeface="Arial"/>
              </a:defRPr>
            </a:pPr>
            <a:r>
              <a:rPr sz="2025" b="0">
                <a:solidFill>
                  <a:srgbClr val="536772"/>
                </a:solidFill>
                <a:latin typeface="Arial"/>
                <a:ea typeface="Arial"/>
                <a:cs typeface="Arial"/>
              </a:rPr>
              <a:t>Group Mini Project · 16 October 2026</a:t>
            </a:r>
          </a:p>
        </p:txBody>
      </p:sp>
      <p:sp>
        <p:nvSpPr>
          <p:cNvPr id="5" name="">
            <a:extLst xmlns:a="http://schemas.openxmlformats.org/drawingml/2006/main">
              <a:ext uri="{FF2B5EF4-FFF2-40B4-BE49-F238E27FC236}">
                <a16:creationId xmlns:a16="http://schemas.microsoft.com/office/drawing/2014/main" id="{6144C05F-4F31-459B-A047-1920BA53E4AB}"/>
              </a:ext>
            </a:extLst>
          </p:cNvPr>
          <p:cNvSpPr>
            <a:spLocks xmlns:a="http://schemas.openxmlformats.org/drawingml/2006/main" noGrp="1"/>
          </p:cNvSpPr>
          <p:nvPr/>
        </p:nvSpPr>
        <p:spPr>
          <a:xfrm xmlns:a="http://schemas.openxmlformats.org/drawingml/2006/main">
            <a:off x="590550" y="3810000"/>
            <a:ext cx="10572750"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53442"/>
                </a:solidFill>
                <a:latin typeface="Arial"/>
                <a:ea typeface="Arial"/>
                <a:cs typeface="Arial"/>
              </a:defRPr>
            </a:pPr>
            <a:r>
              <a:rPr sz="2250" b="0">
                <a:solidFill>
                  <a:srgbClr val="153442"/>
                </a:solidFill>
                <a:latin typeface="Arial"/>
                <a:ea typeface="Arial"/>
                <a:cs typeface="Arial"/>
              </a:rPr>
              <a:t>[Member 1 name]     [Student ID 1]</a:t>
            </a:r>
          </a:p>
          <a:p xmlns:a="http://schemas.openxmlformats.org/drawingml/2006/main">
            <a:pPr>
              <a:defRPr sz="2250" b="0">
                <a:solidFill>
                  <a:srgbClr val="153442"/>
                </a:solidFill>
                <a:latin typeface="Arial"/>
                <a:ea typeface="Arial"/>
                <a:cs typeface="Arial"/>
              </a:defRPr>
            </a:pPr>
            <a:r>
              <a:rPr sz="2250" b="0">
                <a:solidFill>
                  <a:srgbClr val="153442"/>
                </a:solidFill>
                <a:latin typeface="Arial"/>
                <a:ea typeface="Arial"/>
                <a:cs typeface="Arial"/>
              </a:rPr>
              <a:t>[Member 2 name]     [Student ID 2]</a:t>
            </a:r>
          </a:p>
          <a:p xmlns:a="http://schemas.openxmlformats.org/drawingml/2006/main">
            <a:pPr>
              <a:defRPr sz="2250" b="0">
                <a:solidFill>
                  <a:srgbClr val="153442"/>
                </a:solidFill>
                <a:latin typeface="Arial"/>
                <a:ea typeface="Arial"/>
                <a:cs typeface="Arial"/>
              </a:defRPr>
            </a:pPr>
            <a:r>
              <a:rPr sz="2250" b="0">
                <a:solidFill>
                  <a:srgbClr val="153442"/>
                </a:solidFill>
                <a:latin typeface="Arial"/>
                <a:ea typeface="Arial"/>
                <a:cs typeface="Arial"/>
              </a:rPr>
              <a:t>[Member 3 name]     [Student ID 3]</a:t>
            </a:r>
          </a:p>
          <a:p xmlns:a="http://schemas.openxmlformats.org/drawingml/2006/main">
            <a:pPr>
              <a:defRPr sz="2250" b="0">
                <a:solidFill>
                  <a:srgbClr val="153442"/>
                </a:solidFill>
                <a:latin typeface="Arial"/>
                <a:ea typeface="Arial"/>
                <a:cs typeface="Arial"/>
              </a:defRPr>
            </a:pPr>
            <a:r>
              <a:rPr sz="2250" b="0">
                <a:solidFill>
                  <a:srgbClr val="153442"/>
                </a:solidFill>
                <a:latin typeface="Arial"/>
                <a:ea typeface="Arial"/>
                <a:cs typeface="Arial"/>
              </a:rPr>
              <a:t>[Member 4 name]     [Student ID 4]</a:t>
            </a:r>
          </a:p>
        </p:txBody>
      </p:sp>
    </p:spTree>
    <p:extLst>
      <p:ext uri="{BB962C8B-B14F-4D97-AF65-F5344CB8AC3E}">
        <p14:creationId xmlns:p14="http://schemas.microsoft.com/office/powerpoint/2010/main" val="1494045632"/>
      </p:ext>
    </p:extLst>
  </p:cSld>
</p:sld>
</file>

<file path=ppt/slides/slide2.xml><?xml version="1.0" encoding="utf-8"?>
<p:sld xmlns:p="http://schemas.openxmlformats.org/presentationml/2006/main">
  <p:cSld>
    <p:bg>
      <p:bgPr>
        <a:solidFill xmlns:a="http://schemas.openxmlformats.org/drawingml/2006/main">
          <a:srgbClr val="FAF9F5"/>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20A4858-7C01-4784-9412-C3DFA265FF73}"/>
              </a:ext>
            </a:extLst>
          </p:cNvPr>
          <p:cNvSpPr>
            <a:spLocks xmlns:a="http://schemas.openxmlformats.org/drawingml/2006/main" noGrp="1"/>
          </p:cNvSpPr>
          <p:nvPr/>
        </p:nvSpPr>
        <p:spPr>
          <a:xfrm xmlns:a="http://schemas.openxmlformats.org/drawingml/2006/main">
            <a:off x="552450" y="361950"/>
            <a:ext cx="110871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53442"/>
                </a:solidFill>
                <a:latin typeface="Arial"/>
                <a:ea typeface="Arial"/>
                <a:cs typeface="Arial"/>
              </a:defRPr>
            </a:pPr>
            <a:r>
              <a:rPr sz="3225" b="1">
                <a:solidFill>
                  <a:srgbClr val="153442"/>
                </a:solidFill>
                <a:latin typeface="Arial"/>
                <a:ea typeface="Arial"/>
                <a:cs typeface="Arial"/>
              </a:rPr>
              <a:t>Group responsibilities</a:t>
            </a:r>
          </a:p>
        </p:txBody>
      </p:sp>
      <p:sp>
        <p:nvSpPr>
          <p:cNvPr id="2" name="">
            <a:extLst xmlns:a="http://schemas.openxmlformats.org/drawingml/2006/main">
              <a:ext uri="{FF2B5EF4-FFF2-40B4-BE49-F238E27FC236}">
                <a16:creationId xmlns:a16="http://schemas.microsoft.com/office/drawing/2014/main" id="{65E99AC9-7DBC-4C42-9A6F-22CC34314C14}"/>
              </a:ext>
            </a:extLst>
          </p:cNvPr>
          <p:cNvSpPr>
            <a:spLocks xmlns:a="http://schemas.openxmlformats.org/drawingml/2006/main" noGrp="1"/>
          </p:cNvSpPr>
          <p:nvPr/>
        </p:nvSpPr>
        <p:spPr>
          <a:xfrm xmlns:a="http://schemas.openxmlformats.org/drawingml/2006/main">
            <a:off x="11144250" y="641985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36772"/>
                </a:solidFill>
                <a:latin typeface="Arial"/>
                <a:ea typeface="Arial"/>
                <a:cs typeface="Arial"/>
              </a:defRPr>
            </a:pPr>
            <a:r>
              <a:rPr sz="1350" b="0">
                <a:solidFill>
                  <a:srgbClr val="536772"/>
                </a:solidFill>
                <a:latin typeface="Arial"/>
                <a:ea typeface="Arial"/>
                <a:cs typeface="Arial"/>
              </a:rPr>
              <a:t>02</a:t>
            </a:r>
          </a:p>
        </p:txBody>
      </p:sp>
      <p:graphicFrame>
        <p:nvGraphicFramePr>
          <p:cNvPr id="8" name=""/>
          <p:cNvGraphicFramePr/>
          <p:nvPr/>
        </p:nvGraphicFramePr>
        <p:xfrm>
          <a:off xmlns:a="http://schemas.openxmlformats.org/drawingml/2006/main" x="571500" y="1466850"/>
          <a:ext xmlns:a="http://schemas.openxmlformats.org/drawingml/2006/main" cx="11049000" cy="3333750"/>
        </p:xfrm>
        <a:graphic xmlns:a="http://schemas.openxmlformats.org/drawingml/2006/main">
          <a:graphicData uri="http://schemas.openxmlformats.org/drawingml/2006/table">
            <a:tbl>
              <a:tblPr/>
              <a:tblGrid>
                <a:gridCol w="1714500"/>
                <a:gridCol w="7096125"/>
                <a:gridCol w="2238375"/>
              </a:tblGrid>
              <a:tr h="666750">
                <a:tc>
                  <a:txBody>
                    <a:bodyPr/>
                    <a:lstStyle/>
                    <a:p>
                      <a:r>
                        <a:rPr sz="1875" b="1">
                          <a:solidFill>
                            <a:srgbClr val="FFFFFF"/>
                          </a:solidFill>
                          <a:latin typeface="Arial"/>
                          <a:ea typeface="Arial"/>
                          <a:cs typeface="Arial"/>
                        </a:rPr>
                        <a:t>Member</a:t>
                      </a:r>
                    </a:p>
                  </a:txBody>
                  <a:tcPr marL="91440" marR="91440" marT="45720" marB="45720">
                    <a:solidFill>
                      <a:srgbClr val="153442"/>
                    </a:solidFill>
                  </a:tcPr>
                </a:tc>
                <a:tc>
                  <a:txBody>
                    <a:bodyPr/>
                    <a:lstStyle/>
                    <a:p>
                      <a:r>
                        <a:rPr sz="1875" b="1">
                          <a:solidFill>
                            <a:srgbClr val="FFFFFF"/>
                          </a:solidFill>
                          <a:latin typeface="Arial"/>
                          <a:ea typeface="Arial"/>
                          <a:cs typeface="Arial"/>
                        </a:rPr>
                        <a:t>Proposed responsibility</a:t>
                      </a:r>
                    </a:p>
                  </a:txBody>
                  <a:tcPr marL="91440" marR="91440" marT="45720" marB="45720">
                    <a:solidFill>
                      <a:srgbClr val="153442"/>
                    </a:solidFill>
                  </a:tcPr>
                </a:tc>
                <a:tc>
                  <a:txBody>
                    <a:bodyPr/>
                    <a:lstStyle/>
                    <a:p>
                      <a:r>
                        <a:rPr sz="1875" b="1">
                          <a:solidFill>
                            <a:srgbClr val="FFFFFF"/>
                          </a:solidFill>
                          <a:latin typeface="Arial"/>
                          <a:ea typeface="Arial"/>
                          <a:cs typeface="Arial"/>
                        </a:rPr>
                        <a:t>Presentation</a:t>
                      </a:r>
                    </a:p>
                  </a:txBody>
                  <a:tcPr marL="91440" marR="91440" marT="45720" marB="45720">
                    <a:solidFill>
                      <a:srgbClr val="153442"/>
                    </a:solidFill>
                  </a:tcPr>
                </a:tc>
              </a:tr>
              <a:tr h="666750">
                <a:tc>
                  <a:txBody>
                    <a:bodyPr/>
                    <a:lstStyle/>
                    <a:p>
                      <a:r>
                        <a:rPr sz="1875" b="0">
                          <a:solidFill>
                            <a:srgbClr val="153442"/>
                          </a:solidFill>
                          <a:latin typeface="Arial"/>
                          <a:ea typeface="Arial"/>
                          <a:cs typeface="Arial"/>
                        </a:rPr>
                        <a:t>Member 1</a:t>
                      </a:r>
                    </a:p>
                  </a:txBody>
                  <a:tcPr marL="91440" marR="91440" marT="45720" marB="45720">
                    <a:solidFill>
                      <a:srgbClr val="FFFFFF"/>
                    </a:solidFill>
                  </a:tcPr>
                </a:tc>
                <a:tc>
                  <a:txBody>
                    <a:bodyPr/>
                    <a:lstStyle/>
                    <a:p>
                      <a:r>
                        <a:rPr sz="1875" b="0">
                          <a:solidFill>
                            <a:srgbClr val="153442"/>
                          </a:solidFill>
                          <a:latin typeface="Arial"/>
                          <a:ea typeface="Arial"/>
                          <a:cs typeface="Arial"/>
                        </a:rPr>
                        <a:t>Problem, data and preprocessing</a:t>
                      </a:r>
                    </a:p>
                  </a:txBody>
                  <a:tcPr marL="91440" marR="91440" marT="45720" marB="45720">
                    <a:solidFill>
                      <a:srgbClr val="FFFFFF"/>
                    </a:solidFill>
                  </a:tcPr>
                </a:tc>
                <a:tc>
                  <a:txBody>
                    <a:bodyPr/>
                    <a:lstStyle/>
                    <a:p>
                      <a:r>
                        <a:rPr sz="1875" b="0">
                          <a:solidFill>
                            <a:srgbClr val="153442"/>
                          </a:solidFill>
                          <a:latin typeface="Arial"/>
                          <a:ea typeface="Arial"/>
                          <a:cs typeface="Arial"/>
                        </a:rPr>
                        <a:t>Slides 1–4</a:t>
                      </a:r>
                    </a:p>
                  </a:txBody>
                  <a:tcPr marL="91440" marR="91440" marT="45720" marB="45720">
                    <a:solidFill>
                      <a:srgbClr val="FFFFFF"/>
                    </a:solidFill>
                  </a:tcPr>
                </a:tc>
              </a:tr>
              <a:tr h="666750">
                <a:tc>
                  <a:txBody>
                    <a:bodyPr/>
                    <a:lstStyle/>
                    <a:p>
                      <a:r>
                        <a:rPr sz="1875" b="0">
                          <a:solidFill>
                            <a:srgbClr val="153442"/>
                          </a:solidFill>
                          <a:latin typeface="Arial"/>
                          <a:ea typeface="Arial"/>
                          <a:cs typeface="Arial"/>
                        </a:rPr>
                        <a:t>Member 2</a:t>
                      </a:r>
                    </a:p>
                  </a:txBody>
                  <a:tcPr marL="91440" marR="91440" marT="45720" marB="45720">
                    <a:solidFill>
                      <a:srgbClr val="EAF1F1"/>
                    </a:solidFill>
                  </a:tcPr>
                </a:tc>
                <a:tc>
                  <a:txBody>
                    <a:bodyPr/>
                    <a:lstStyle/>
                    <a:p>
                      <a:r>
                        <a:rPr sz="1875" b="0">
                          <a:solidFill>
                            <a:srgbClr val="153442"/>
                          </a:solidFill>
                          <a:latin typeface="Arial"/>
                          <a:ea typeface="Arial"/>
                          <a:cs typeface="Arial"/>
                        </a:rPr>
                        <a:t>Architecture and training</a:t>
                      </a:r>
                    </a:p>
                  </a:txBody>
                  <a:tcPr marL="91440" marR="91440" marT="45720" marB="45720">
                    <a:solidFill>
                      <a:srgbClr val="EAF1F1"/>
                    </a:solidFill>
                  </a:tcPr>
                </a:tc>
                <a:tc>
                  <a:txBody>
                    <a:bodyPr/>
                    <a:lstStyle/>
                    <a:p>
                      <a:r>
                        <a:rPr sz="1875" b="0">
                          <a:solidFill>
                            <a:srgbClr val="153442"/>
                          </a:solidFill>
                          <a:latin typeface="Arial"/>
                          <a:ea typeface="Arial"/>
                          <a:cs typeface="Arial"/>
                        </a:rPr>
                        <a:t>Slides 5–6</a:t>
                      </a:r>
                    </a:p>
                  </a:txBody>
                  <a:tcPr marL="91440" marR="91440" marT="45720" marB="45720">
                    <a:solidFill>
                      <a:srgbClr val="EAF1F1"/>
                    </a:solidFill>
                  </a:tcPr>
                </a:tc>
              </a:tr>
              <a:tr h="666750">
                <a:tc>
                  <a:txBody>
                    <a:bodyPr/>
                    <a:lstStyle/>
                    <a:p>
                      <a:r>
                        <a:rPr sz="1875" b="0">
                          <a:solidFill>
                            <a:srgbClr val="153442"/>
                          </a:solidFill>
                          <a:latin typeface="Arial"/>
                          <a:ea typeface="Arial"/>
                          <a:cs typeface="Arial"/>
                        </a:rPr>
                        <a:t>Member 3</a:t>
                      </a:r>
                    </a:p>
                  </a:txBody>
                  <a:tcPr marL="91440" marR="91440" marT="45720" marB="45720">
                    <a:solidFill>
                      <a:srgbClr val="FFFFFF"/>
                    </a:solidFill>
                  </a:tcPr>
                </a:tc>
                <a:tc>
                  <a:txBody>
                    <a:bodyPr/>
                    <a:lstStyle/>
                    <a:p>
                      <a:r>
                        <a:rPr sz="1875" b="0">
                          <a:solidFill>
                            <a:srgbClr val="153442"/>
                          </a:solidFill>
                          <a:latin typeface="Arial"/>
                          <a:ea typeface="Arial"/>
                          <a:cs typeface="Arial"/>
                        </a:rPr>
                        <a:t>Experiments and error analysis</a:t>
                      </a:r>
                    </a:p>
                  </a:txBody>
                  <a:tcPr marL="91440" marR="91440" marT="45720" marB="45720">
                    <a:solidFill>
                      <a:srgbClr val="FFFFFF"/>
                    </a:solidFill>
                  </a:tcPr>
                </a:tc>
                <a:tc>
                  <a:txBody>
                    <a:bodyPr/>
                    <a:lstStyle/>
                    <a:p>
                      <a:r>
                        <a:rPr sz="1875" b="0">
                          <a:solidFill>
                            <a:srgbClr val="153442"/>
                          </a:solidFill>
                          <a:latin typeface="Arial"/>
                          <a:ea typeface="Arial"/>
                          <a:cs typeface="Arial"/>
                        </a:rPr>
                        <a:t>Slides 7–9</a:t>
                      </a:r>
                    </a:p>
                  </a:txBody>
                  <a:tcPr marL="91440" marR="91440" marT="45720" marB="45720">
                    <a:solidFill>
                      <a:srgbClr val="FFFFFF"/>
                    </a:solidFill>
                  </a:tcPr>
                </a:tc>
              </a:tr>
              <a:tr h="666750">
                <a:tc>
                  <a:txBody>
                    <a:bodyPr/>
                    <a:lstStyle/>
                    <a:p>
                      <a:r>
                        <a:rPr sz="1875" b="0">
                          <a:solidFill>
                            <a:srgbClr val="153442"/>
                          </a:solidFill>
                          <a:latin typeface="Arial"/>
                          <a:ea typeface="Arial"/>
                          <a:cs typeface="Arial"/>
                        </a:rPr>
                        <a:t>Member 4</a:t>
                      </a:r>
                    </a:p>
                  </a:txBody>
                  <a:tcPr marL="91440" marR="91440" marT="45720" marB="45720">
                    <a:solidFill>
                      <a:srgbClr val="EAF1F1"/>
                    </a:solidFill>
                  </a:tcPr>
                </a:tc>
                <a:tc>
                  <a:txBody>
                    <a:bodyPr/>
                    <a:lstStyle/>
                    <a:p>
                      <a:r>
                        <a:rPr sz="1875" b="0">
                          <a:solidFill>
                            <a:srgbClr val="153442"/>
                          </a:solidFill>
                          <a:latin typeface="Arial"/>
                          <a:ea typeface="Arial"/>
                          <a:cs typeface="Arial"/>
                        </a:rPr>
                        <a:t>Documentation and reproducibility</a:t>
                      </a:r>
                    </a:p>
                  </a:txBody>
                  <a:tcPr marL="91440" marR="91440" marT="45720" marB="45720">
                    <a:solidFill>
                      <a:srgbClr val="EAF1F1"/>
                    </a:solidFill>
                  </a:tcPr>
                </a:tc>
                <a:tc>
                  <a:txBody>
                    <a:bodyPr/>
                    <a:lstStyle/>
                    <a:p>
                      <a:r>
                        <a:rPr sz="1875" b="0">
                          <a:solidFill>
                            <a:srgbClr val="153442"/>
                          </a:solidFill>
                          <a:latin typeface="Arial"/>
                          <a:ea typeface="Arial"/>
                          <a:cs typeface="Arial"/>
                        </a:rPr>
                        <a:t>Slides 10–12</a:t>
                      </a:r>
                    </a:p>
                  </a:txBody>
                  <a:tcPr marL="91440" marR="91440" marT="45720" marB="45720">
                    <a:solidFill>
                      <a:srgbClr val="EAF1F1"/>
                    </a:solidFill>
                  </a:tcPr>
                </a:tc>
              </a:tr>
            </a:tbl>
          </a:graphicData>
        </a:graphic>
      </p:graphicFrame>
      <p:sp>
        <p:nvSpPr>
          <p:cNvPr id="4" name="">
            <a:extLst xmlns:a="http://schemas.openxmlformats.org/drawingml/2006/main">
              <a:ext uri="{FF2B5EF4-FFF2-40B4-BE49-F238E27FC236}">
                <a16:creationId xmlns:a16="http://schemas.microsoft.com/office/drawing/2014/main" id="{27F73A6A-B1B2-4F14-82E0-D02210071806}"/>
              </a:ext>
            </a:extLst>
          </p:cNvPr>
          <p:cNvSpPr>
            <a:spLocks xmlns:a="http://schemas.openxmlformats.org/drawingml/2006/main" noGrp="1"/>
          </p:cNvSpPr>
          <p:nvPr/>
        </p:nvSpPr>
        <p:spPr>
          <a:xfrm xmlns:a="http://schemas.openxmlformats.org/drawingml/2006/main">
            <a:off x="619125" y="5238750"/>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07D88"/>
                </a:solidFill>
                <a:latin typeface="Arial"/>
                <a:ea typeface="Arial"/>
                <a:cs typeface="Arial"/>
              </a:defRPr>
            </a:pPr>
            <a:r>
              <a:rPr sz="2025" b="1">
                <a:solidFill>
                  <a:srgbClr val="007D88"/>
                </a:solidFill>
                <a:latin typeface="Arial"/>
                <a:ea typeface="Arial"/>
                <a:cs typeface="Arial"/>
              </a:rPr>
              <a:t>Every member runs the notebook and understands the selection rule.</a:t>
            </a:r>
          </a:p>
        </p:txBody>
      </p:sp>
      <p:sp>
        <p:nvSpPr>
          <p:cNvPr id="5" name="">
            <a:extLst xmlns:a="http://schemas.openxmlformats.org/drawingml/2006/main">
              <a:ext uri="{FF2B5EF4-FFF2-40B4-BE49-F238E27FC236}">
                <a16:creationId xmlns:a16="http://schemas.microsoft.com/office/drawing/2014/main" id="{50AF3C4A-3806-4E1A-9401-712EC3EFC551}"/>
              </a:ext>
            </a:extLst>
          </p:cNvPr>
          <p:cNvSpPr>
            <a:spLocks xmlns:a="http://schemas.openxmlformats.org/drawingml/2006/main" noGrp="1"/>
          </p:cNvSpPr>
          <p:nvPr/>
        </p:nvSpPr>
        <p:spPr>
          <a:xfrm xmlns:a="http://schemas.openxmlformats.org/drawingml/2006/main">
            <a:off x="619125" y="5962650"/>
            <a:ext cx="1047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36772"/>
                </a:solidFill>
                <a:latin typeface="Arial"/>
                <a:ea typeface="Arial"/>
                <a:cs typeface="Arial"/>
              </a:defRPr>
            </a:pPr>
            <a:r>
              <a:rPr sz="1650" b="0">
                <a:solidFill>
                  <a:srgbClr val="536772"/>
                </a:solidFill>
                <a:latin typeface="Arial"/>
                <a:ea typeface="Arial"/>
                <a:cs typeface="Arial"/>
              </a:rPr>
              <a:t>Adjust the proposed duties to reflect actual contributions.</a:t>
            </a:r>
          </a:p>
        </p:txBody>
      </p:sp>
    </p:spTree>
    <p:extLst>
      <p:ext uri="{BB962C8B-B14F-4D97-AF65-F5344CB8AC3E}">
        <p14:creationId xmlns:p14="http://schemas.microsoft.com/office/powerpoint/2010/main" val="1644196392"/>
      </p:ext>
    </p:extLst>
  </p:cSld>
</p:sld>
</file>

<file path=ppt/slides/slide3.xml><?xml version="1.0" encoding="utf-8"?>
<p:sld xmlns:p="http://schemas.openxmlformats.org/presentationml/2006/main">
  <p:cSld>
    <p:bg>
      <p:bgPr>
        <a:solidFill xmlns:a="http://schemas.openxmlformats.org/drawingml/2006/main">
          <a:srgbClr val="FAF9F5"/>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E8386BE-7807-4AE2-9537-E7EDD865563C}"/>
              </a:ext>
            </a:extLst>
          </p:cNvPr>
          <p:cNvSpPr>
            <a:spLocks xmlns:a="http://schemas.openxmlformats.org/drawingml/2006/main" noGrp="1"/>
          </p:cNvSpPr>
          <p:nvPr/>
        </p:nvSpPr>
        <p:spPr>
          <a:xfrm xmlns:a="http://schemas.openxmlformats.org/drawingml/2006/main">
            <a:off x="552450" y="361950"/>
            <a:ext cx="110871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53442"/>
                </a:solidFill>
                <a:latin typeface="Arial"/>
                <a:ea typeface="Arial"/>
                <a:cs typeface="Arial"/>
              </a:defRPr>
            </a:pPr>
            <a:r>
              <a:rPr sz="3225" b="1">
                <a:solidFill>
                  <a:srgbClr val="153442"/>
                </a:solidFill>
                <a:latin typeface="Arial"/>
                <a:ea typeface="Arial"/>
                <a:cs typeface="Arial"/>
              </a:rPr>
              <a:t>Problem: classifying seven bean varieties</a:t>
            </a:r>
          </a:p>
        </p:txBody>
      </p:sp>
      <p:sp>
        <p:nvSpPr>
          <p:cNvPr id="2" name="">
            <a:extLst xmlns:a="http://schemas.openxmlformats.org/drawingml/2006/main">
              <a:ext uri="{FF2B5EF4-FFF2-40B4-BE49-F238E27FC236}">
                <a16:creationId xmlns:a16="http://schemas.microsoft.com/office/drawing/2014/main" id="{74E59723-7E8B-4ACA-84FF-7EB5CF8FF7DE}"/>
              </a:ext>
            </a:extLst>
          </p:cNvPr>
          <p:cNvSpPr>
            <a:spLocks xmlns:a="http://schemas.openxmlformats.org/drawingml/2006/main" noGrp="1"/>
          </p:cNvSpPr>
          <p:nvPr/>
        </p:nvSpPr>
        <p:spPr>
          <a:xfrm xmlns:a="http://schemas.openxmlformats.org/drawingml/2006/main">
            <a:off x="11144250" y="641985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36772"/>
                </a:solidFill>
                <a:latin typeface="Arial"/>
                <a:ea typeface="Arial"/>
                <a:cs typeface="Arial"/>
              </a:defRPr>
            </a:pPr>
            <a:r>
              <a:rPr sz="1350" b="0">
                <a:solidFill>
                  <a:srgbClr val="536772"/>
                </a:solidFill>
                <a:latin typeface="Arial"/>
                <a:ea typeface="Arial"/>
                <a:cs typeface="Arial"/>
              </a:rPr>
              <a:t>03</a:t>
            </a:r>
          </a:p>
        </p:txBody>
      </p:sp>
      <p:sp>
        <p:nvSpPr>
          <p:cNvPr id="3" name="">
            <a:extLst xmlns:a="http://schemas.openxmlformats.org/drawingml/2006/main">
              <a:ext uri="{FF2B5EF4-FFF2-40B4-BE49-F238E27FC236}">
                <a16:creationId xmlns:a16="http://schemas.microsoft.com/office/drawing/2014/main" id="{89750D36-6E50-4EDC-97D8-55A46494A191}"/>
              </a:ext>
            </a:extLst>
          </p:cNvPr>
          <p:cNvSpPr>
            <a:spLocks xmlns:a="http://schemas.openxmlformats.org/drawingml/2006/main" noGrp="1"/>
          </p:cNvSpPr>
          <p:nvPr/>
        </p:nvSpPr>
        <p:spPr>
          <a:xfrm xmlns:a="http://schemas.openxmlformats.org/drawingml/2006/main">
            <a:off x="590550" y="1533525"/>
            <a:ext cx="10477500" cy="1247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75" b="1">
                <a:solidFill>
                  <a:srgbClr val="007D88"/>
                </a:solidFill>
                <a:latin typeface="Arial"/>
                <a:ea typeface="Arial"/>
                <a:cs typeface="Arial"/>
              </a:defRPr>
            </a:pPr>
            <a:r>
              <a:rPr sz="3375" b="1">
                <a:solidFill>
                  <a:srgbClr val="007D88"/>
                </a:solidFill>
                <a:latin typeface="Arial"/>
                <a:ea typeface="Arial"/>
                <a:cs typeface="Arial"/>
              </a:rPr>
              <a:t>16 measured features</a:t>
            </a:r>
          </a:p>
          <a:p xmlns:a="http://schemas.openxmlformats.org/drawingml/2006/main">
            <a:pPr>
              <a:defRPr sz="3375" b="1">
                <a:solidFill>
                  <a:srgbClr val="007D88"/>
                </a:solidFill>
                <a:latin typeface="Arial"/>
                <a:ea typeface="Arial"/>
                <a:cs typeface="Arial"/>
              </a:defRPr>
            </a:pPr>
            <a:r>
              <a:rPr sz="3375" b="1">
                <a:solidFill>
                  <a:srgbClr val="007D88"/>
                </a:solidFill>
                <a:latin typeface="Arial"/>
                <a:ea typeface="Arial"/>
                <a:cs typeface="Arial"/>
              </a:rPr>
              <a:t>7 possible varieties</a:t>
            </a:r>
          </a:p>
        </p:txBody>
      </p:sp>
      <p:sp>
        <p:nvSpPr>
          <p:cNvPr id="4" name="">
            <a:extLst xmlns:a="http://schemas.openxmlformats.org/drawingml/2006/main">
              <a:ext uri="{FF2B5EF4-FFF2-40B4-BE49-F238E27FC236}">
                <a16:creationId xmlns:a16="http://schemas.microsoft.com/office/drawing/2014/main" id="{7C631B24-4AD3-4D12-965D-118A2EC68416}"/>
              </a:ext>
            </a:extLst>
          </p:cNvPr>
          <p:cNvSpPr>
            <a:spLocks xmlns:a="http://schemas.openxmlformats.org/drawingml/2006/main" noGrp="1"/>
          </p:cNvSpPr>
          <p:nvPr/>
        </p:nvSpPr>
        <p:spPr>
          <a:xfrm xmlns:a="http://schemas.openxmlformats.org/drawingml/2006/main">
            <a:off x="590550" y="3190875"/>
            <a:ext cx="1095375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53442"/>
                </a:solidFill>
                <a:latin typeface="Arial"/>
                <a:ea typeface="Arial"/>
                <a:cs typeface="Arial"/>
              </a:defRPr>
            </a:pPr>
            <a:r>
              <a:rPr sz="2175" b="0">
                <a:solidFill>
                  <a:srgbClr val="153442"/>
                </a:solidFill>
                <a:latin typeface="Arial"/>
                <a:ea typeface="Arial"/>
                <a:cs typeface="Arial"/>
              </a:rPr>
              <a:t>Area, perimeter, axis lengths and shape ratios describe each bean.</a:t>
            </a:r>
          </a:p>
          <a:p xmlns:a="http://schemas.openxmlformats.org/drawingml/2006/main">
            <a:pPr>
              <a:defRPr sz="2175" b="0">
                <a:solidFill>
                  <a:srgbClr val="153442"/>
                </a:solidFill>
                <a:latin typeface="Arial"/>
                <a:ea typeface="Arial"/>
                <a:cs typeface="Arial"/>
              </a:defRPr>
            </a:pPr>
            <a:r>
              <a:rPr sz="2175" b="0">
                <a:solidFill>
                  <a:srgbClr val="153442"/>
                </a:solidFill>
                <a:latin typeface="Arial"/>
                <a:ea typeface="Arial"/>
                <a:cs typeface="Arial"/>
              </a:rPr>
              <a:t>Similar measurements can make different varieties difficult to distinguish.</a:t>
            </a:r>
          </a:p>
        </p:txBody>
      </p:sp>
      <p:sp>
        <p:nvSpPr>
          <p:cNvPr id="5" name="">
            <a:extLst xmlns:a="http://schemas.openxmlformats.org/drawingml/2006/main">
              <a:ext uri="{FF2B5EF4-FFF2-40B4-BE49-F238E27FC236}">
                <a16:creationId xmlns:a16="http://schemas.microsoft.com/office/drawing/2014/main" id="{9639DD02-800F-40FB-A174-CB1A056B9D98}"/>
              </a:ext>
            </a:extLst>
          </p:cNvPr>
          <p:cNvSpPr>
            <a:spLocks xmlns:a="http://schemas.openxmlformats.org/drawingml/2006/main" noGrp="1"/>
          </p:cNvSpPr>
          <p:nvPr/>
        </p:nvSpPr>
        <p:spPr>
          <a:xfrm xmlns:a="http://schemas.openxmlformats.org/drawingml/2006/main">
            <a:off x="590550" y="4686300"/>
            <a:ext cx="2381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53442"/>
                </a:solidFill>
                <a:latin typeface="Arial"/>
                <a:ea typeface="Arial"/>
                <a:cs typeface="Arial"/>
              </a:defRPr>
            </a:pPr>
            <a:r>
              <a:rPr sz="2100" b="1">
                <a:solidFill>
                  <a:srgbClr val="153442"/>
                </a:solidFill>
                <a:latin typeface="Arial"/>
                <a:ea typeface="Arial"/>
                <a:cs typeface="Arial"/>
              </a:rPr>
              <a:t>Question</a:t>
            </a:r>
          </a:p>
        </p:txBody>
      </p:sp>
      <p:sp>
        <p:nvSpPr>
          <p:cNvPr id="6" name="">
            <a:extLst xmlns:a="http://schemas.openxmlformats.org/drawingml/2006/main">
              <a:ext uri="{FF2B5EF4-FFF2-40B4-BE49-F238E27FC236}">
                <a16:creationId xmlns:a16="http://schemas.microsoft.com/office/drawing/2014/main" id="{D61BF24C-712E-455D-89EE-8258FD65C499}"/>
              </a:ext>
            </a:extLst>
          </p:cNvPr>
          <p:cNvSpPr>
            <a:spLocks xmlns:a="http://schemas.openxmlformats.org/drawingml/2006/main" noGrp="1"/>
          </p:cNvSpPr>
          <p:nvPr/>
        </p:nvSpPr>
        <p:spPr>
          <a:xfrm xmlns:a="http://schemas.openxmlformats.org/drawingml/2006/main">
            <a:off x="590550" y="5219700"/>
            <a:ext cx="1081087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53442"/>
                </a:solidFill>
                <a:latin typeface="Arial"/>
                <a:ea typeface="Arial"/>
                <a:cs typeface="Arial"/>
              </a:defRPr>
            </a:pPr>
            <a:r>
              <a:rPr sz="2400" b="0">
                <a:solidFill>
                  <a:srgbClr val="153442"/>
                </a:solidFill>
                <a:latin typeface="Arial"/>
                <a:ea typeface="Arial"/>
                <a:cs typeface="Arial"/>
              </a:rPr>
              <a:t>Do added capacity and different learning choices improve macro-F1?</a:t>
            </a:r>
          </a:p>
        </p:txBody>
      </p:sp>
      <p:sp>
        <p:nvSpPr>
          <p:cNvPr id="7" name="">
            <a:extLst xmlns:a="http://schemas.openxmlformats.org/drawingml/2006/main">
              <a:ext uri="{FF2B5EF4-FFF2-40B4-BE49-F238E27FC236}">
                <a16:creationId xmlns:a16="http://schemas.microsoft.com/office/drawing/2014/main" id="{39532FF7-C64C-4527-AFC1-DDF89DEF241B}"/>
              </a:ext>
            </a:extLst>
          </p:cNvPr>
          <p:cNvSpPr>
            <a:spLocks xmlns:a="http://schemas.openxmlformats.org/drawingml/2006/main" noGrp="1"/>
          </p:cNvSpPr>
          <p:nvPr/>
        </p:nvSpPr>
        <p:spPr>
          <a:xfrm xmlns:a="http://schemas.openxmlformats.org/drawingml/2006/main">
            <a:off x="590550" y="6210300"/>
            <a:ext cx="10477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36772"/>
                </a:solidFill>
                <a:latin typeface="Arial"/>
                <a:ea typeface="Arial"/>
                <a:cs typeface="Arial"/>
              </a:defRPr>
            </a:pPr>
            <a:r>
              <a:rPr sz="1575" b="0">
                <a:solidFill>
                  <a:srgbClr val="536772"/>
                </a:solidFill>
                <a:latin typeface="Arial"/>
                <a:ea typeface="Arial"/>
                <a:cs typeface="Arial"/>
              </a:rPr>
              <a:t>Tabular inputs already extracted from images. The model does not process photographs.</a:t>
            </a:r>
          </a:p>
        </p:txBody>
      </p:sp>
    </p:spTree>
    <p:extLst>
      <p:ext uri="{BB962C8B-B14F-4D97-AF65-F5344CB8AC3E}">
        <p14:creationId xmlns:p14="http://schemas.microsoft.com/office/powerpoint/2010/main" val="1262865631"/>
      </p:ext>
    </p:extLst>
  </p:cSld>
</p:sld>
</file>

<file path=ppt/slides/slide4.xml><?xml version="1.0" encoding="utf-8"?>
<p:sld xmlns:p="http://schemas.openxmlformats.org/presentationml/2006/main">
  <p:cSld>
    <p:bg>
      <p:bgPr>
        <a:solidFill xmlns:a="http://schemas.openxmlformats.org/drawingml/2006/main">
          <a:srgbClr val="FAF9F5"/>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B31C1C0-BD97-48B5-9E90-49295AF5A422}"/>
              </a:ext>
            </a:extLst>
          </p:cNvPr>
          <p:cNvSpPr>
            <a:spLocks xmlns:a="http://schemas.openxmlformats.org/drawingml/2006/main" noGrp="1"/>
          </p:cNvSpPr>
          <p:nvPr/>
        </p:nvSpPr>
        <p:spPr>
          <a:xfrm xmlns:a="http://schemas.openxmlformats.org/drawingml/2006/main">
            <a:off x="552450" y="361950"/>
            <a:ext cx="110871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53442"/>
                </a:solidFill>
                <a:latin typeface="Arial"/>
                <a:ea typeface="Arial"/>
                <a:cs typeface="Arial"/>
              </a:defRPr>
            </a:pPr>
            <a:r>
              <a:rPr sz="3225" b="1">
                <a:solidFill>
                  <a:srgbClr val="153442"/>
                </a:solidFill>
                <a:latin typeface="Arial"/>
                <a:ea typeface="Arial"/>
                <a:cs typeface="Arial"/>
              </a:rPr>
              <a:t>Dataset, cleaning and splitting</a:t>
            </a:r>
          </a:p>
        </p:txBody>
      </p:sp>
      <p:sp>
        <p:nvSpPr>
          <p:cNvPr id="2" name="">
            <a:extLst xmlns:a="http://schemas.openxmlformats.org/drawingml/2006/main">
              <a:ext uri="{FF2B5EF4-FFF2-40B4-BE49-F238E27FC236}">
                <a16:creationId xmlns:a16="http://schemas.microsoft.com/office/drawing/2014/main" id="{AECABB13-3A2C-4445-BBBC-D3A0501872F5}"/>
              </a:ext>
            </a:extLst>
          </p:cNvPr>
          <p:cNvSpPr>
            <a:spLocks xmlns:a="http://schemas.openxmlformats.org/drawingml/2006/main" noGrp="1"/>
          </p:cNvSpPr>
          <p:nvPr/>
        </p:nvSpPr>
        <p:spPr>
          <a:xfrm xmlns:a="http://schemas.openxmlformats.org/drawingml/2006/main">
            <a:off x="11144250" y="641985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36772"/>
                </a:solidFill>
                <a:latin typeface="Arial"/>
                <a:ea typeface="Arial"/>
                <a:cs typeface="Arial"/>
              </a:defRPr>
            </a:pPr>
            <a:r>
              <a:rPr sz="1350" b="0">
                <a:solidFill>
                  <a:srgbClr val="536772"/>
                </a:solidFill>
                <a:latin typeface="Arial"/>
                <a:ea typeface="Arial"/>
                <a:cs typeface="Arial"/>
              </a:rPr>
              <a:t>04</a:t>
            </a:r>
          </a:p>
        </p:txBody>
      </p:sp>
      <p:sp>
        <p:nvSpPr>
          <p:cNvPr id="3" name="">
            <a:extLst xmlns:a="http://schemas.openxmlformats.org/drawingml/2006/main">
              <a:ext uri="{FF2B5EF4-FFF2-40B4-BE49-F238E27FC236}">
                <a16:creationId xmlns:a16="http://schemas.microsoft.com/office/drawing/2014/main" id="{89D0F164-6B57-43F0-A79E-8BE18D799360}"/>
              </a:ext>
            </a:extLst>
          </p:cNvPr>
          <p:cNvSpPr>
            <a:spLocks xmlns:a="http://schemas.openxmlformats.org/drawingml/2006/main" noGrp="1"/>
          </p:cNvSpPr>
          <p:nvPr/>
        </p:nvSpPr>
        <p:spPr>
          <a:xfrm xmlns:a="http://schemas.openxmlformats.org/drawingml/2006/main">
            <a:off x="571500" y="1352550"/>
            <a:ext cx="11049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007D88"/>
                </a:solidFill>
                <a:latin typeface="Arial"/>
                <a:ea typeface="Arial"/>
                <a:cs typeface="Arial"/>
              </a:defRPr>
            </a:pPr>
            <a:r>
              <a:rPr sz="2250" b="1">
                <a:solidFill>
                  <a:srgbClr val="007D88"/>
                </a:solidFill>
                <a:latin typeface="Arial"/>
                <a:ea typeface="Arial"/>
                <a:cs typeface="Arial"/>
              </a:rPr>
              <a:t>13,611 raw rows − 68 exact duplicates = 13,543 unique rows</a:t>
            </a:r>
          </a:p>
        </p:txBody>
      </p:sp>
      <p:graphicFrame>
        <p:nvGraphicFramePr>
          <p:cNvPr id="10" name=""/>
          <p:cNvGraphicFramePr/>
          <p:nvPr/>
        </p:nvGraphicFramePr>
        <p:xfrm>
          <a:off xmlns:a="http://schemas.openxmlformats.org/drawingml/2006/main" x="571500" y="2095500"/>
          <a:ext xmlns:a="http://schemas.openxmlformats.org/drawingml/2006/main" cx="11049000" cy="2333625"/>
        </p:xfrm>
        <a:graphic xmlns:a="http://schemas.openxmlformats.org/drawingml/2006/main">
          <a:graphicData uri="http://schemas.openxmlformats.org/drawingml/2006/table">
            <a:tbl>
              <a:tblPr/>
              <a:tblGrid>
                <a:gridCol w="2190750"/>
                <a:gridCol w="1571625"/>
                <a:gridCol w="7286625"/>
              </a:tblGrid>
              <a:tr h="583406">
                <a:tc>
                  <a:txBody>
                    <a:bodyPr/>
                    <a:lstStyle/>
                    <a:p>
                      <a:r>
                        <a:rPr sz="1875" b="1">
                          <a:solidFill>
                            <a:srgbClr val="FFFFFF"/>
                          </a:solidFill>
                          <a:latin typeface="Arial"/>
                          <a:ea typeface="Arial"/>
                          <a:cs typeface="Arial"/>
                        </a:rPr>
                        <a:t>Partition</a:t>
                      </a:r>
                    </a:p>
                  </a:txBody>
                  <a:tcPr marL="91440" marR="91440" marT="45720" marB="45720">
                    <a:solidFill>
                      <a:srgbClr val="153442"/>
                    </a:solidFill>
                  </a:tcPr>
                </a:tc>
                <a:tc>
                  <a:txBody>
                    <a:bodyPr/>
                    <a:lstStyle/>
                    <a:p>
                      <a:r>
                        <a:rPr sz="1875" b="1">
                          <a:solidFill>
                            <a:srgbClr val="FFFFFF"/>
                          </a:solidFill>
                          <a:latin typeface="Arial"/>
                          <a:ea typeface="Arial"/>
                          <a:cs typeface="Arial"/>
                        </a:rPr>
                        <a:t>Rows</a:t>
                      </a:r>
                    </a:p>
                  </a:txBody>
                  <a:tcPr marL="91440" marR="91440" marT="45720" marB="45720">
                    <a:solidFill>
                      <a:srgbClr val="153442"/>
                    </a:solidFill>
                  </a:tcPr>
                </a:tc>
                <a:tc>
                  <a:txBody>
                    <a:bodyPr/>
                    <a:lstStyle/>
                    <a:p>
                      <a:r>
                        <a:rPr sz="1875" b="1">
                          <a:solidFill>
                            <a:srgbClr val="FFFFFF"/>
                          </a:solidFill>
                          <a:latin typeface="Arial"/>
                          <a:ea typeface="Arial"/>
                          <a:cs typeface="Arial"/>
                        </a:rPr>
                        <a:t>Purpose</a:t>
                      </a:r>
                    </a:p>
                  </a:txBody>
                  <a:tcPr marL="91440" marR="91440" marT="45720" marB="45720">
                    <a:solidFill>
                      <a:srgbClr val="153442"/>
                    </a:solidFill>
                  </a:tcPr>
                </a:tc>
              </a:tr>
              <a:tr h="583406">
                <a:tc>
                  <a:txBody>
                    <a:bodyPr/>
                    <a:lstStyle/>
                    <a:p>
                      <a:r>
                        <a:rPr sz="1875" b="0">
                          <a:solidFill>
                            <a:srgbClr val="153442"/>
                          </a:solidFill>
                          <a:latin typeface="Arial"/>
                          <a:ea typeface="Arial"/>
                          <a:cs typeface="Arial"/>
                        </a:rPr>
                        <a:t>Training</a:t>
                      </a:r>
                    </a:p>
                  </a:txBody>
                  <a:tcPr marL="91440" marR="91440" marT="45720" marB="45720">
                    <a:solidFill>
                      <a:srgbClr val="FFFFFF"/>
                    </a:solidFill>
                  </a:tcPr>
                </a:tc>
                <a:tc>
                  <a:txBody>
                    <a:bodyPr/>
                    <a:lstStyle/>
                    <a:p>
                      <a:r>
                        <a:rPr sz="1875" b="0">
                          <a:solidFill>
                            <a:srgbClr val="153442"/>
                          </a:solidFill>
                          <a:latin typeface="Arial"/>
                          <a:ea typeface="Arial"/>
                          <a:cs typeface="Arial"/>
                        </a:rPr>
                        <a:t>9,480</a:t>
                      </a:r>
                    </a:p>
                  </a:txBody>
                  <a:tcPr marL="91440" marR="91440" marT="45720" marB="45720">
                    <a:solidFill>
                      <a:srgbClr val="FFFFFF"/>
                    </a:solidFill>
                  </a:tcPr>
                </a:tc>
                <a:tc>
                  <a:txBody>
                    <a:bodyPr/>
                    <a:lstStyle/>
                    <a:p>
                      <a:r>
                        <a:rPr sz="1875" b="0">
                          <a:solidFill>
                            <a:srgbClr val="153442"/>
                          </a:solidFill>
                          <a:latin typeface="Arial"/>
                          <a:ea typeface="Arial"/>
                          <a:cs typeface="Arial"/>
                        </a:rPr>
                        <a:t>Fit scaler and model weights</a:t>
                      </a:r>
                    </a:p>
                  </a:txBody>
                  <a:tcPr marL="91440" marR="91440" marT="45720" marB="45720">
                    <a:solidFill>
                      <a:srgbClr val="FFFFFF"/>
                    </a:solidFill>
                  </a:tcPr>
                </a:tc>
              </a:tr>
              <a:tr h="583406">
                <a:tc>
                  <a:txBody>
                    <a:bodyPr/>
                    <a:lstStyle/>
                    <a:p>
                      <a:r>
                        <a:rPr sz="1875" b="0">
                          <a:solidFill>
                            <a:srgbClr val="153442"/>
                          </a:solidFill>
                          <a:latin typeface="Arial"/>
                          <a:ea typeface="Arial"/>
                          <a:cs typeface="Arial"/>
                        </a:rPr>
                        <a:t>Validation</a:t>
                      </a:r>
                    </a:p>
                  </a:txBody>
                  <a:tcPr marL="91440" marR="91440" marT="45720" marB="45720">
                    <a:solidFill>
                      <a:srgbClr val="EAF1F1"/>
                    </a:solidFill>
                  </a:tcPr>
                </a:tc>
                <a:tc>
                  <a:txBody>
                    <a:bodyPr/>
                    <a:lstStyle/>
                    <a:p>
                      <a:r>
                        <a:rPr sz="1875" b="0">
                          <a:solidFill>
                            <a:srgbClr val="153442"/>
                          </a:solidFill>
                          <a:latin typeface="Arial"/>
                          <a:ea typeface="Arial"/>
                          <a:cs typeface="Arial"/>
                        </a:rPr>
                        <a:t>2,031</a:t>
                      </a:r>
                    </a:p>
                  </a:txBody>
                  <a:tcPr marL="91440" marR="91440" marT="45720" marB="45720">
                    <a:solidFill>
                      <a:srgbClr val="EAF1F1"/>
                    </a:solidFill>
                  </a:tcPr>
                </a:tc>
                <a:tc>
                  <a:txBody>
                    <a:bodyPr/>
                    <a:lstStyle/>
                    <a:p>
                      <a:r>
                        <a:rPr sz="1875" b="0">
                          <a:solidFill>
                            <a:srgbClr val="153442"/>
                          </a:solidFill>
                          <a:latin typeface="Arial"/>
                          <a:ea typeface="Arial"/>
                          <a:cs typeface="Arial"/>
                        </a:rPr>
                        <a:t>Select checkpoints and configuration</a:t>
                      </a:r>
                    </a:p>
                  </a:txBody>
                  <a:tcPr marL="91440" marR="91440" marT="45720" marB="45720">
                    <a:solidFill>
                      <a:srgbClr val="EAF1F1"/>
                    </a:solidFill>
                  </a:tcPr>
                </a:tc>
              </a:tr>
              <a:tr h="583406">
                <a:tc>
                  <a:txBody>
                    <a:bodyPr/>
                    <a:lstStyle/>
                    <a:p>
                      <a:r>
                        <a:rPr sz="1875" b="0">
                          <a:solidFill>
                            <a:srgbClr val="153442"/>
                          </a:solidFill>
                          <a:latin typeface="Arial"/>
                          <a:ea typeface="Arial"/>
                          <a:cs typeface="Arial"/>
                        </a:rPr>
                        <a:t>Test</a:t>
                      </a:r>
                    </a:p>
                  </a:txBody>
                  <a:tcPr marL="91440" marR="91440" marT="45720" marB="45720">
                    <a:solidFill>
                      <a:srgbClr val="FFFFFF"/>
                    </a:solidFill>
                  </a:tcPr>
                </a:tc>
                <a:tc>
                  <a:txBody>
                    <a:bodyPr/>
                    <a:lstStyle/>
                    <a:p>
                      <a:r>
                        <a:rPr sz="1875" b="0">
                          <a:solidFill>
                            <a:srgbClr val="153442"/>
                          </a:solidFill>
                          <a:latin typeface="Arial"/>
                          <a:ea typeface="Arial"/>
                          <a:cs typeface="Arial"/>
                        </a:rPr>
                        <a:t>2,032</a:t>
                      </a:r>
                    </a:p>
                  </a:txBody>
                  <a:tcPr marL="91440" marR="91440" marT="45720" marB="45720">
                    <a:solidFill>
                      <a:srgbClr val="FFFFFF"/>
                    </a:solidFill>
                  </a:tcPr>
                </a:tc>
                <a:tc>
                  <a:txBody>
                    <a:bodyPr/>
                    <a:lstStyle/>
                    <a:p>
                      <a:r>
                        <a:rPr sz="1875" b="0">
                          <a:solidFill>
                            <a:srgbClr val="153442"/>
                          </a:solidFill>
                          <a:latin typeface="Arial"/>
                          <a:ea typeface="Arial"/>
                          <a:cs typeface="Arial"/>
                        </a:rPr>
                        <a:t>Evaluate the frozen choice</a:t>
                      </a:r>
                    </a:p>
                  </a:txBody>
                  <a:tcPr marL="91440" marR="91440" marT="45720" marB="4572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0B3AEB93-E973-4524-B211-EC7CE5F77D84}"/>
              </a:ext>
            </a:extLst>
          </p:cNvPr>
          <p:cNvSpPr>
            <a:spLocks xmlns:a="http://schemas.openxmlformats.org/drawingml/2006/main" noGrp="1"/>
          </p:cNvSpPr>
          <p:nvPr/>
        </p:nvSpPr>
        <p:spPr>
          <a:xfrm xmlns:a="http://schemas.openxmlformats.org/drawingml/2006/main">
            <a:off x="590550" y="4829175"/>
            <a:ext cx="1095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53442"/>
                </a:solidFill>
                <a:latin typeface="Arial"/>
                <a:ea typeface="Arial"/>
                <a:cs typeface="Arial"/>
              </a:defRPr>
            </a:pPr>
            <a:r>
              <a:rPr sz="1950" b="0">
                <a:solidFill>
                  <a:srgbClr val="153442"/>
                </a:solidFill>
                <a:latin typeface="Arial"/>
                <a:ea typeface="Arial"/>
                <a:cs typeface="Arial"/>
              </a:rPr>
              <a:t>Stratified 70/15/15 split, seed 42. Fit StandardScaler on training only.</a:t>
            </a:r>
          </a:p>
          <a:p xmlns:a="http://schemas.openxmlformats.org/drawingml/2006/main">
            <a:pPr>
              <a:defRPr sz="1950" b="0">
                <a:solidFill>
                  <a:srgbClr val="153442"/>
                </a:solidFill>
                <a:latin typeface="Arial"/>
                <a:ea typeface="Arial"/>
                <a:cs typeface="Arial"/>
              </a:defRPr>
            </a:pPr>
            <a:r>
              <a:rPr sz="1950" b="0">
                <a:solidFill>
                  <a:srgbClr val="153442"/>
                </a:solidFill>
                <a:latin typeface="Arial"/>
                <a:ea typeface="Arial"/>
                <a:cs typeface="Arial"/>
              </a:rPr>
              <a:t>One holdout split. Three seeds repeat training, not cross-validation.</a:t>
            </a:r>
          </a:p>
        </p:txBody>
      </p:sp>
      <p:sp>
        <p:nvSpPr>
          <p:cNvPr id="6" name="">
            <a:extLst xmlns:a="http://schemas.openxmlformats.org/drawingml/2006/main">
              <a:ext uri="{FF2B5EF4-FFF2-40B4-BE49-F238E27FC236}">
                <a16:creationId xmlns:a16="http://schemas.microsoft.com/office/drawing/2014/main" id="{B46D2079-8EFF-4832-A020-6B2F856275D5}"/>
              </a:ext>
            </a:extLst>
          </p:cNvPr>
          <p:cNvSpPr>
            <a:spLocks xmlns:a="http://schemas.openxmlformats.org/drawingml/2006/main" noGrp="1"/>
          </p:cNvSpPr>
          <p:nvPr/>
        </p:nvSpPr>
        <p:spPr>
          <a:xfrm xmlns:a="http://schemas.openxmlformats.org/drawingml/2006/main">
            <a:off x="590550" y="6019800"/>
            <a:ext cx="107632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36772"/>
                </a:solidFill>
                <a:latin typeface="Arial"/>
                <a:ea typeface="Arial"/>
                <a:cs typeface="Arial"/>
              </a:defRPr>
            </a:pPr>
            <a:r>
              <a:rPr sz="1725" b="0">
                <a:solidFill>
                  <a:srgbClr val="536772"/>
                </a:solidFill>
                <a:latin typeface="Arial"/>
                <a:ea typeface="Arial"/>
                <a:cs typeface="Arial"/>
              </a:rPr>
              <a:t>Unequal class sizes: select by macro-F1. Acquisition-group IDs are unavailable.</a:t>
            </a:r>
          </a:p>
        </p:txBody>
      </p:sp>
    </p:spTree>
    <p:extLst>
      <p:ext uri="{BB962C8B-B14F-4D97-AF65-F5344CB8AC3E}">
        <p14:creationId xmlns:p14="http://schemas.microsoft.com/office/powerpoint/2010/main" val="751408906"/>
      </p:ext>
    </p:extLst>
  </p:cSld>
</p:sld>
</file>

<file path=ppt/slides/slide5.xml><?xml version="1.0" encoding="utf-8"?>
<p:sld xmlns:p="http://schemas.openxmlformats.org/presentationml/2006/main">
  <p:cSld>
    <p:bg>
      <p:bgPr>
        <a:solidFill xmlns:a="http://schemas.openxmlformats.org/drawingml/2006/main">
          <a:srgbClr val="FAF9F5"/>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7BE3C0F-CB2F-482E-8299-0A8C50587C94}"/>
              </a:ext>
            </a:extLst>
          </p:cNvPr>
          <p:cNvSpPr>
            <a:spLocks xmlns:a="http://schemas.openxmlformats.org/drawingml/2006/main" noGrp="1"/>
          </p:cNvSpPr>
          <p:nvPr/>
        </p:nvSpPr>
        <p:spPr>
          <a:xfrm xmlns:a="http://schemas.openxmlformats.org/drawingml/2006/main">
            <a:off x="552450" y="361950"/>
            <a:ext cx="110871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53442"/>
                </a:solidFill>
                <a:latin typeface="Arial"/>
                <a:ea typeface="Arial"/>
                <a:cs typeface="Arial"/>
              </a:defRPr>
            </a:pPr>
            <a:r>
              <a:rPr sz="3225" b="1">
                <a:solidFill>
                  <a:srgbClr val="153442"/>
                </a:solidFill>
                <a:latin typeface="Arial"/>
                <a:ea typeface="Arial"/>
                <a:cs typeface="Arial"/>
              </a:rPr>
              <a:t>Simple fully connected architectures</a:t>
            </a:r>
          </a:p>
        </p:txBody>
      </p:sp>
      <p:sp>
        <p:nvSpPr>
          <p:cNvPr id="2" name="">
            <a:extLst xmlns:a="http://schemas.openxmlformats.org/drawingml/2006/main">
              <a:ext uri="{FF2B5EF4-FFF2-40B4-BE49-F238E27FC236}">
                <a16:creationId xmlns:a16="http://schemas.microsoft.com/office/drawing/2014/main" id="{6B4AC3D3-2AE5-448E-BF1A-C6081C774807}"/>
              </a:ext>
            </a:extLst>
          </p:cNvPr>
          <p:cNvSpPr>
            <a:spLocks xmlns:a="http://schemas.openxmlformats.org/drawingml/2006/main" noGrp="1"/>
          </p:cNvSpPr>
          <p:nvPr/>
        </p:nvSpPr>
        <p:spPr>
          <a:xfrm xmlns:a="http://schemas.openxmlformats.org/drawingml/2006/main">
            <a:off x="11144250" y="641985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36772"/>
                </a:solidFill>
                <a:latin typeface="Arial"/>
                <a:ea typeface="Arial"/>
                <a:cs typeface="Arial"/>
              </a:defRPr>
            </a:pPr>
            <a:r>
              <a:rPr sz="1350" b="0">
                <a:solidFill>
                  <a:srgbClr val="536772"/>
                </a:solidFill>
                <a:latin typeface="Arial"/>
                <a:ea typeface="Arial"/>
                <a:cs typeface="Arial"/>
              </a:rPr>
              <a:t>05</a:t>
            </a:r>
          </a:p>
        </p:txBody>
      </p:sp>
      <p:graphicFrame>
        <p:nvGraphicFramePr>
          <p:cNvPr id="8" name=""/>
          <p:cNvGraphicFramePr/>
          <p:nvPr/>
        </p:nvGraphicFramePr>
        <p:xfrm>
          <a:off xmlns:a="http://schemas.openxmlformats.org/drawingml/2006/main" x="571500" y="1495425"/>
          <a:ext xmlns:a="http://schemas.openxmlformats.org/drawingml/2006/main" cx="11049000" cy="2428875"/>
        </p:xfrm>
        <a:graphic xmlns:a="http://schemas.openxmlformats.org/drawingml/2006/main">
          <a:graphicData uri="http://schemas.openxmlformats.org/drawingml/2006/table">
            <a:tbl>
              <a:tblPr/>
              <a:tblGrid>
                <a:gridCol w="2524125"/>
                <a:gridCol w="6191250"/>
                <a:gridCol w="2333625"/>
              </a:tblGrid>
              <a:tr h="607219">
                <a:tc>
                  <a:txBody>
                    <a:bodyPr/>
                    <a:lstStyle/>
                    <a:p>
                      <a:r>
                        <a:rPr sz="1875" b="1">
                          <a:solidFill>
                            <a:srgbClr val="FFFFFF"/>
                          </a:solidFill>
                          <a:latin typeface="Arial"/>
                          <a:ea typeface="Arial"/>
                          <a:cs typeface="Arial"/>
                        </a:rPr>
                        <a:t>Model</a:t>
                      </a:r>
                    </a:p>
                  </a:txBody>
                  <a:tcPr marL="91440" marR="91440" marT="45720" marB="45720">
                    <a:solidFill>
                      <a:srgbClr val="153442"/>
                    </a:solidFill>
                  </a:tcPr>
                </a:tc>
                <a:tc>
                  <a:txBody>
                    <a:bodyPr/>
                    <a:lstStyle/>
                    <a:p>
                      <a:r>
                        <a:rPr sz="1875" b="1">
                          <a:solidFill>
                            <a:srgbClr val="FFFFFF"/>
                          </a:solidFill>
                          <a:latin typeface="Arial"/>
                          <a:ea typeface="Arial"/>
                          <a:cs typeface="Arial"/>
                        </a:rPr>
                        <a:t>Layer widths</a:t>
                      </a:r>
                    </a:p>
                  </a:txBody>
                  <a:tcPr marL="91440" marR="91440" marT="45720" marB="45720">
                    <a:solidFill>
                      <a:srgbClr val="153442"/>
                    </a:solidFill>
                  </a:tcPr>
                </a:tc>
                <a:tc>
                  <a:txBody>
                    <a:bodyPr/>
                    <a:lstStyle/>
                    <a:p>
                      <a:r>
                        <a:rPr sz="1875" b="1">
                          <a:solidFill>
                            <a:srgbClr val="FFFFFF"/>
                          </a:solidFill>
                          <a:latin typeface="Arial"/>
                          <a:ea typeface="Arial"/>
                          <a:cs typeface="Arial"/>
                        </a:rPr>
                        <a:t>Parameters</a:t>
                      </a:r>
                    </a:p>
                  </a:txBody>
                  <a:tcPr marL="91440" marR="91440" marT="45720" marB="45720">
                    <a:solidFill>
                      <a:srgbClr val="153442"/>
                    </a:solidFill>
                  </a:tcPr>
                </a:tc>
              </a:tr>
              <a:tr h="607219">
                <a:tc>
                  <a:txBody>
                    <a:bodyPr/>
                    <a:lstStyle/>
                    <a:p>
                      <a:r>
                        <a:rPr sz="1875" b="0">
                          <a:solidFill>
                            <a:srgbClr val="153442"/>
                          </a:solidFill>
                          <a:latin typeface="Arial"/>
                          <a:ea typeface="Arial"/>
                          <a:cs typeface="Arial"/>
                        </a:rPr>
                        <a:t>Small MLP</a:t>
                      </a:r>
                    </a:p>
                  </a:txBody>
                  <a:tcPr marL="91440" marR="91440" marT="45720" marB="45720">
                    <a:solidFill>
                      <a:srgbClr val="FFFFFF"/>
                    </a:solidFill>
                  </a:tcPr>
                </a:tc>
                <a:tc>
                  <a:txBody>
                    <a:bodyPr/>
                    <a:lstStyle/>
                    <a:p>
                      <a:r>
                        <a:rPr sz="1875" b="0">
                          <a:solidFill>
                            <a:srgbClr val="153442"/>
                          </a:solidFill>
                          <a:latin typeface="Arial"/>
                          <a:ea typeface="Arial"/>
                          <a:cs typeface="Arial"/>
                        </a:rPr>
                        <a:t>16 inputs, 32 hidden, 7 logits</a:t>
                      </a:r>
                    </a:p>
                  </a:txBody>
                  <a:tcPr marL="91440" marR="91440" marT="45720" marB="45720">
                    <a:solidFill>
                      <a:srgbClr val="FFFFFF"/>
                    </a:solidFill>
                  </a:tcPr>
                </a:tc>
                <a:tc>
                  <a:txBody>
                    <a:bodyPr/>
                    <a:lstStyle/>
                    <a:p>
                      <a:r>
                        <a:rPr sz="1875" b="0">
                          <a:solidFill>
                            <a:srgbClr val="153442"/>
                          </a:solidFill>
                          <a:latin typeface="Arial"/>
                          <a:ea typeface="Arial"/>
                          <a:cs typeface="Arial"/>
                        </a:rPr>
                        <a:t>775</a:t>
                      </a:r>
                    </a:p>
                  </a:txBody>
                  <a:tcPr marL="91440" marR="91440" marT="45720" marB="45720">
                    <a:solidFill>
                      <a:srgbClr val="FFFFFF"/>
                    </a:solidFill>
                  </a:tcPr>
                </a:tc>
              </a:tr>
              <a:tr h="607219">
                <a:tc>
                  <a:txBody>
                    <a:bodyPr/>
                    <a:lstStyle/>
                    <a:p>
                      <a:r>
                        <a:rPr sz="1875" b="0">
                          <a:solidFill>
                            <a:srgbClr val="153442"/>
                          </a:solidFill>
                          <a:latin typeface="Arial"/>
                          <a:ea typeface="Arial"/>
                          <a:cs typeface="Arial"/>
                        </a:rPr>
                        <a:t>Two-layer MLP</a:t>
                      </a:r>
                    </a:p>
                  </a:txBody>
                  <a:tcPr marL="91440" marR="91440" marT="45720" marB="45720">
                    <a:solidFill>
                      <a:srgbClr val="EAF1F1"/>
                    </a:solidFill>
                  </a:tcPr>
                </a:tc>
                <a:tc>
                  <a:txBody>
                    <a:bodyPr/>
                    <a:lstStyle/>
                    <a:p>
                      <a:r>
                        <a:rPr sz="1875" b="0">
                          <a:solidFill>
                            <a:srgbClr val="153442"/>
                          </a:solidFill>
                          <a:latin typeface="Arial"/>
                          <a:ea typeface="Arial"/>
                          <a:cs typeface="Arial"/>
                        </a:rPr>
                        <a:t>16 inputs, 64 hidden, 32 hidden, 7 logits</a:t>
                      </a:r>
                    </a:p>
                  </a:txBody>
                  <a:tcPr marL="91440" marR="91440" marT="45720" marB="45720">
                    <a:solidFill>
                      <a:srgbClr val="EAF1F1"/>
                    </a:solidFill>
                  </a:tcPr>
                </a:tc>
                <a:tc>
                  <a:txBody>
                    <a:bodyPr/>
                    <a:lstStyle/>
                    <a:p>
                      <a:r>
                        <a:rPr sz="1875" b="0">
                          <a:solidFill>
                            <a:srgbClr val="153442"/>
                          </a:solidFill>
                          <a:latin typeface="Arial"/>
                          <a:ea typeface="Arial"/>
                          <a:cs typeface="Arial"/>
                        </a:rPr>
                        <a:t>3,399</a:t>
                      </a:r>
                    </a:p>
                  </a:txBody>
                  <a:tcPr marL="91440" marR="91440" marT="45720" marB="45720">
                    <a:solidFill>
                      <a:srgbClr val="EAF1F1"/>
                    </a:solidFill>
                  </a:tcPr>
                </a:tc>
              </a:tr>
              <a:tr h="607219">
                <a:tc>
                  <a:txBody>
                    <a:bodyPr/>
                    <a:lstStyle/>
                    <a:p>
                      <a:r>
                        <a:rPr sz="1875" b="0">
                          <a:solidFill>
                            <a:srgbClr val="153442"/>
                          </a:solidFill>
                          <a:latin typeface="Arial"/>
                          <a:ea typeface="Arial"/>
                          <a:cs typeface="Arial"/>
                        </a:rPr>
                        <a:t>Linear reference</a:t>
                      </a:r>
                    </a:p>
                  </a:txBody>
                  <a:tcPr marL="91440" marR="91440" marT="45720" marB="45720">
                    <a:solidFill>
                      <a:srgbClr val="FFFFFF"/>
                    </a:solidFill>
                  </a:tcPr>
                </a:tc>
                <a:tc>
                  <a:txBody>
                    <a:bodyPr/>
                    <a:lstStyle/>
                    <a:p>
                      <a:r>
                        <a:rPr sz="1875" b="0">
                          <a:solidFill>
                            <a:srgbClr val="153442"/>
                          </a:solidFill>
                          <a:latin typeface="Arial"/>
                          <a:ea typeface="Arial"/>
                          <a:cs typeface="Arial"/>
                        </a:rPr>
                        <a:t>Logistic regression, fixed C = 1.0</a:t>
                      </a:r>
                    </a:p>
                  </a:txBody>
                  <a:tcPr marL="91440" marR="91440" marT="45720" marB="45720">
                    <a:solidFill>
                      <a:srgbClr val="FFFFFF"/>
                    </a:solidFill>
                  </a:tcPr>
                </a:tc>
                <a:tc>
                  <a:txBody>
                    <a:bodyPr/>
                    <a:lstStyle/>
                    <a:p>
                      <a:r>
                        <a:rPr sz="1875" b="0">
                          <a:solidFill>
                            <a:srgbClr val="153442"/>
                          </a:solidFill>
                          <a:latin typeface="Arial"/>
                          <a:ea typeface="Arial"/>
                          <a:cs typeface="Arial"/>
                        </a:rPr>
                        <a:t>119</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80F42684-468B-4743-81A1-6D19DF2A4065}"/>
              </a:ext>
            </a:extLst>
          </p:cNvPr>
          <p:cNvSpPr>
            <a:spLocks xmlns:a="http://schemas.openxmlformats.org/drawingml/2006/main" noGrp="1"/>
          </p:cNvSpPr>
          <p:nvPr/>
        </p:nvSpPr>
        <p:spPr>
          <a:xfrm xmlns:a="http://schemas.openxmlformats.org/drawingml/2006/main">
            <a:off x="619125" y="4333875"/>
            <a:ext cx="10763250" cy="1323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53442"/>
                </a:solidFill>
                <a:latin typeface="Arial"/>
                <a:ea typeface="Arial"/>
                <a:cs typeface="Arial"/>
              </a:defRPr>
            </a:pPr>
            <a:r>
              <a:rPr sz="2175" b="0">
                <a:solidFill>
                  <a:srgbClr val="153442"/>
                </a:solidFill>
                <a:latin typeface="Arial"/>
                <a:ea typeface="Arial"/>
                <a:cs typeface="Arial"/>
              </a:rPr>
              <a:t>ReLU after every hidden dense layer</a:t>
            </a:r>
          </a:p>
          <a:p xmlns:a="http://schemas.openxmlformats.org/drawingml/2006/main">
            <a:pPr>
              <a:defRPr sz="2175" b="0">
                <a:solidFill>
                  <a:srgbClr val="153442"/>
                </a:solidFill>
                <a:latin typeface="Arial"/>
                <a:ea typeface="Arial"/>
                <a:cs typeface="Arial"/>
              </a:defRPr>
            </a:pPr>
            <a:r>
              <a:rPr sz="2175" b="0">
                <a:solidFill>
                  <a:srgbClr val="153442"/>
                </a:solidFill>
                <a:latin typeface="Arial"/>
                <a:ea typeface="Arial"/>
                <a:cs typeface="Arial"/>
              </a:rPr>
              <a:t>Dropout variant: rate 0.20 after both hidden activations</a:t>
            </a:r>
          </a:p>
          <a:p xmlns:a="http://schemas.openxmlformats.org/drawingml/2006/main">
            <a:pPr>
              <a:defRPr sz="2175" b="0">
                <a:solidFill>
                  <a:srgbClr val="153442"/>
                </a:solidFill>
                <a:latin typeface="Arial"/>
                <a:ea typeface="Arial"/>
                <a:cs typeface="Arial"/>
              </a:defRPr>
            </a:pPr>
            <a:r>
              <a:rPr sz="2175" b="0">
                <a:solidFill>
                  <a:srgbClr val="153442"/>
                </a:solidFill>
                <a:latin typeface="Arial"/>
                <a:ea typeface="Arial"/>
                <a:cs typeface="Arial"/>
              </a:rPr>
              <a:t>Cross-entropy receives seven raw logits</a:t>
            </a:r>
          </a:p>
        </p:txBody>
      </p:sp>
      <p:sp>
        <p:nvSpPr>
          <p:cNvPr id="5" name="">
            <a:extLst xmlns:a="http://schemas.openxmlformats.org/drawingml/2006/main">
              <a:ext uri="{FF2B5EF4-FFF2-40B4-BE49-F238E27FC236}">
                <a16:creationId xmlns:a16="http://schemas.microsoft.com/office/drawing/2014/main" id="{E94A8672-51AE-4A49-B838-A3D73D91D199}"/>
              </a:ext>
            </a:extLst>
          </p:cNvPr>
          <p:cNvSpPr>
            <a:spLocks xmlns:a="http://schemas.openxmlformats.org/drawingml/2006/main" noGrp="1"/>
          </p:cNvSpPr>
          <p:nvPr/>
        </p:nvSpPr>
        <p:spPr>
          <a:xfrm xmlns:a="http://schemas.openxmlformats.org/drawingml/2006/main">
            <a:off x="619125" y="6038850"/>
            <a:ext cx="1076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36772"/>
                </a:solidFill>
                <a:latin typeface="Arial"/>
                <a:ea typeface="Arial"/>
                <a:cs typeface="Arial"/>
              </a:defRPr>
            </a:pPr>
            <a:r>
              <a:rPr sz="1725" b="0">
                <a:solidFill>
                  <a:srgbClr val="536772"/>
                </a:solidFill>
                <a:latin typeface="Arial"/>
                <a:ea typeface="Arial"/>
                <a:cs typeface="Arial"/>
              </a:rPr>
              <a:t>MLPs suit named numerical measurements. No image grid is available for a CNN.</a:t>
            </a:r>
          </a:p>
        </p:txBody>
      </p:sp>
    </p:spTree>
    <p:extLst>
      <p:ext uri="{BB962C8B-B14F-4D97-AF65-F5344CB8AC3E}">
        <p14:creationId xmlns:p14="http://schemas.microsoft.com/office/powerpoint/2010/main" val="665280128"/>
      </p:ext>
    </p:extLst>
  </p:cSld>
</p:sld>
</file>

<file path=ppt/slides/slide6.xml><?xml version="1.0" encoding="utf-8"?>
<p:sld xmlns:p="http://schemas.openxmlformats.org/presentationml/2006/main">
  <p:cSld>
    <p:bg>
      <p:bgPr>
        <a:solidFill xmlns:a="http://schemas.openxmlformats.org/drawingml/2006/main">
          <a:srgbClr val="FAF9F5"/>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8FCB894-6AD4-48BB-8959-4CCAF8E95780}"/>
              </a:ext>
            </a:extLst>
          </p:cNvPr>
          <p:cNvSpPr>
            <a:spLocks xmlns:a="http://schemas.openxmlformats.org/drawingml/2006/main" noGrp="1"/>
          </p:cNvSpPr>
          <p:nvPr/>
        </p:nvSpPr>
        <p:spPr>
          <a:xfrm xmlns:a="http://schemas.openxmlformats.org/drawingml/2006/main">
            <a:off x="552450" y="361950"/>
            <a:ext cx="110871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53442"/>
                </a:solidFill>
                <a:latin typeface="Arial"/>
                <a:ea typeface="Arial"/>
                <a:cs typeface="Arial"/>
              </a:defRPr>
            </a:pPr>
            <a:r>
              <a:rPr sz="3225" b="1">
                <a:solidFill>
                  <a:srgbClr val="153442"/>
                </a:solidFill>
                <a:latin typeface="Arial"/>
                <a:ea typeface="Arial"/>
                <a:cs typeface="Arial"/>
              </a:rPr>
              <a:t>Learning strategy and controlled variants</a:t>
            </a:r>
          </a:p>
        </p:txBody>
      </p:sp>
      <p:sp>
        <p:nvSpPr>
          <p:cNvPr id="2" name="">
            <a:extLst xmlns:a="http://schemas.openxmlformats.org/drawingml/2006/main">
              <a:ext uri="{FF2B5EF4-FFF2-40B4-BE49-F238E27FC236}">
                <a16:creationId xmlns:a16="http://schemas.microsoft.com/office/drawing/2014/main" id="{F55670FD-94E9-4747-A287-8DCEB656783D}"/>
              </a:ext>
            </a:extLst>
          </p:cNvPr>
          <p:cNvSpPr>
            <a:spLocks xmlns:a="http://schemas.openxmlformats.org/drawingml/2006/main" noGrp="1"/>
          </p:cNvSpPr>
          <p:nvPr/>
        </p:nvSpPr>
        <p:spPr>
          <a:xfrm xmlns:a="http://schemas.openxmlformats.org/drawingml/2006/main">
            <a:off x="11144250" y="641985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36772"/>
                </a:solidFill>
                <a:latin typeface="Arial"/>
                <a:ea typeface="Arial"/>
                <a:cs typeface="Arial"/>
              </a:defRPr>
            </a:pPr>
            <a:r>
              <a:rPr sz="1350" b="0">
                <a:solidFill>
                  <a:srgbClr val="536772"/>
                </a:solidFill>
                <a:latin typeface="Arial"/>
                <a:ea typeface="Arial"/>
                <a:cs typeface="Arial"/>
              </a:rPr>
              <a:t>06</a:t>
            </a:r>
          </a:p>
        </p:txBody>
      </p:sp>
      <p:graphicFrame>
        <p:nvGraphicFramePr>
          <p:cNvPr id="10" name=""/>
          <p:cNvGraphicFramePr/>
          <p:nvPr/>
        </p:nvGraphicFramePr>
        <p:xfrm>
          <a:off xmlns:a="http://schemas.openxmlformats.org/drawingml/2006/main" x="571500" y="1400175"/>
          <a:ext xmlns:a="http://schemas.openxmlformats.org/drawingml/2006/main" cx="6953250" cy="3381375"/>
        </p:xfrm>
        <a:graphic xmlns:a="http://schemas.openxmlformats.org/drawingml/2006/main">
          <a:graphicData uri="http://schemas.openxmlformats.org/drawingml/2006/table">
            <a:tbl>
              <a:tblPr/>
              <a:tblGrid>
                <a:gridCol w="2762250"/>
                <a:gridCol w="4191000"/>
              </a:tblGrid>
              <a:tr h="483054">
                <a:tc>
                  <a:txBody>
                    <a:bodyPr/>
                    <a:lstStyle/>
                    <a:p>
                      <a:r>
                        <a:rPr sz="1725" b="1">
                          <a:solidFill>
                            <a:srgbClr val="FFFFFF"/>
                          </a:solidFill>
                          <a:latin typeface="Arial"/>
                          <a:ea typeface="Arial"/>
                          <a:cs typeface="Arial"/>
                        </a:rPr>
                        <a:t>Configuration</a:t>
                      </a:r>
                    </a:p>
                  </a:txBody>
                  <a:tcPr marL="91440" marR="91440" marT="45720" marB="45720">
                    <a:solidFill>
                      <a:srgbClr val="153442"/>
                    </a:solidFill>
                  </a:tcPr>
                </a:tc>
                <a:tc>
                  <a:txBody>
                    <a:bodyPr/>
                    <a:lstStyle/>
                    <a:p>
                      <a:r>
                        <a:rPr sz="1725" b="1">
                          <a:solidFill>
                            <a:srgbClr val="FFFFFF"/>
                          </a:solidFill>
                          <a:latin typeface="Arial"/>
                          <a:ea typeface="Arial"/>
                          <a:cs typeface="Arial"/>
                        </a:rPr>
                        <a:t>Change</a:t>
                      </a:r>
                    </a:p>
                  </a:txBody>
                  <a:tcPr marL="91440" marR="91440" marT="45720" marB="45720">
                    <a:solidFill>
                      <a:srgbClr val="153442"/>
                    </a:solidFill>
                  </a:tcPr>
                </a:tc>
              </a:tr>
              <a:tr h="483054">
                <a:tc>
                  <a:txBody>
                    <a:bodyPr/>
                    <a:lstStyle/>
                    <a:p>
                      <a:r>
                        <a:rPr sz="1725" b="0">
                          <a:solidFill>
                            <a:srgbClr val="153442"/>
                          </a:solidFill>
                          <a:latin typeface="Arial"/>
                          <a:ea typeface="Arial"/>
                          <a:cs typeface="Arial"/>
                        </a:rPr>
                        <a:t>MLP-32</a:t>
                      </a:r>
                    </a:p>
                  </a:txBody>
                  <a:tcPr marL="91440" marR="91440" marT="45720" marB="45720">
                    <a:solidFill>
                      <a:srgbClr val="FFFFFF"/>
                    </a:solidFill>
                  </a:tcPr>
                </a:tc>
                <a:tc>
                  <a:txBody>
                    <a:bodyPr/>
                    <a:lstStyle/>
                    <a:p>
                      <a:r>
                        <a:rPr sz="1725" b="0">
                          <a:solidFill>
                            <a:srgbClr val="153442"/>
                          </a:solidFill>
                          <a:latin typeface="Arial"/>
                          <a:ea typeface="Arial"/>
                          <a:cs typeface="Arial"/>
                        </a:rPr>
                        <a:t>One hidden layer, 32 units</a:t>
                      </a:r>
                    </a:p>
                  </a:txBody>
                  <a:tcPr marL="91440" marR="91440" marT="45720" marB="45720">
                    <a:solidFill>
                      <a:srgbClr val="FFFFFF"/>
                    </a:solidFill>
                  </a:tcPr>
                </a:tc>
              </a:tr>
              <a:tr h="483054">
                <a:tc>
                  <a:txBody>
                    <a:bodyPr/>
                    <a:lstStyle/>
                    <a:p>
                      <a:r>
                        <a:rPr sz="1725" b="0">
                          <a:solidFill>
                            <a:srgbClr val="153442"/>
                          </a:solidFill>
                          <a:latin typeface="Arial"/>
                          <a:ea typeface="Arial"/>
                          <a:cs typeface="Arial"/>
                        </a:rPr>
                        <a:t>MLP-base</a:t>
                      </a:r>
                    </a:p>
                  </a:txBody>
                  <a:tcPr marL="91440" marR="91440" marT="45720" marB="45720">
                    <a:solidFill>
                      <a:srgbClr val="EAF1F1"/>
                    </a:solidFill>
                  </a:tcPr>
                </a:tc>
                <a:tc>
                  <a:txBody>
                    <a:bodyPr/>
                    <a:lstStyle/>
                    <a:p>
                      <a:r>
                        <a:rPr sz="1725" b="0">
                          <a:solidFill>
                            <a:srgbClr val="153442"/>
                          </a:solidFill>
                          <a:latin typeface="Arial"/>
                          <a:ea typeface="Arial"/>
                          <a:cs typeface="Arial"/>
                        </a:rPr>
                        <a:t>Two hidden layers, 64 and 32 units</a:t>
                      </a:r>
                    </a:p>
                  </a:txBody>
                  <a:tcPr marL="91440" marR="91440" marT="45720" marB="45720">
                    <a:solidFill>
                      <a:srgbClr val="EAF1F1"/>
                    </a:solidFill>
                  </a:tcPr>
                </a:tc>
              </a:tr>
              <a:tr h="483054">
                <a:tc>
                  <a:txBody>
                    <a:bodyPr/>
                    <a:lstStyle/>
                    <a:p>
                      <a:r>
                        <a:rPr sz="1725" b="0">
                          <a:solidFill>
                            <a:srgbClr val="153442"/>
                          </a:solidFill>
                          <a:latin typeface="Arial"/>
                          <a:ea typeface="Arial"/>
                          <a:cs typeface="Arial"/>
                        </a:rPr>
                        <a:t>MLP-low-lr</a:t>
                      </a:r>
                    </a:p>
                  </a:txBody>
                  <a:tcPr marL="91440" marR="91440" marT="45720" marB="45720">
                    <a:solidFill>
                      <a:srgbClr val="FFFFFF"/>
                    </a:solidFill>
                  </a:tcPr>
                </a:tc>
                <a:tc>
                  <a:txBody>
                    <a:bodyPr/>
                    <a:lstStyle/>
                    <a:p>
                      <a:r>
                        <a:rPr sz="1725" b="0">
                          <a:solidFill>
                            <a:srgbClr val="153442"/>
                          </a:solidFill>
                          <a:latin typeface="Arial"/>
                          <a:ea typeface="Arial"/>
                          <a:cs typeface="Arial"/>
                        </a:rPr>
                        <a:t>Learning rate 0.0003</a:t>
                      </a:r>
                    </a:p>
                  </a:txBody>
                  <a:tcPr marL="91440" marR="91440" marT="45720" marB="45720">
                    <a:solidFill>
                      <a:srgbClr val="FFFFFF"/>
                    </a:solidFill>
                  </a:tcPr>
                </a:tc>
              </a:tr>
              <a:tr h="483054">
                <a:tc>
                  <a:txBody>
                    <a:bodyPr/>
                    <a:lstStyle/>
                    <a:p>
                      <a:r>
                        <a:rPr sz="1725" b="0">
                          <a:solidFill>
                            <a:srgbClr val="153442"/>
                          </a:solidFill>
                          <a:latin typeface="Arial"/>
                          <a:ea typeface="Arial"/>
                          <a:cs typeface="Arial"/>
                        </a:rPr>
                        <a:t>MLP-high-lr</a:t>
                      </a:r>
                    </a:p>
                  </a:txBody>
                  <a:tcPr marL="91440" marR="91440" marT="45720" marB="45720">
                    <a:solidFill>
                      <a:srgbClr val="EAF1F1"/>
                    </a:solidFill>
                  </a:tcPr>
                </a:tc>
                <a:tc>
                  <a:txBody>
                    <a:bodyPr/>
                    <a:lstStyle/>
                    <a:p>
                      <a:r>
                        <a:rPr sz="1725" b="0">
                          <a:solidFill>
                            <a:srgbClr val="153442"/>
                          </a:solidFill>
                          <a:latin typeface="Arial"/>
                          <a:ea typeface="Arial"/>
                          <a:cs typeface="Arial"/>
                        </a:rPr>
                        <a:t>Learning rate 0.003</a:t>
                      </a:r>
                    </a:p>
                  </a:txBody>
                  <a:tcPr marL="91440" marR="91440" marT="45720" marB="45720">
                    <a:solidFill>
                      <a:srgbClr val="EAF1F1"/>
                    </a:solidFill>
                  </a:tcPr>
                </a:tc>
              </a:tr>
              <a:tr h="483054">
                <a:tc>
                  <a:txBody>
                    <a:bodyPr/>
                    <a:lstStyle/>
                    <a:p>
                      <a:r>
                        <a:rPr sz="1725" b="0">
                          <a:solidFill>
                            <a:srgbClr val="153442"/>
                          </a:solidFill>
                          <a:latin typeface="Arial"/>
                          <a:ea typeface="Arial"/>
                          <a:cs typeface="Arial"/>
                        </a:rPr>
                        <a:t>MLP-dropout</a:t>
                      </a:r>
                    </a:p>
                  </a:txBody>
                  <a:tcPr marL="91440" marR="91440" marT="45720" marB="45720">
                    <a:solidFill>
                      <a:srgbClr val="FFFFFF"/>
                    </a:solidFill>
                  </a:tcPr>
                </a:tc>
                <a:tc>
                  <a:txBody>
                    <a:bodyPr/>
                    <a:lstStyle/>
                    <a:p>
                      <a:r>
                        <a:rPr sz="1725" b="0">
                          <a:solidFill>
                            <a:srgbClr val="153442"/>
                          </a:solidFill>
                          <a:latin typeface="Arial"/>
                          <a:ea typeface="Arial"/>
                          <a:cs typeface="Arial"/>
                        </a:rPr>
                        <a:t>Dropout 0.20</a:t>
                      </a:r>
                    </a:p>
                  </a:txBody>
                  <a:tcPr marL="91440" marR="91440" marT="45720" marB="45720">
                    <a:solidFill>
                      <a:srgbClr val="FFFFFF"/>
                    </a:solidFill>
                  </a:tcPr>
                </a:tc>
              </a:tr>
              <a:tr h="483054">
                <a:tc>
                  <a:txBody>
                    <a:bodyPr/>
                    <a:lstStyle/>
                    <a:p>
                      <a:r>
                        <a:rPr sz="1725" b="0">
                          <a:solidFill>
                            <a:srgbClr val="153442"/>
                          </a:solidFill>
                          <a:latin typeface="Arial"/>
                          <a:ea typeface="Arial"/>
                          <a:cs typeface="Arial"/>
                        </a:rPr>
                        <a:t>MLP-weighted</a:t>
                      </a:r>
                    </a:p>
                  </a:txBody>
                  <a:tcPr marL="91440" marR="91440" marT="45720" marB="45720">
                    <a:solidFill>
                      <a:srgbClr val="EAF1F1"/>
                    </a:solidFill>
                  </a:tcPr>
                </a:tc>
                <a:tc>
                  <a:txBody>
                    <a:bodyPr/>
                    <a:lstStyle/>
                    <a:p>
                      <a:r>
                        <a:rPr sz="1725" b="0">
                          <a:solidFill>
                            <a:srgbClr val="153442"/>
                          </a:solidFill>
                          <a:latin typeface="Arial"/>
                          <a:ea typeface="Arial"/>
                          <a:cs typeface="Arial"/>
                        </a:rPr>
                        <a:t>Inverse-frequency class weights</a:t>
                      </a:r>
                    </a:p>
                  </a:txBody>
                  <a:tcPr marL="91440" marR="91440" marT="45720" marB="45720">
                    <a:solidFill>
                      <a:srgbClr val="EAF1F1"/>
                    </a:solidFill>
                  </a:tcPr>
                </a:tc>
              </a:tr>
            </a:tbl>
          </a:graphicData>
        </a:graphic>
      </p:graphicFrame>
      <p:sp>
        <p:nvSpPr>
          <p:cNvPr id="4" name="">
            <a:extLst xmlns:a="http://schemas.openxmlformats.org/drawingml/2006/main">
              <a:ext uri="{FF2B5EF4-FFF2-40B4-BE49-F238E27FC236}">
                <a16:creationId xmlns:a16="http://schemas.microsoft.com/office/drawing/2014/main" id="{951D6040-1716-47E8-A8C4-5B881A3C23BC}"/>
              </a:ext>
            </a:extLst>
          </p:cNvPr>
          <p:cNvSpPr>
            <a:spLocks xmlns:a="http://schemas.openxmlformats.org/drawingml/2006/main" noGrp="1"/>
          </p:cNvSpPr>
          <p:nvPr/>
        </p:nvSpPr>
        <p:spPr>
          <a:xfrm xmlns:a="http://schemas.openxmlformats.org/drawingml/2006/main">
            <a:off x="8001000" y="1476375"/>
            <a:ext cx="3524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1">
                <a:solidFill>
                  <a:srgbClr val="007D88"/>
                </a:solidFill>
                <a:latin typeface="Arial"/>
                <a:ea typeface="Arial"/>
                <a:cs typeface="Arial"/>
              </a:defRPr>
            </a:pPr>
            <a:r>
              <a:rPr sz="2475" b="1">
                <a:solidFill>
                  <a:srgbClr val="007D88"/>
                </a:solidFill>
                <a:latin typeface="Arial"/>
                <a:ea typeface="Arial"/>
                <a:cs typeface="Arial"/>
              </a:rPr>
              <a:t>18 neural runs</a:t>
            </a:r>
          </a:p>
        </p:txBody>
      </p:sp>
      <p:sp>
        <p:nvSpPr>
          <p:cNvPr id="5" name="">
            <a:extLst xmlns:a="http://schemas.openxmlformats.org/drawingml/2006/main">
              <a:ext uri="{FF2B5EF4-FFF2-40B4-BE49-F238E27FC236}">
                <a16:creationId xmlns:a16="http://schemas.microsoft.com/office/drawing/2014/main" id="{7FCEE5C9-41CC-4BD8-97AF-9FE0CE5FD639}"/>
              </a:ext>
            </a:extLst>
          </p:cNvPr>
          <p:cNvSpPr>
            <a:spLocks xmlns:a="http://schemas.openxmlformats.org/drawingml/2006/main" noGrp="1"/>
          </p:cNvSpPr>
          <p:nvPr/>
        </p:nvSpPr>
        <p:spPr>
          <a:xfrm xmlns:a="http://schemas.openxmlformats.org/drawingml/2006/main">
            <a:off x="8001000" y="2314575"/>
            <a:ext cx="3571875" cy="1790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53442"/>
                </a:solidFill>
                <a:latin typeface="Arial"/>
                <a:ea typeface="Arial"/>
                <a:cs typeface="Arial"/>
              </a:defRPr>
            </a:pPr>
            <a:r>
              <a:rPr sz="2025" b="0">
                <a:solidFill>
                  <a:srgbClr val="153442"/>
                </a:solidFill>
                <a:latin typeface="Arial"/>
                <a:ea typeface="Arial"/>
                <a:cs typeface="Arial"/>
              </a:rPr>
              <a:t>6 settings × 3 seeds</a:t>
            </a:r>
          </a:p>
          <a:p xmlns:a="http://schemas.openxmlformats.org/drawingml/2006/main">
            <a:pPr>
              <a:defRPr sz="2025" b="0">
                <a:solidFill>
                  <a:srgbClr val="153442"/>
                </a:solidFill>
                <a:latin typeface="Arial"/>
                <a:ea typeface="Arial"/>
                <a:cs typeface="Arial"/>
              </a:defRPr>
            </a:pPr>
            <a:r>
              <a:rPr sz="2025" b="0">
                <a:solidFill>
                  <a:srgbClr val="153442"/>
                </a:solidFill>
                <a:latin typeface="Arial"/>
                <a:ea typeface="Arial"/>
                <a:cs typeface="Arial"/>
              </a:rPr>
              <a:t>Adam, batch 256</a:t>
            </a:r>
          </a:p>
          <a:p xmlns:a="http://schemas.openxmlformats.org/drawingml/2006/main">
            <a:pPr>
              <a:defRPr sz="2025" b="0">
                <a:solidFill>
                  <a:srgbClr val="153442"/>
                </a:solidFill>
                <a:latin typeface="Arial"/>
                <a:ea typeface="Arial"/>
                <a:cs typeface="Arial"/>
              </a:defRPr>
            </a:pPr>
            <a:r>
              <a:rPr sz="2025" b="0">
                <a:solidFill>
                  <a:srgbClr val="153442"/>
                </a:solidFill>
                <a:latin typeface="Arial"/>
                <a:ea typeface="Arial"/>
                <a:cs typeface="Arial"/>
              </a:rPr>
              <a:t>Up to 40 epochs</a:t>
            </a:r>
          </a:p>
          <a:p xmlns:a="http://schemas.openxmlformats.org/drawingml/2006/main">
            <a:pPr>
              <a:defRPr sz="2025" b="0">
                <a:solidFill>
                  <a:srgbClr val="153442"/>
                </a:solidFill>
                <a:latin typeface="Arial"/>
                <a:ea typeface="Arial"/>
                <a:cs typeface="Arial"/>
              </a:defRPr>
            </a:pPr>
            <a:r>
              <a:rPr sz="2025" b="0">
                <a:solidFill>
                  <a:srgbClr val="153442"/>
                </a:solidFill>
                <a:latin typeface="Arial"/>
                <a:ea typeface="Arial"/>
                <a:cs typeface="Arial"/>
              </a:rPr>
              <a:t>Base rate: 0.001</a:t>
            </a:r>
          </a:p>
        </p:txBody>
      </p:sp>
      <p:sp>
        <p:nvSpPr>
          <p:cNvPr id="6" name="">
            <a:extLst xmlns:a="http://schemas.openxmlformats.org/drawingml/2006/main">
              <a:ext uri="{FF2B5EF4-FFF2-40B4-BE49-F238E27FC236}">
                <a16:creationId xmlns:a16="http://schemas.microsoft.com/office/drawing/2014/main" id="{5F6D24A2-B407-47DC-8A71-D32E2A4C9D92}"/>
              </a:ext>
            </a:extLst>
          </p:cNvPr>
          <p:cNvSpPr>
            <a:spLocks xmlns:a="http://schemas.openxmlformats.org/drawingml/2006/main" noGrp="1"/>
          </p:cNvSpPr>
          <p:nvPr/>
        </p:nvSpPr>
        <p:spPr>
          <a:xfrm xmlns:a="http://schemas.openxmlformats.org/drawingml/2006/main">
            <a:off x="590550" y="5067300"/>
            <a:ext cx="109537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53442"/>
                </a:solidFill>
                <a:latin typeface="Arial"/>
                <a:ea typeface="Arial"/>
                <a:cs typeface="Arial"/>
              </a:defRPr>
            </a:pPr>
            <a:r>
              <a:rPr sz="1950" b="0">
                <a:solidFill>
                  <a:srgbClr val="153442"/>
                </a:solidFill>
                <a:latin typeface="Arial"/>
                <a:ea typeface="Arial"/>
                <a:cs typeface="Arial"/>
              </a:rPr>
              <a:t>Checkpoint: minimum unweighted validation loss, patience 8.</a:t>
            </a:r>
          </a:p>
          <a:p xmlns:a="http://schemas.openxmlformats.org/drawingml/2006/main">
            <a:pPr>
              <a:defRPr sz="1950" b="0">
                <a:solidFill>
                  <a:srgbClr val="153442"/>
                </a:solidFill>
                <a:latin typeface="Arial"/>
                <a:ea typeface="Arial"/>
                <a:cs typeface="Arial"/>
              </a:defRPr>
            </a:pPr>
            <a:r>
              <a:rPr sz="1950" b="0">
                <a:solidFill>
                  <a:srgbClr val="153442"/>
                </a:solidFill>
                <a:latin typeface="Arial"/>
                <a:ea typeface="Arial"/>
                <a:cs typeface="Arial"/>
              </a:rPr>
              <a:t>Configuration: highest mean validation macro-F1, then lower loss and size.</a:t>
            </a:r>
          </a:p>
        </p:txBody>
      </p:sp>
      <p:sp>
        <p:nvSpPr>
          <p:cNvPr id="7" name="">
            <a:extLst xmlns:a="http://schemas.openxmlformats.org/drawingml/2006/main">
              <a:ext uri="{FF2B5EF4-FFF2-40B4-BE49-F238E27FC236}">
                <a16:creationId xmlns:a16="http://schemas.microsoft.com/office/drawing/2014/main" id="{AAD43068-D1CE-49A3-A2B9-CB4921634077}"/>
              </a:ext>
            </a:extLst>
          </p:cNvPr>
          <p:cNvSpPr>
            <a:spLocks xmlns:a="http://schemas.openxmlformats.org/drawingml/2006/main" noGrp="1"/>
          </p:cNvSpPr>
          <p:nvPr/>
        </p:nvSpPr>
        <p:spPr>
          <a:xfrm xmlns:a="http://schemas.openxmlformats.org/drawingml/2006/main">
            <a:off x="590550" y="6153150"/>
            <a:ext cx="105251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007D88"/>
                </a:solidFill>
                <a:latin typeface="Arial"/>
                <a:ea typeface="Arial"/>
                <a:cs typeface="Arial"/>
              </a:defRPr>
            </a:pPr>
            <a:r>
              <a:rPr sz="1650" b="1">
                <a:solidFill>
                  <a:srgbClr val="007D88"/>
                </a:solidFill>
                <a:latin typeface="Arial"/>
                <a:ea typeface="Arial"/>
                <a:cs typeface="Arial"/>
              </a:rPr>
              <a:t>Class weights use training labels only. Test scores never select settings.</a:t>
            </a:r>
          </a:p>
        </p:txBody>
      </p:sp>
    </p:spTree>
    <p:extLst>
      <p:ext uri="{BB962C8B-B14F-4D97-AF65-F5344CB8AC3E}">
        <p14:creationId xmlns:p14="http://schemas.microsoft.com/office/powerpoint/2010/main" val="733905217"/>
      </p:ext>
    </p:extLst>
  </p:cSld>
</p:sld>
</file>

<file path=ppt/slides/slide7.xml><?xml version="1.0" encoding="utf-8"?>
<p:sld xmlns:p="http://schemas.openxmlformats.org/presentationml/2006/main">
  <p:cSld>
    <p:bg>
      <p:bgPr>
        <a:solidFill xmlns:a="http://schemas.openxmlformats.org/drawingml/2006/main">
          <a:srgbClr val="FAF9F5"/>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144364E-044D-404A-95BD-09273F0528D9}"/>
              </a:ext>
            </a:extLst>
          </p:cNvPr>
          <p:cNvSpPr>
            <a:spLocks xmlns:a="http://schemas.openxmlformats.org/drawingml/2006/main" noGrp="1"/>
          </p:cNvSpPr>
          <p:nvPr/>
        </p:nvSpPr>
        <p:spPr>
          <a:xfrm xmlns:a="http://schemas.openxmlformats.org/drawingml/2006/main">
            <a:off x="552450" y="361950"/>
            <a:ext cx="110871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53442"/>
                </a:solidFill>
                <a:latin typeface="Arial"/>
                <a:ea typeface="Arial"/>
                <a:cs typeface="Arial"/>
              </a:defRPr>
            </a:pPr>
            <a:r>
              <a:rPr sz="3225" b="1">
                <a:solidFill>
                  <a:srgbClr val="153442"/>
                </a:solidFill>
                <a:latin typeface="Arial"/>
                <a:ea typeface="Arial"/>
                <a:cs typeface="Arial"/>
              </a:rPr>
              <a:t>Validation comparison across 18 runs</a:t>
            </a:r>
          </a:p>
        </p:txBody>
      </p:sp>
      <p:sp>
        <p:nvSpPr>
          <p:cNvPr id="2" name="">
            <a:extLst xmlns:a="http://schemas.openxmlformats.org/drawingml/2006/main">
              <a:ext uri="{FF2B5EF4-FFF2-40B4-BE49-F238E27FC236}">
                <a16:creationId xmlns:a16="http://schemas.microsoft.com/office/drawing/2014/main" id="{D1D87133-CA16-4C2D-BB88-1607CB1C6036}"/>
              </a:ext>
            </a:extLst>
          </p:cNvPr>
          <p:cNvSpPr>
            <a:spLocks xmlns:a="http://schemas.openxmlformats.org/drawingml/2006/main" noGrp="1"/>
          </p:cNvSpPr>
          <p:nvPr/>
        </p:nvSpPr>
        <p:spPr>
          <a:xfrm xmlns:a="http://schemas.openxmlformats.org/drawingml/2006/main">
            <a:off x="11144250" y="641985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36772"/>
                </a:solidFill>
                <a:latin typeface="Arial"/>
                <a:ea typeface="Arial"/>
                <a:cs typeface="Arial"/>
              </a:defRPr>
            </a:pPr>
            <a:r>
              <a:rPr sz="1350" b="0">
                <a:solidFill>
                  <a:srgbClr val="536772"/>
                </a:solidFill>
                <a:latin typeface="Arial"/>
                <a:ea typeface="Arial"/>
                <a:cs typeface="Arial"/>
              </a:rPr>
              <a:t>07</a:t>
            </a:r>
          </a:p>
        </p:txBody>
      </p:sp>
      <p:graphicFrame>
        <p:nvGraphicFramePr>
          <p:cNvPr id="8" name=""/>
          <p:cNvGraphicFramePr/>
          <p:nvPr/>
        </p:nvGraphicFramePr>
        <p:xfrm>
          <a:off xmlns:a="http://schemas.openxmlformats.org/drawingml/2006/main" x="571500" y="1409700"/>
          <a:ext xmlns:a="http://schemas.openxmlformats.org/drawingml/2006/main" cx="11049000" cy="3476625"/>
        </p:xfrm>
        <a:graphic xmlns:a="http://schemas.openxmlformats.org/drawingml/2006/main">
          <a:graphicData uri="http://schemas.openxmlformats.org/drawingml/2006/table">
            <a:tbl>
              <a:tblPr/>
              <a:tblGrid>
                <a:gridCol w="3238500"/>
                <a:gridCol w="3286125"/>
                <a:gridCol w="2381250"/>
                <a:gridCol w="2143125"/>
              </a:tblGrid>
              <a:tr h="496661">
                <a:tc>
                  <a:txBody>
                    <a:bodyPr/>
                    <a:lstStyle/>
                    <a:p>
                      <a:r>
                        <a:rPr sz="1800" b="1">
                          <a:solidFill>
                            <a:srgbClr val="FFFFFF"/>
                          </a:solidFill>
                          <a:latin typeface="Arial"/>
                          <a:ea typeface="Arial"/>
                          <a:cs typeface="Arial"/>
                        </a:rPr>
                        <a:t>Configuration</a:t>
                      </a:r>
                    </a:p>
                  </a:txBody>
                  <a:tcPr marL="91440" marR="91440" marT="45720" marB="45720">
                    <a:solidFill>
                      <a:srgbClr val="153442"/>
                    </a:solidFill>
                  </a:tcPr>
                </a:tc>
                <a:tc>
                  <a:txBody>
                    <a:bodyPr/>
                    <a:lstStyle/>
                    <a:p>
                      <a:r>
                        <a:rPr sz="1800" b="1">
                          <a:solidFill>
                            <a:srgbClr val="FFFFFF"/>
                          </a:solidFill>
                          <a:latin typeface="Arial"/>
                          <a:ea typeface="Arial"/>
                          <a:cs typeface="Arial"/>
                        </a:rPr>
                        <a:t>Macro-F1 ± SD</a:t>
                      </a:r>
                    </a:p>
                  </a:txBody>
                  <a:tcPr marL="91440" marR="91440" marT="45720" marB="45720">
                    <a:solidFill>
                      <a:srgbClr val="153442"/>
                    </a:solidFill>
                  </a:tcPr>
                </a:tc>
                <a:tc>
                  <a:txBody>
                    <a:bodyPr/>
                    <a:lstStyle/>
                    <a:p>
                      <a:r>
                        <a:rPr sz="1800" b="1">
                          <a:solidFill>
                            <a:srgbClr val="FFFFFF"/>
                          </a:solidFill>
                          <a:latin typeface="Arial"/>
                          <a:ea typeface="Arial"/>
                          <a:cs typeface="Arial"/>
                        </a:rPr>
                        <a:t>Accuracy, %</a:t>
                      </a:r>
                    </a:p>
                  </a:txBody>
                  <a:tcPr marL="91440" marR="91440" marT="45720" marB="45720">
                    <a:solidFill>
                      <a:srgbClr val="153442"/>
                    </a:solidFill>
                  </a:tcPr>
                </a:tc>
                <a:tc>
                  <a:txBody>
                    <a:bodyPr/>
                    <a:lstStyle/>
                    <a:p>
                      <a:r>
                        <a:rPr sz="1800" b="1">
                          <a:solidFill>
                            <a:srgbClr val="FFFFFF"/>
                          </a:solidFill>
                          <a:latin typeface="Arial"/>
                          <a:ea typeface="Arial"/>
                          <a:cs typeface="Arial"/>
                        </a:rPr>
                        <a:t>Parameters</a:t>
                      </a:r>
                    </a:p>
                  </a:txBody>
                  <a:tcPr marL="91440" marR="91440" marT="45720" marB="45720">
                    <a:solidFill>
                      <a:srgbClr val="153442"/>
                    </a:solidFill>
                  </a:tcPr>
                </a:tc>
              </a:tr>
              <a:tr h="496661">
                <a:tc>
                  <a:txBody>
                    <a:bodyPr/>
                    <a:lstStyle/>
                    <a:p>
                      <a:r>
                        <a:rPr sz="1800" b="0">
                          <a:solidFill>
                            <a:srgbClr val="153442"/>
                          </a:solidFill>
                          <a:latin typeface="Arial"/>
                          <a:ea typeface="Arial"/>
                          <a:cs typeface="Arial"/>
                        </a:rPr>
                        <a:t>MLP-32</a:t>
                      </a:r>
                    </a:p>
                  </a:txBody>
                  <a:tcPr marL="91440" marR="91440" marT="45720" marB="45720">
                    <a:solidFill>
                      <a:srgbClr val="FFFFFF"/>
                    </a:solidFill>
                  </a:tcPr>
                </a:tc>
                <a:tc>
                  <a:txBody>
                    <a:bodyPr/>
                    <a:lstStyle/>
                    <a:p>
                      <a:r>
                        <a:rPr sz="1800" b="0">
                          <a:solidFill>
                            <a:srgbClr val="153442"/>
                          </a:solidFill>
                          <a:latin typeface="Arial"/>
                          <a:ea typeface="Arial"/>
                          <a:cs typeface="Arial"/>
                        </a:rPr>
                        <a:t>0.9300 ± 0.0009</a:t>
                      </a:r>
                    </a:p>
                  </a:txBody>
                  <a:tcPr marL="91440" marR="91440" marT="45720" marB="45720">
                    <a:solidFill>
                      <a:srgbClr val="FFFFFF"/>
                    </a:solidFill>
                  </a:tcPr>
                </a:tc>
                <a:tc>
                  <a:txBody>
                    <a:bodyPr/>
                    <a:lstStyle/>
                    <a:p>
                      <a:r>
                        <a:rPr sz="1800" b="0">
                          <a:solidFill>
                            <a:srgbClr val="153442"/>
                          </a:solidFill>
                          <a:latin typeface="Arial"/>
                          <a:ea typeface="Arial"/>
                          <a:cs typeface="Arial"/>
                        </a:rPr>
                        <a:t>91.97</a:t>
                      </a:r>
                    </a:p>
                  </a:txBody>
                  <a:tcPr marL="91440" marR="91440" marT="45720" marB="45720">
                    <a:solidFill>
                      <a:srgbClr val="FFFFFF"/>
                    </a:solidFill>
                  </a:tcPr>
                </a:tc>
                <a:tc>
                  <a:txBody>
                    <a:bodyPr/>
                    <a:lstStyle/>
                    <a:p>
                      <a:r>
                        <a:rPr sz="1800" b="0">
                          <a:solidFill>
                            <a:srgbClr val="153442"/>
                          </a:solidFill>
                          <a:latin typeface="Arial"/>
                          <a:ea typeface="Arial"/>
                          <a:cs typeface="Arial"/>
                        </a:rPr>
                        <a:t>775</a:t>
                      </a:r>
                    </a:p>
                  </a:txBody>
                  <a:tcPr marL="91440" marR="91440" marT="45720" marB="45720">
                    <a:solidFill>
                      <a:srgbClr val="FFFFFF"/>
                    </a:solidFill>
                  </a:tcPr>
                </a:tc>
              </a:tr>
              <a:tr h="496661">
                <a:tc>
                  <a:txBody>
                    <a:bodyPr/>
                    <a:lstStyle/>
                    <a:p>
                      <a:r>
                        <a:rPr sz="1800" b="0">
                          <a:solidFill>
                            <a:srgbClr val="153442"/>
                          </a:solidFill>
                          <a:latin typeface="Arial"/>
                          <a:ea typeface="Arial"/>
                          <a:cs typeface="Arial"/>
                        </a:rPr>
                        <a:t>MLP-base</a:t>
                      </a:r>
                    </a:p>
                  </a:txBody>
                  <a:tcPr marL="91440" marR="91440" marT="45720" marB="45720">
                    <a:solidFill>
                      <a:srgbClr val="EAF1F1"/>
                    </a:solidFill>
                  </a:tcPr>
                </a:tc>
                <a:tc>
                  <a:txBody>
                    <a:bodyPr/>
                    <a:lstStyle/>
                    <a:p>
                      <a:r>
                        <a:rPr sz="1800" b="0">
                          <a:solidFill>
                            <a:srgbClr val="153442"/>
                          </a:solidFill>
                          <a:latin typeface="Arial"/>
                          <a:ea typeface="Arial"/>
                          <a:cs typeface="Arial"/>
                        </a:rPr>
                        <a:t>0.9355 ± 0.0020</a:t>
                      </a:r>
                    </a:p>
                  </a:txBody>
                  <a:tcPr marL="91440" marR="91440" marT="45720" marB="45720">
                    <a:solidFill>
                      <a:srgbClr val="EAF1F1"/>
                    </a:solidFill>
                  </a:tcPr>
                </a:tc>
                <a:tc>
                  <a:txBody>
                    <a:bodyPr/>
                    <a:lstStyle/>
                    <a:p>
                      <a:r>
                        <a:rPr sz="1800" b="0">
                          <a:solidFill>
                            <a:srgbClr val="153442"/>
                          </a:solidFill>
                          <a:latin typeface="Arial"/>
                          <a:ea typeface="Arial"/>
                          <a:cs typeface="Arial"/>
                        </a:rPr>
                        <a:t>92.65</a:t>
                      </a:r>
                    </a:p>
                  </a:txBody>
                  <a:tcPr marL="91440" marR="91440" marT="45720" marB="45720">
                    <a:solidFill>
                      <a:srgbClr val="EAF1F1"/>
                    </a:solidFill>
                  </a:tcPr>
                </a:tc>
                <a:tc>
                  <a:txBody>
                    <a:bodyPr/>
                    <a:lstStyle/>
                    <a:p>
                      <a:r>
                        <a:rPr sz="1800" b="0">
                          <a:solidFill>
                            <a:srgbClr val="153442"/>
                          </a:solidFill>
                          <a:latin typeface="Arial"/>
                          <a:ea typeface="Arial"/>
                          <a:cs typeface="Arial"/>
                        </a:rPr>
                        <a:t>3,399</a:t>
                      </a:r>
                    </a:p>
                  </a:txBody>
                  <a:tcPr marL="91440" marR="91440" marT="45720" marB="45720">
                    <a:solidFill>
                      <a:srgbClr val="EAF1F1"/>
                    </a:solidFill>
                  </a:tcPr>
                </a:tc>
              </a:tr>
              <a:tr h="496661">
                <a:tc>
                  <a:txBody>
                    <a:bodyPr/>
                    <a:lstStyle/>
                    <a:p>
                      <a:r>
                        <a:rPr sz="1800" b="0">
                          <a:solidFill>
                            <a:srgbClr val="153442"/>
                          </a:solidFill>
                          <a:latin typeface="Arial"/>
                          <a:ea typeface="Arial"/>
                          <a:cs typeface="Arial"/>
                        </a:rPr>
                        <a:t>MLP-low-lr</a:t>
                      </a:r>
                    </a:p>
                  </a:txBody>
                  <a:tcPr marL="91440" marR="91440" marT="45720" marB="45720">
                    <a:solidFill>
                      <a:srgbClr val="FFFFFF"/>
                    </a:solidFill>
                  </a:tcPr>
                </a:tc>
                <a:tc>
                  <a:txBody>
                    <a:bodyPr/>
                    <a:lstStyle/>
                    <a:p>
                      <a:r>
                        <a:rPr sz="1800" b="0">
                          <a:solidFill>
                            <a:srgbClr val="153442"/>
                          </a:solidFill>
                          <a:latin typeface="Arial"/>
                          <a:ea typeface="Arial"/>
                          <a:cs typeface="Arial"/>
                        </a:rPr>
                        <a:t>0.9306 ± 0.0002</a:t>
                      </a:r>
                    </a:p>
                  </a:txBody>
                  <a:tcPr marL="91440" marR="91440" marT="45720" marB="45720">
                    <a:solidFill>
                      <a:srgbClr val="FFFFFF"/>
                    </a:solidFill>
                  </a:tcPr>
                </a:tc>
                <a:tc>
                  <a:txBody>
                    <a:bodyPr/>
                    <a:lstStyle/>
                    <a:p>
                      <a:r>
                        <a:rPr sz="1800" b="0">
                          <a:solidFill>
                            <a:srgbClr val="153442"/>
                          </a:solidFill>
                          <a:latin typeface="Arial"/>
                          <a:ea typeface="Arial"/>
                          <a:cs typeface="Arial"/>
                        </a:rPr>
                        <a:t>92.07</a:t>
                      </a:r>
                    </a:p>
                  </a:txBody>
                  <a:tcPr marL="91440" marR="91440" marT="45720" marB="45720">
                    <a:solidFill>
                      <a:srgbClr val="FFFFFF"/>
                    </a:solidFill>
                  </a:tcPr>
                </a:tc>
                <a:tc>
                  <a:txBody>
                    <a:bodyPr/>
                    <a:lstStyle/>
                    <a:p>
                      <a:r>
                        <a:rPr sz="1800" b="0">
                          <a:solidFill>
                            <a:srgbClr val="153442"/>
                          </a:solidFill>
                          <a:latin typeface="Arial"/>
                          <a:ea typeface="Arial"/>
                          <a:cs typeface="Arial"/>
                        </a:rPr>
                        <a:t>3,399</a:t>
                      </a:r>
                    </a:p>
                  </a:txBody>
                  <a:tcPr marL="91440" marR="91440" marT="45720" marB="45720">
                    <a:solidFill>
                      <a:srgbClr val="FFFFFF"/>
                    </a:solidFill>
                  </a:tcPr>
                </a:tc>
              </a:tr>
              <a:tr h="496661">
                <a:tc>
                  <a:txBody>
                    <a:bodyPr/>
                    <a:lstStyle/>
                    <a:p>
                      <a:r>
                        <a:rPr sz="1800" b="0">
                          <a:solidFill>
                            <a:srgbClr val="153442"/>
                          </a:solidFill>
                          <a:latin typeface="Arial"/>
                          <a:ea typeface="Arial"/>
                          <a:cs typeface="Arial"/>
                        </a:rPr>
                        <a:t>MLP-high-lr</a:t>
                      </a:r>
                    </a:p>
                  </a:txBody>
                  <a:tcPr marL="91440" marR="91440" marT="45720" marB="45720">
                    <a:solidFill>
                      <a:srgbClr val="EAF1F1"/>
                    </a:solidFill>
                  </a:tcPr>
                </a:tc>
                <a:tc>
                  <a:txBody>
                    <a:bodyPr/>
                    <a:lstStyle/>
                    <a:p>
                      <a:r>
                        <a:rPr sz="1800" b="0">
                          <a:solidFill>
                            <a:srgbClr val="153442"/>
                          </a:solidFill>
                          <a:latin typeface="Arial"/>
                          <a:ea typeface="Arial"/>
                          <a:cs typeface="Arial"/>
                        </a:rPr>
                        <a:t>0.9367 ± 0.0015</a:t>
                      </a:r>
                    </a:p>
                  </a:txBody>
                  <a:tcPr marL="91440" marR="91440" marT="45720" marB="45720">
                    <a:solidFill>
                      <a:srgbClr val="EAF1F1"/>
                    </a:solidFill>
                  </a:tcPr>
                </a:tc>
                <a:tc>
                  <a:txBody>
                    <a:bodyPr/>
                    <a:lstStyle/>
                    <a:p>
                      <a:r>
                        <a:rPr sz="1800" b="0">
                          <a:solidFill>
                            <a:srgbClr val="153442"/>
                          </a:solidFill>
                          <a:latin typeface="Arial"/>
                          <a:ea typeface="Arial"/>
                          <a:cs typeface="Arial"/>
                        </a:rPr>
                        <a:t>92.78</a:t>
                      </a:r>
                    </a:p>
                  </a:txBody>
                  <a:tcPr marL="91440" marR="91440" marT="45720" marB="45720">
                    <a:solidFill>
                      <a:srgbClr val="EAF1F1"/>
                    </a:solidFill>
                  </a:tcPr>
                </a:tc>
                <a:tc>
                  <a:txBody>
                    <a:bodyPr/>
                    <a:lstStyle/>
                    <a:p>
                      <a:r>
                        <a:rPr sz="1800" b="0">
                          <a:solidFill>
                            <a:srgbClr val="153442"/>
                          </a:solidFill>
                          <a:latin typeface="Arial"/>
                          <a:ea typeface="Arial"/>
                          <a:cs typeface="Arial"/>
                        </a:rPr>
                        <a:t>3,399</a:t>
                      </a:r>
                    </a:p>
                  </a:txBody>
                  <a:tcPr marL="91440" marR="91440" marT="45720" marB="45720">
                    <a:solidFill>
                      <a:srgbClr val="EAF1F1"/>
                    </a:solidFill>
                  </a:tcPr>
                </a:tc>
              </a:tr>
              <a:tr h="496661">
                <a:tc>
                  <a:txBody>
                    <a:bodyPr/>
                    <a:lstStyle/>
                    <a:p>
                      <a:r>
                        <a:rPr sz="1800" b="0">
                          <a:solidFill>
                            <a:srgbClr val="153442"/>
                          </a:solidFill>
                          <a:latin typeface="Arial"/>
                          <a:ea typeface="Arial"/>
                          <a:cs typeface="Arial"/>
                        </a:rPr>
                        <a:t>MLP-dropout</a:t>
                      </a:r>
                    </a:p>
                  </a:txBody>
                  <a:tcPr marL="91440" marR="91440" marT="45720" marB="45720">
                    <a:solidFill>
                      <a:srgbClr val="FFFFFF"/>
                    </a:solidFill>
                  </a:tcPr>
                </a:tc>
                <a:tc>
                  <a:txBody>
                    <a:bodyPr/>
                    <a:lstStyle/>
                    <a:p>
                      <a:r>
                        <a:rPr sz="1800" b="0">
                          <a:solidFill>
                            <a:srgbClr val="153442"/>
                          </a:solidFill>
                          <a:latin typeface="Arial"/>
                          <a:ea typeface="Arial"/>
                          <a:cs typeface="Arial"/>
                        </a:rPr>
                        <a:t>0.9342 ± 0.0027</a:t>
                      </a:r>
                    </a:p>
                  </a:txBody>
                  <a:tcPr marL="91440" marR="91440" marT="45720" marB="45720">
                    <a:solidFill>
                      <a:srgbClr val="FFFFFF"/>
                    </a:solidFill>
                  </a:tcPr>
                </a:tc>
                <a:tc>
                  <a:txBody>
                    <a:bodyPr/>
                    <a:lstStyle/>
                    <a:p>
                      <a:r>
                        <a:rPr sz="1800" b="0">
                          <a:solidFill>
                            <a:srgbClr val="153442"/>
                          </a:solidFill>
                          <a:latin typeface="Arial"/>
                          <a:ea typeface="Arial"/>
                          <a:cs typeface="Arial"/>
                        </a:rPr>
                        <a:t>92.45</a:t>
                      </a:r>
                    </a:p>
                  </a:txBody>
                  <a:tcPr marL="91440" marR="91440" marT="45720" marB="45720">
                    <a:solidFill>
                      <a:srgbClr val="FFFFFF"/>
                    </a:solidFill>
                  </a:tcPr>
                </a:tc>
                <a:tc>
                  <a:txBody>
                    <a:bodyPr/>
                    <a:lstStyle/>
                    <a:p>
                      <a:r>
                        <a:rPr sz="1800" b="0">
                          <a:solidFill>
                            <a:srgbClr val="153442"/>
                          </a:solidFill>
                          <a:latin typeface="Arial"/>
                          <a:ea typeface="Arial"/>
                          <a:cs typeface="Arial"/>
                        </a:rPr>
                        <a:t>3,399</a:t>
                      </a:r>
                    </a:p>
                  </a:txBody>
                  <a:tcPr marL="91440" marR="91440" marT="45720" marB="45720">
                    <a:solidFill>
                      <a:srgbClr val="FFFFFF"/>
                    </a:solidFill>
                  </a:tcPr>
                </a:tc>
              </a:tr>
              <a:tr h="496661">
                <a:tc>
                  <a:txBody>
                    <a:bodyPr/>
                    <a:lstStyle/>
                    <a:p>
                      <a:r>
                        <a:rPr sz="1800" b="0">
                          <a:solidFill>
                            <a:srgbClr val="153442"/>
                          </a:solidFill>
                          <a:latin typeface="Arial"/>
                          <a:ea typeface="Arial"/>
                          <a:cs typeface="Arial"/>
                        </a:rPr>
                        <a:t>MLP-weighted</a:t>
                      </a:r>
                    </a:p>
                  </a:txBody>
                  <a:tcPr marL="91440" marR="91440" marT="45720" marB="45720">
                    <a:solidFill>
                      <a:srgbClr val="EAF1F1"/>
                    </a:solidFill>
                  </a:tcPr>
                </a:tc>
                <a:tc>
                  <a:txBody>
                    <a:bodyPr/>
                    <a:lstStyle/>
                    <a:p>
                      <a:r>
                        <a:rPr sz="1800" b="0">
                          <a:solidFill>
                            <a:srgbClr val="153442"/>
                          </a:solidFill>
                          <a:latin typeface="Arial"/>
                          <a:ea typeface="Arial"/>
                          <a:cs typeface="Arial"/>
                        </a:rPr>
                        <a:t>0.9352 ± 0.0011</a:t>
                      </a:r>
                    </a:p>
                  </a:txBody>
                  <a:tcPr marL="91440" marR="91440" marT="45720" marB="45720">
                    <a:solidFill>
                      <a:srgbClr val="EAF1F1"/>
                    </a:solidFill>
                  </a:tcPr>
                </a:tc>
                <a:tc>
                  <a:txBody>
                    <a:bodyPr/>
                    <a:lstStyle/>
                    <a:p>
                      <a:r>
                        <a:rPr sz="1800" b="0">
                          <a:solidFill>
                            <a:srgbClr val="153442"/>
                          </a:solidFill>
                          <a:latin typeface="Arial"/>
                          <a:ea typeface="Arial"/>
                          <a:cs typeface="Arial"/>
                        </a:rPr>
                        <a:t>92.60</a:t>
                      </a:r>
                    </a:p>
                  </a:txBody>
                  <a:tcPr marL="91440" marR="91440" marT="45720" marB="45720">
                    <a:solidFill>
                      <a:srgbClr val="EAF1F1"/>
                    </a:solidFill>
                  </a:tcPr>
                </a:tc>
                <a:tc>
                  <a:txBody>
                    <a:bodyPr/>
                    <a:lstStyle/>
                    <a:p>
                      <a:r>
                        <a:rPr sz="1800" b="0">
                          <a:solidFill>
                            <a:srgbClr val="153442"/>
                          </a:solidFill>
                          <a:latin typeface="Arial"/>
                          <a:ea typeface="Arial"/>
                          <a:cs typeface="Arial"/>
                        </a:rPr>
                        <a:t>3,399</a:t>
                      </a:r>
                    </a:p>
                  </a:txBody>
                  <a:tcPr marL="91440" marR="91440" marT="45720" marB="45720">
                    <a:solidFill>
                      <a:srgbClr val="EAF1F1"/>
                    </a:solidFill>
                  </a:tcPr>
                </a:tc>
              </a:tr>
            </a:tbl>
          </a:graphicData>
        </a:graphic>
      </p:graphicFrame>
      <p:sp>
        <p:nvSpPr>
          <p:cNvPr id="4" name="">
            <a:extLst xmlns:a="http://schemas.openxmlformats.org/drawingml/2006/main">
              <a:ext uri="{FF2B5EF4-FFF2-40B4-BE49-F238E27FC236}">
                <a16:creationId xmlns:a16="http://schemas.microsoft.com/office/drawing/2014/main" id="{53E295D7-54A1-40CE-A304-2C3889F4DAFF}"/>
              </a:ext>
            </a:extLst>
          </p:cNvPr>
          <p:cNvSpPr>
            <a:spLocks xmlns:a="http://schemas.openxmlformats.org/drawingml/2006/main" noGrp="1"/>
          </p:cNvSpPr>
          <p:nvPr/>
        </p:nvSpPr>
        <p:spPr>
          <a:xfrm xmlns:a="http://schemas.openxmlformats.org/drawingml/2006/main">
            <a:off x="619125" y="5219700"/>
            <a:ext cx="10763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007D88"/>
                </a:solidFill>
                <a:latin typeface="Arial"/>
                <a:ea typeface="Arial"/>
                <a:cs typeface="Arial"/>
              </a:defRPr>
            </a:pPr>
            <a:r>
              <a:rPr sz="2325" b="1">
                <a:solidFill>
                  <a:srgbClr val="007D88"/>
                </a:solidFill>
                <a:latin typeface="Arial"/>
                <a:ea typeface="Arial"/>
                <a:cs typeface="Arial"/>
              </a:rPr>
              <a:t>Selected neural configuration: MLP-high-lr</a:t>
            </a:r>
          </a:p>
        </p:txBody>
      </p:sp>
      <p:sp>
        <p:nvSpPr>
          <p:cNvPr id="5" name="">
            <a:extLst xmlns:a="http://schemas.openxmlformats.org/drawingml/2006/main">
              <a:ext uri="{FF2B5EF4-FFF2-40B4-BE49-F238E27FC236}">
                <a16:creationId xmlns:a16="http://schemas.microsoft.com/office/drawing/2014/main" id="{F58729A7-DC02-4BD1-B7D9-ECC4B5616134}"/>
              </a:ext>
            </a:extLst>
          </p:cNvPr>
          <p:cNvSpPr>
            <a:spLocks xmlns:a="http://schemas.openxmlformats.org/drawingml/2006/main" noGrp="1"/>
          </p:cNvSpPr>
          <p:nvPr/>
        </p:nvSpPr>
        <p:spPr>
          <a:xfrm xmlns:a="http://schemas.openxmlformats.org/drawingml/2006/main">
            <a:off x="619125" y="5876925"/>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36772"/>
                </a:solidFill>
                <a:latin typeface="Arial"/>
                <a:ea typeface="Arial"/>
                <a:cs typeface="Arial"/>
              </a:defRPr>
            </a:pPr>
            <a:r>
              <a:rPr sz="1650" b="0">
                <a:solidFill>
                  <a:srgbClr val="536772"/>
                </a:solidFill>
                <a:latin typeface="Arial"/>
                <a:ea typeface="Arial"/>
                <a:cs typeface="Arial"/>
              </a:rPr>
              <a:t>Fixed logistic reference: validation macro-F1 0.9314.</a:t>
            </a:r>
          </a:p>
          <a:p xmlns:a="http://schemas.openxmlformats.org/drawingml/2006/main">
            <a:pPr>
              <a:defRPr sz="1650" b="0">
                <a:solidFill>
                  <a:srgbClr val="536772"/>
                </a:solidFill>
                <a:latin typeface="Arial"/>
                <a:ea typeface="Arial"/>
                <a:cs typeface="Arial"/>
              </a:defRPr>
            </a:pPr>
            <a:r>
              <a:rPr sz="1650" b="0">
                <a:solidFill>
                  <a:srgbClr val="536772"/>
                </a:solidFill>
                <a:latin typeface="Arial"/>
                <a:ea typeface="Arial"/>
                <a:cs typeface="Arial"/>
              </a:rPr>
              <a:t>SD covers training seeds on one split. 9/18 runs reached the epoch cap.</a:t>
            </a:r>
          </a:p>
        </p:txBody>
      </p:sp>
    </p:spTree>
    <p:extLst>
      <p:ext uri="{BB962C8B-B14F-4D97-AF65-F5344CB8AC3E}">
        <p14:creationId xmlns:p14="http://schemas.microsoft.com/office/powerpoint/2010/main" val="1813242815"/>
      </p:ext>
    </p:extLst>
  </p:cSld>
</p:sld>
</file>

<file path=ppt/slides/slide8.xml><?xml version="1.0" encoding="utf-8"?>
<p:sld xmlns:p="http://schemas.openxmlformats.org/presentationml/2006/main">
  <p:cSld>
    <p:bg>
      <p:bgPr>
        <a:solidFill xmlns:a="http://schemas.openxmlformats.org/drawingml/2006/main">
          <a:srgbClr val="FAF9F5"/>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D34A5A1-888F-43B9-AC7C-9C3933964F81}"/>
              </a:ext>
            </a:extLst>
          </p:cNvPr>
          <p:cNvSpPr>
            <a:spLocks xmlns:a="http://schemas.openxmlformats.org/drawingml/2006/main" noGrp="1"/>
          </p:cNvSpPr>
          <p:nvPr/>
        </p:nvSpPr>
        <p:spPr>
          <a:xfrm xmlns:a="http://schemas.openxmlformats.org/drawingml/2006/main">
            <a:off x="552450" y="361950"/>
            <a:ext cx="110871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53442"/>
                </a:solidFill>
                <a:latin typeface="Arial"/>
                <a:ea typeface="Arial"/>
                <a:cs typeface="Arial"/>
              </a:defRPr>
            </a:pPr>
            <a:r>
              <a:rPr sz="3225" b="1">
                <a:solidFill>
                  <a:srgbClr val="153442"/>
                </a:solidFill>
                <a:latin typeface="Arial"/>
                <a:ea typeface="Arial"/>
                <a:cs typeface="Arial"/>
              </a:rPr>
              <a:t>Held-out test results and learning curve</a:t>
            </a:r>
          </a:p>
        </p:txBody>
      </p:sp>
      <p:sp>
        <p:nvSpPr>
          <p:cNvPr id="2" name="">
            <a:extLst xmlns:a="http://schemas.openxmlformats.org/drawingml/2006/main">
              <a:ext uri="{FF2B5EF4-FFF2-40B4-BE49-F238E27FC236}">
                <a16:creationId xmlns:a16="http://schemas.microsoft.com/office/drawing/2014/main" id="{B504B6AC-EA5D-41DC-A3D0-1934DD0C2409}"/>
              </a:ext>
            </a:extLst>
          </p:cNvPr>
          <p:cNvSpPr>
            <a:spLocks xmlns:a="http://schemas.openxmlformats.org/drawingml/2006/main" noGrp="1"/>
          </p:cNvSpPr>
          <p:nvPr/>
        </p:nvSpPr>
        <p:spPr>
          <a:xfrm xmlns:a="http://schemas.openxmlformats.org/drawingml/2006/main">
            <a:off x="11144250" y="641985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36772"/>
                </a:solidFill>
                <a:latin typeface="Arial"/>
                <a:ea typeface="Arial"/>
                <a:cs typeface="Arial"/>
              </a:defRPr>
            </a:pPr>
            <a:r>
              <a:rPr sz="1350" b="0">
                <a:solidFill>
                  <a:srgbClr val="536772"/>
                </a:solidFill>
                <a:latin typeface="Arial"/>
                <a:ea typeface="Arial"/>
                <a:cs typeface="Arial"/>
              </a:rPr>
              <a:t>08</a:t>
            </a:r>
          </a:p>
        </p:txBody>
      </p:sp>
      <p:graphicFrame>
        <p:nvGraphicFramePr>
          <p:cNvPr id="11" name=""/>
          <p:cNvGraphicFramePr/>
          <p:nvPr/>
        </p:nvGraphicFramePr>
        <p:xfrm>
          <a:off xmlns:a="http://schemas.openxmlformats.org/drawingml/2006/main" x="571500" y="1381125"/>
          <a:ext xmlns:a="http://schemas.openxmlformats.org/drawingml/2006/main" cx="11049000" cy="1866900"/>
        </p:xfrm>
        <a:graphic xmlns:a="http://schemas.openxmlformats.org/drawingml/2006/main">
          <a:graphicData uri="http://schemas.openxmlformats.org/drawingml/2006/table">
            <a:tbl>
              <a:tblPr/>
              <a:tblGrid>
                <a:gridCol w="3429000"/>
                <a:gridCol w="3905250"/>
                <a:gridCol w="3714750"/>
              </a:tblGrid>
              <a:tr h="466725">
                <a:tc>
                  <a:txBody>
                    <a:bodyPr/>
                    <a:lstStyle/>
                    <a:p>
                      <a:r>
                        <a:rPr sz="1800" b="1">
                          <a:solidFill>
                            <a:srgbClr val="FFFFFF"/>
                          </a:solidFill>
                          <a:latin typeface="Arial"/>
                          <a:ea typeface="Arial"/>
                          <a:cs typeface="Arial"/>
                        </a:rPr>
                        <a:t>Model</a:t>
                      </a:r>
                    </a:p>
                  </a:txBody>
                  <a:tcPr marL="91440" marR="91440" marT="45720" marB="45720">
                    <a:solidFill>
                      <a:srgbClr val="153442"/>
                    </a:solidFill>
                  </a:tcPr>
                </a:tc>
                <a:tc>
                  <a:txBody>
                    <a:bodyPr/>
                    <a:lstStyle/>
                    <a:p>
                      <a:r>
                        <a:rPr sz="1800" b="1">
                          <a:solidFill>
                            <a:srgbClr val="FFFFFF"/>
                          </a:solidFill>
                          <a:latin typeface="Arial"/>
                          <a:ea typeface="Arial"/>
                          <a:cs typeface="Arial"/>
                        </a:rPr>
                        <a:t>Macro-F1 ± SD</a:t>
                      </a:r>
                    </a:p>
                  </a:txBody>
                  <a:tcPr marL="91440" marR="91440" marT="45720" marB="45720">
                    <a:solidFill>
                      <a:srgbClr val="153442"/>
                    </a:solidFill>
                  </a:tcPr>
                </a:tc>
                <a:tc>
                  <a:txBody>
                    <a:bodyPr/>
                    <a:lstStyle/>
                    <a:p>
                      <a:r>
                        <a:rPr sz="1800" b="1">
                          <a:solidFill>
                            <a:srgbClr val="FFFFFF"/>
                          </a:solidFill>
                          <a:latin typeface="Arial"/>
                          <a:ea typeface="Arial"/>
                          <a:cs typeface="Arial"/>
                        </a:rPr>
                        <a:t>Accuracy, % ± SD</a:t>
                      </a:r>
                    </a:p>
                  </a:txBody>
                  <a:tcPr marL="91440" marR="91440" marT="45720" marB="45720">
                    <a:solidFill>
                      <a:srgbClr val="153442"/>
                    </a:solidFill>
                  </a:tcPr>
                </a:tc>
              </a:tr>
              <a:tr h="466725">
                <a:tc>
                  <a:txBody>
                    <a:bodyPr/>
                    <a:lstStyle/>
                    <a:p>
                      <a:r>
                        <a:rPr sz="1800" b="0">
                          <a:solidFill>
                            <a:srgbClr val="153442"/>
                          </a:solidFill>
                          <a:latin typeface="Arial"/>
                          <a:ea typeface="Arial"/>
                          <a:cs typeface="Arial"/>
                        </a:rPr>
                        <a:t>MLP-32</a:t>
                      </a:r>
                    </a:p>
                  </a:txBody>
                  <a:tcPr marL="91440" marR="91440" marT="45720" marB="45720">
                    <a:solidFill>
                      <a:srgbClr val="FFFFFF"/>
                    </a:solidFill>
                  </a:tcPr>
                </a:tc>
                <a:tc>
                  <a:txBody>
                    <a:bodyPr/>
                    <a:lstStyle/>
                    <a:p>
                      <a:r>
                        <a:rPr sz="1800" b="0">
                          <a:solidFill>
                            <a:srgbClr val="153442"/>
                          </a:solidFill>
                          <a:latin typeface="Arial"/>
                          <a:ea typeface="Arial"/>
                          <a:cs typeface="Arial"/>
                        </a:rPr>
                        <a:t>0.9331 ± 0.0011</a:t>
                      </a:r>
                    </a:p>
                  </a:txBody>
                  <a:tcPr marL="91440" marR="91440" marT="45720" marB="45720">
                    <a:solidFill>
                      <a:srgbClr val="FFFFFF"/>
                    </a:solidFill>
                  </a:tcPr>
                </a:tc>
                <a:tc>
                  <a:txBody>
                    <a:bodyPr/>
                    <a:lstStyle/>
                    <a:p>
                      <a:r>
                        <a:rPr sz="1800" b="0">
                          <a:solidFill>
                            <a:srgbClr val="153442"/>
                          </a:solidFill>
                          <a:latin typeface="Arial"/>
                          <a:ea typeface="Arial"/>
                          <a:cs typeface="Arial"/>
                        </a:rPr>
                        <a:t>92.03 ± 0.13</a:t>
                      </a:r>
                    </a:p>
                  </a:txBody>
                  <a:tcPr marL="91440" marR="91440" marT="45720" marB="45720">
                    <a:solidFill>
                      <a:srgbClr val="FFFFFF"/>
                    </a:solidFill>
                  </a:tcPr>
                </a:tc>
              </a:tr>
              <a:tr h="466725">
                <a:tc>
                  <a:txBody>
                    <a:bodyPr/>
                    <a:lstStyle/>
                    <a:p>
                      <a:r>
                        <a:rPr sz="1800" b="0">
                          <a:solidFill>
                            <a:srgbClr val="153442"/>
                          </a:solidFill>
                          <a:latin typeface="Arial"/>
                          <a:ea typeface="Arial"/>
                          <a:cs typeface="Arial"/>
                        </a:rPr>
                        <a:t>MLP-high-lr</a:t>
                      </a:r>
                    </a:p>
                  </a:txBody>
                  <a:tcPr marL="91440" marR="91440" marT="45720" marB="45720">
                    <a:solidFill>
                      <a:srgbClr val="EAF1F1"/>
                    </a:solidFill>
                  </a:tcPr>
                </a:tc>
                <a:tc>
                  <a:txBody>
                    <a:bodyPr/>
                    <a:lstStyle/>
                    <a:p>
                      <a:r>
                        <a:rPr sz="1800" b="0">
                          <a:solidFill>
                            <a:srgbClr val="153442"/>
                          </a:solidFill>
                          <a:latin typeface="Arial"/>
                          <a:ea typeface="Arial"/>
                          <a:cs typeface="Arial"/>
                        </a:rPr>
                        <a:t>0.9373 ± 0.0019</a:t>
                      </a:r>
                    </a:p>
                  </a:txBody>
                  <a:tcPr marL="91440" marR="91440" marT="45720" marB="45720">
                    <a:solidFill>
                      <a:srgbClr val="EAF1F1"/>
                    </a:solidFill>
                  </a:tcPr>
                </a:tc>
                <a:tc>
                  <a:txBody>
                    <a:bodyPr/>
                    <a:lstStyle/>
                    <a:p>
                      <a:r>
                        <a:rPr sz="1800" b="0">
                          <a:solidFill>
                            <a:srgbClr val="153442"/>
                          </a:solidFill>
                          <a:latin typeface="Arial"/>
                          <a:ea typeface="Arial"/>
                          <a:cs typeface="Arial"/>
                        </a:rPr>
                        <a:t>92.44 ± 0.15</a:t>
                      </a:r>
                    </a:p>
                  </a:txBody>
                  <a:tcPr marL="91440" marR="91440" marT="45720" marB="45720">
                    <a:solidFill>
                      <a:srgbClr val="EAF1F1"/>
                    </a:solidFill>
                  </a:tcPr>
                </a:tc>
              </a:tr>
              <a:tr h="466725">
                <a:tc>
                  <a:txBody>
                    <a:bodyPr/>
                    <a:lstStyle/>
                    <a:p>
                      <a:r>
                        <a:rPr sz="1800" b="0">
                          <a:solidFill>
                            <a:srgbClr val="153442"/>
                          </a:solidFill>
                          <a:latin typeface="Arial"/>
                          <a:ea typeface="Arial"/>
                          <a:cs typeface="Arial"/>
                        </a:rPr>
                        <a:t>Logistic regression¹</a:t>
                      </a:r>
                    </a:p>
                  </a:txBody>
                  <a:tcPr marL="91440" marR="91440" marT="45720" marB="45720">
                    <a:solidFill>
                      <a:srgbClr val="FFFFFF"/>
                    </a:solidFill>
                  </a:tcPr>
                </a:tc>
                <a:tc>
                  <a:txBody>
                    <a:bodyPr/>
                    <a:lstStyle/>
                    <a:p>
                      <a:r>
                        <a:rPr sz="1800" b="0">
                          <a:solidFill>
                            <a:srgbClr val="153442"/>
                          </a:solidFill>
                          <a:latin typeface="Arial"/>
                          <a:ea typeface="Arial"/>
                          <a:cs typeface="Arial"/>
                        </a:rPr>
                        <a:t>0.9349</a:t>
                      </a:r>
                    </a:p>
                  </a:txBody>
                  <a:tcPr marL="91440" marR="91440" marT="45720" marB="45720">
                    <a:solidFill>
                      <a:srgbClr val="FFFFFF"/>
                    </a:solidFill>
                  </a:tcPr>
                </a:tc>
                <a:tc>
                  <a:txBody>
                    <a:bodyPr/>
                    <a:lstStyle/>
                    <a:p>
                      <a:r>
                        <a:rPr sz="1800" b="0">
                          <a:solidFill>
                            <a:srgbClr val="153442"/>
                          </a:solidFill>
                          <a:latin typeface="Arial"/>
                          <a:ea typeface="Arial"/>
                          <a:cs typeface="Arial"/>
                        </a:rPr>
                        <a:t>92.18</a:t>
                      </a:r>
                    </a:p>
                  </a:txBody>
                  <a:tcPr marL="91440" marR="91440" marT="45720" marB="45720">
                    <a:solidFill>
                      <a:srgbClr val="FFFFFF"/>
                    </a:solidFill>
                  </a:tcPr>
                </a:tc>
              </a:tr>
            </a:tbl>
          </a:graphicData>
        </a:graphic>
      </p:graphicFrame>
      <p:graphicFrame>
        <p:nvGraphicFramePr>
          <p:cNvPr id="12" name="Chart"/>
          <p:cNvGraphicFramePr/>
          <p:nvPr/>
        </p:nvGraphicFramePr>
        <p:xfrm>
          <a:off xmlns:a="http://schemas.openxmlformats.org/drawingml/2006/main" x="571500" y="3667125"/>
          <a:ext xmlns:a="http://schemas.openxmlformats.org/drawingml/2006/main" cx="7048500" cy="2476500"/>
        </p:xfrm>
        <a:graphic xmlns:a="http://schemas.openxmlformats.org/drawingml/2006/main">
          <a:graphicData uri="http://schemas.openxmlformats.org/drawingml/2006/chart">
            <c:chart xmlns:r="http://schemas.openxmlformats.org/officeDocument/2006/relationships" xmlns:c="http://schemas.openxmlformats.org/drawingml/2006/chart" r:id="R086bfd2732d54962"/>
          </a:graphicData>
        </a:graphic>
      </p:graphicFrame>
      <p:sp>
        <p:nvSpPr>
          <p:cNvPr id="5" name="">
            <a:extLst xmlns:a="http://schemas.openxmlformats.org/drawingml/2006/main">
              <a:ext uri="{FF2B5EF4-FFF2-40B4-BE49-F238E27FC236}">
                <a16:creationId xmlns:a16="http://schemas.microsoft.com/office/drawing/2014/main" id="{1AE7FEAF-CF12-4722-922B-DEC80D285037}"/>
              </a:ext>
            </a:extLst>
          </p:cNvPr>
          <p:cNvSpPr>
            <a:spLocks xmlns:a="http://schemas.openxmlformats.org/drawingml/2006/main" noGrp="1"/>
          </p:cNvSpPr>
          <p:nvPr/>
        </p:nvSpPr>
        <p:spPr>
          <a:xfrm xmlns:a="http://schemas.openxmlformats.org/drawingml/2006/main">
            <a:off x="8124825" y="3743325"/>
            <a:ext cx="3429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007D88"/>
                </a:solidFill>
                <a:latin typeface="Arial"/>
                <a:ea typeface="Arial"/>
                <a:cs typeface="Arial"/>
              </a:defRPr>
            </a:pPr>
            <a:r>
              <a:rPr sz="2550" b="1">
                <a:solidFill>
                  <a:srgbClr val="007D88"/>
                </a:solidFill>
                <a:latin typeface="Arial"/>
                <a:ea typeface="Arial"/>
                <a:cs typeface="Arial"/>
              </a:rPr>
              <a:t>+0.0043 macro-F1</a:t>
            </a:r>
          </a:p>
        </p:txBody>
      </p:sp>
      <p:sp>
        <p:nvSpPr>
          <p:cNvPr id="6" name="">
            <a:extLst xmlns:a="http://schemas.openxmlformats.org/drawingml/2006/main">
              <a:ext uri="{FF2B5EF4-FFF2-40B4-BE49-F238E27FC236}">
                <a16:creationId xmlns:a16="http://schemas.microsoft.com/office/drawing/2014/main" id="{32214235-E7E4-42B1-A1C5-5B01A5A84D6E}"/>
              </a:ext>
            </a:extLst>
          </p:cNvPr>
          <p:cNvSpPr>
            <a:spLocks xmlns:a="http://schemas.openxmlformats.org/drawingml/2006/main" noGrp="1"/>
          </p:cNvSpPr>
          <p:nvPr/>
        </p:nvSpPr>
        <p:spPr>
          <a:xfrm xmlns:a="http://schemas.openxmlformats.org/drawingml/2006/main">
            <a:off x="8124825" y="4476750"/>
            <a:ext cx="333375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53442"/>
                </a:solidFill>
                <a:latin typeface="Arial"/>
                <a:ea typeface="Arial"/>
                <a:cs typeface="Arial"/>
              </a:defRPr>
            </a:pPr>
            <a:r>
              <a:rPr sz="1800" b="0">
                <a:solidFill>
                  <a:srgbClr val="153442"/>
                </a:solidFill>
                <a:latin typeface="Arial"/>
                <a:ea typeface="Arial"/>
                <a:cs typeface="Arial"/>
              </a:rPr>
              <a:t>Difference versus MLP-32</a:t>
            </a:r>
          </a:p>
          <a:p xmlns:a="http://schemas.openxmlformats.org/drawingml/2006/main">
            <a:pPr>
              <a:defRPr sz="1800" b="0">
                <a:solidFill>
                  <a:srgbClr val="153442"/>
                </a:solidFill>
                <a:latin typeface="Arial"/>
                <a:ea typeface="Arial"/>
                <a:cs typeface="Arial"/>
              </a:defRPr>
            </a:pPr>
            <a:r>
              <a:rPr sz="1800" b="0">
                <a:solidFill>
                  <a:srgbClr val="153442"/>
                </a:solidFill>
                <a:latin typeface="Arial"/>
                <a:ea typeface="Arial"/>
                <a:cs typeface="Arial"/>
              </a:rPr>
              <a:t>Small gains need cautious interpretation.</a:t>
            </a:r>
          </a:p>
        </p:txBody>
      </p:sp>
      <p:sp>
        <p:nvSpPr>
          <p:cNvPr id="7" name="">
            <a:extLst xmlns:a="http://schemas.openxmlformats.org/drawingml/2006/main">
              <a:ext uri="{FF2B5EF4-FFF2-40B4-BE49-F238E27FC236}">
                <a16:creationId xmlns:a16="http://schemas.microsoft.com/office/drawing/2014/main" id="{1B9C6A65-5C20-4377-8151-136DA980C124}"/>
              </a:ext>
            </a:extLst>
          </p:cNvPr>
          <p:cNvSpPr>
            <a:spLocks xmlns:a="http://schemas.openxmlformats.org/drawingml/2006/main" noGrp="1"/>
          </p:cNvSpPr>
          <p:nvPr/>
        </p:nvSpPr>
        <p:spPr>
          <a:xfrm xmlns:a="http://schemas.openxmlformats.org/drawingml/2006/main">
            <a:off x="8124825" y="5724525"/>
            <a:ext cx="33813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36772"/>
                </a:solidFill>
                <a:latin typeface="Arial"/>
                <a:ea typeface="Arial"/>
                <a:cs typeface="Arial"/>
              </a:defRPr>
            </a:pPr>
            <a:r>
              <a:rPr sz="1575" b="0">
                <a:solidFill>
                  <a:srgbClr val="536772"/>
                </a:solidFill>
                <a:latin typeface="Arial"/>
                <a:ea typeface="Arial"/>
                <a:cs typeface="Arial"/>
              </a:rPr>
              <a:t>Curve: selected model, seed 7</a:t>
            </a:r>
          </a:p>
          <a:p xmlns:a="http://schemas.openxmlformats.org/drawingml/2006/main">
            <a:pPr>
              <a:defRPr sz="1575" b="0">
                <a:solidFill>
                  <a:srgbClr val="536772"/>
                </a:solidFill>
                <a:latin typeface="Arial"/>
                <a:ea typeface="Arial"/>
                <a:cs typeface="Arial"/>
              </a:defRPr>
            </a:pPr>
            <a:r>
              <a:rPr sz="1575" b="0">
                <a:solidFill>
                  <a:srgbClr val="536772"/>
                </a:solidFill>
                <a:latin typeface="Arial"/>
                <a:ea typeface="Arial"/>
                <a:cs typeface="Arial"/>
              </a:rPr>
              <a:t>Restored epoch: 26</a:t>
            </a:r>
          </a:p>
        </p:txBody>
      </p:sp>
      <p:sp>
        <p:nvSpPr>
          <p:cNvPr id="8" name="">
            <a:extLst xmlns:a="http://schemas.openxmlformats.org/drawingml/2006/main">
              <a:ext uri="{FF2B5EF4-FFF2-40B4-BE49-F238E27FC236}">
                <a16:creationId xmlns:a16="http://schemas.microsoft.com/office/drawing/2014/main" id="{75106F9B-1C87-4082-B1B2-BE2C09F3871D}"/>
              </a:ext>
            </a:extLst>
          </p:cNvPr>
          <p:cNvSpPr>
            <a:spLocks xmlns:a="http://schemas.openxmlformats.org/drawingml/2006/main" noGrp="1"/>
          </p:cNvSpPr>
          <p:nvPr/>
        </p:nvSpPr>
        <p:spPr>
          <a:xfrm xmlns:a="http://schemas.openxmlformats.org/drawingml/2006/main">
            <a:off x="590550" y="6448425"/>
            <a:ext cx="10382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36772"/>
                </a:solidFill>
                <a:latin typeface="Arial"/>
                <a:ea typeface="Arial"/>
                <a:cs typeface="Arial"/>
              </a:defRPr>
            </a:pPr>
            <a:r>
              <a:rPr sz="1425" b="0">
                <a:solidFill>
                  <a:srgbClr val="536772"/>
                </a:solidFill>
                <a:latin typeface="Arial"/>
                <a:ea typeface="Arial"/>
                <a:cs typeface="Arial"/>
              </a:rPr>
              <a:t>Test: 2,032 rows. Neural mean ± sample SD over three seeds. ¹ One fixed fit.</a:t>
            </a:r>
          </a:p>
        </p:txBody>
      </p:sp>
    </p:spTree>
    <p:extLst>
      <p:ext uri="{BB962C8B-B14F-4D97-AF65-F5344CB8AC3E}">
        <p14:creationId xmlns:p14="http://schemas.microsoft.com/office/powerpoint/2010/main" val="1718753602"/>
      </p:ext>
    </p:extLst>
  </p:cSld>
</p:sld>
</file>

<file path=ppt/slides/slide9.xml><?xml version="1.0" encoding="utf-8"?>
<p:sld xmlns:p="http://schemas.openxmlformats.org/presentationml/2006/main">
  <p:cSld>
    <p:bg>
      <p:bgPr>
        <a:solidFill xmlns:a="http://schemas.openxmlformats.org/drawingml/2006/main">
          <a:srgbClr val="FAF9F5"/>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3413D0B-389E-4E65-B26F-06F3E81514D0}"/>
              </a:ext>
            </a:extLst>
          </p:cNvPr>
          <p:cNvSpPr>
            <a:spLocks xmlns:a="http://schemas.openxmlformats.org/drawingml/2006/main" noGrp="1"/>
          </p:cNvSpPr>
          <p:nvPr/>
        </p:nvSpPr>
        <p:spPr>
          <a:xfrm xmlns:a="http://schemas.openxmlformats.org/drawingml/2006/main">
            <a:off x="552450" y="361950"/>
            <a:ext cx="110871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53442"/>
                </a:solidFill>
                <a:latin typeface="Arial"/>
                <a:ea typeface="Arial"/>
                <a:cs typeface="Arial"/>
              </a:defRPr>
            </a:pPr>
            <a:r>
              <a:rPr sz="3225" b="1">
                <a:solidFill>
                  <a:srgbClr val="153442"/>
                </a:solidFill>
                <a:latin typeface="Arial"/>
                <a:ea typeface="Arial"/>
                <a:cs typeface="Arial"/>
              </a:rPr>
              <a:t>Error analysis by bean variety</a:t>
            </a:r>
          </a:p>
        </p:txBody>
      </p:sp>
      <p:sp>
        <p:nvSpPr>
          <p:cNvPr id="2" name="">
            <a:extLst xmlns:a="http://schemas.openxmlformats.org/drawingml/2006/main">
              <a:ext uri="{FF2B5EF4-FFF2-40B4-BE49-F238E27FC236}">
                <a16:creationId xmlns:a16="http://schemas.microsoft.com/office/drawing/2014/main" id="{6E5B4EBB-D7B6-46DE-815B-DE1CA3E21882}"/>
              </a:ext>
            </a:extLst>
          </p:cNvPr>
          <p:cNvSpPr>
            <a:spLocks xmlns:a="http://schemas.openxmlformats.org/drawingml/2006/main" noGrp="1"/>
          </p:cNvSpPr>
          <p:nvPr/>
        </p:nvSpPr>
        <p:spPr>
          <a:xfrm xmlns:a="http://schemas.openxmlformats.org/drawingml/2006/main">
            <a:off x="11144250" y="641985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36772"/>
                </a:solidFill>
                <a:latin typeface="Arial"/>
                <a:ea typeface="Arial"/>
                <a:cs typeface="Arial"/>
              </a:defRPr>
            </a:pPr>
            <a:r>
              <a:rPr sz="1350" b="0">
                <a:solidFill>
                  <a:srgbClr val="536772"/>
                </a:solidFill>
                <a:latin typeface="Arial"/>
                <a:ea typeface="Arial"/>
                <a:cs typeface="Arial"/>
              </a:rPr>
              <a:t>09</a:t>
            </a:r>
          </a:p>
        </p:txBody>
      </p:sp>
      <p:graphicFrame>
        <p:nvGraphicFramePr>
          <p:cNvPr id="10" name=""/>
          <p:cNvGraphicFramePr/>
          <p:nvPr/>
        </p:nvGraphicFramePr>
        <p:xfrm>
          <a:off xmlns:a="http://schemas.openxmlformats.org/drawingml/2006/main" x="571500" y="1543050"/>
          <a:ext xmlns:a="http://schemas.openxmlformats.org/drawingml/2006/main" cx="7239000" cy="3781425"/>
        </p:xfrm>
        <a:graphic xmlns:a="http://schemas.openxmlformats.org/drawingml/2006/main">
          <a:graphicData uri="http://schemas.openxmlformats.org/drawingml/2006/table">
            <a:tbl>
              <a:tblPr/>
              <a:tblGrid>
                <a:gridCol w="1371600"/>
                <a:gridCol w="838200"/>
                <a:gridCol w="838200"/>
                <a:gridCol w="838200"/>
                <a:gridCol w="838200"/>
                <a:gridCol w="838200"/>
                <a:gridCol w="838200"/>
                <a:gridCol w="838200"/>
              </a:tblGrid>
              <a:tr h="472678">
                <a:tc>
                  <a:txBody>
                    <a:bodyPr/>
                    <a:lstStyle/>
                    <a:p>
                      <a:r>
                        <a:rPr sz="1725" b="1">
                          <a:solidFill>
                            <a:srgbClr val="FFFFFF"/>
                          </a:solidFill>
                          <a:latin typeface="Arial"/>
                          <a:ea typeface="Arial"/>
                          <a:cs typeface="Arial"/>
                        </a:rPr>
                        <a:t>True / pred.</a:t>
                      </a:r>
                    </a:p>
                  </a:txBody>
                  <a:tcPr marL="91440" marR="91440" marT="45720" marB="45720">
                    <a:solidFill>
                      <a:srgbClr val="153442"/>
                    </a:solidFill>
                  </a:tcPr>
                </a:tc>
                <a:tc>
                  <a:txBody>
                    <a:bodyPr/>
                    <a:lstStyle/>
                    <a:p>
                      <a:r>
                        <a:rPr sz="1725" b="1">
                          <a:solidFill>
                            <a:srgbClr val="FFFFFF"/>
                          </a:solidFill>
                          <a:latin typeface="Arial"/>
                          <a:ea typeface="Arial"/>
                          <a:cs typeface="Arial"/>
                        </a:rPr>
                        <a:t>BAR</a:t>
                      </a:r>
                    </a:p>
                  </a:txBody>
                  <a:tcPr marL="91440" marR="91440" marT="45720" marB="45720">
                    <a:solidFill>
                      <a:srgbClr val="153442"/>
                    </a:solidFill>
                  </a:tcPr>
                </a:tc>
                <a:tc>
                  <a:txBody>
                    <a:bodyPr/>
                    <a:lstStyle/>
                    <a:p>
                      <a:r>
                        <a:rPr sz="1725" b="1">
                          <a:solidFill>
                            <a:srgbClr val="FFFFFF"/>
                          </a:solidFill>
                          <a:latin typeface="Arial"/>
                          <a:ea typeface="Arial"/>
                          <a:cs typeface="Arial"/>
                        </a:rPr>
                        <a:t>BOM</a:t>
                      </a:r>
                    </a:p>
                  </a:txBody>
                  <a:tcPr marL="91440" marR="91440" marT="45720" marB="45720">
                    <a:solidFill>
                      <a:srgbClr val="153442"/>
                    </a:solidFill>
                  </a:tcPr>
                </a:tc>
                <a:tc>
                  <a:txBody>
                    <a:bodyPr/>
                    <a:lstStyle/>
                    <a:p>
                      <a:r>
                        <a:rPr sz="1725" b="1">
                          <a:solidFill>
                            <a:srgbClr val="FFFFFF"/>
                          </a:solidFill>
                          <a:latin typeface="Arial"/>
                          <a:ea typeface="Arial"/>
                          <a:cs typeface="Arial"/>
                        </a:rPr>
                        <a:t>CAL</a:t>
                      </a:r>
                    </a:p>
                  </a:txBody>
                  <a:tcPr marL="91440" marR="91440" marT="45720" marB="45720">
                    <a:solidFill>
                      <a:srgbClr val="153442"/>
                    </a:solidFill>
                  </a:tcPr>
                </a:tc>
                <a:tc>
                  <a:txBody>
                    <a:bodyPr/>
                    <a:lstStyle/>
                    <a:p>
                      <a:r>
                        <a:rPr sz="1725" b="1">
                          <a:solidFill>
                            <a:srgbClr val="FFFFFF"/>
                          </a:solidFill>
                          <a:latin typeface="Arial"/>
                          <a:ea typeface="Arial"/>
                          <a:cs typeface="Arial"/>
                        </a:rPr>
                        <a:t>DER</a:t>
                      </a:r>
                    </a:p>
                  </a:txBody>
                  <a:tcPr marL="91440" marR="91440" marT="45720" marB="45720">
                    <a:solidFill>
                      <a:srgbClr val="153442"/>
                    </a:solidFill>
                  </a:tcPr>
                </a:tc>
                <a:tc>
                  <a:txBody>
                    <a:bodyPr/>
                    <a:lstStyle/>
                    <a:p>
                      <a:r>
                        <a:rPr sz="1725" b="1">
                          <a:solidFill>
                            <a:srgbClr val="FFFFFF"/>
                          </a:solidFill>
                          <a:latin typeface="Arial"/>
                          <a:ea typeface="Arial"/>
                          <a:cs typeface="Arial"/>
                        </a:rPr>
                        <a:t>HOR</a:t>
                      </a:r>
                    </a:p>
                  </a:txBody>
                  <a:tcPr marL="91440" marR="91440" marT="45720" marB="45720">
                    <a:solidFill>
                      <a:srgbClr val="153442"/>
                    </a:solidFill>
                  </a:tcPr>
                </a:tc>
                <a:tc>
                  <a:txBody>
                    <a:bodyPr/>
                    <a:lstStyle/>
                    <a:p>
                      <a:r>
                        <a:rPr sz="1725" b="1">
                          <a:solidFill>
                            <a:srgbClr val="FFFFFF"/>
                          </a:solidFill>
                          <a:latin typeface="Arial"/>
                          <a:ea typeface="Arial"/>
                          <a:cs typeface="Arial"/>
                        </a:rPr>
                        <a:t>SEK</a:t>
                      </a:r>
                    </a:p>
                  </a:txBody>
                  <a:tcPr marL="91440" marR="91440" marT="45720" marB="45720">
                    <a:solidFill>
                      <a:srgbClr val="153442"/>
                    </a:solidFill>
                  </a:tcPr>
                </a:tc>
                <a:tc>
                  <a:txBody>
                    <a:bodyPr/>
                    <a:lstStyle/>
                    <a:p>
                      <a:r>
                        <a:rPr sz="1725" b="1">
                          <a:solidFill>
                            <a:srgbClr val="FFFFFF"/>
                          </a:solidFill>
                          <a:latin typeface="Arial"/>
                          <a:ea typeface="Arial"/>
                          <a:cs typeface="Arial"/>
                        </a:rPr>
                        <a:t>SIR</a:t>
                      </a:r>
                    </a:p>
                  </a:txBody>
                  <a:tcPr marL="91440" marR="91440" marT="45720" marB="45720">
                    <a:solidFill>
                      <a:srgbClr val="153442"/>
                    </a:solidFill>
                  </a:tcPr>
                </a:tc>
              </a:tr>
              <a:tr h="472678">
                <a:tc>
                  <a:txBody>
                    <a:bodyPr/>
                    <a:lstStyle/>
                    <a:p>
                      <a:r>
                        <a:rPr sz="1725" b="0">
                          <a:solidFill>
                            <a:srgbClr val="153442"/>
                          </a:solidFill>
                          <a:latin typeface="Arial"/>
                          <a:ea typeface="Arial"/>
                          <a:cs typeface="Arial"/>
                        </a:rPr>
                        <a:t>BAR</a:t>
                      </a:r>
                    </a:p>
                  </a:txBody>
                  <a:tcPr marL="91440" marR="91440" marT="45720" marB="45720">
                    <a:solidFill>
                      <a:srgbClr val="FFFFFF"/>
                    </a:solidFill>
                  </a:tcPr>
                </a:tc>
                <a:tc>
                  <a:txBody>
                    <a:bodyPr/>
                    <a:lstStyle/>
                    <a:p>
                      <a:r>
                        <a:rPr sz="1725" b="0">
                          <a:solidFill>
                            <a:srgbClr val="153442"/>
                          </a:solidFill>
                          <a:latin typeface="Arial"/>
                          <a:ea typeface="Arial"/>
                          <a:cs typeface="Arial"/>
                        </a:rPr>
                        <a:t>187</a:t>
                      </a:r>
                    </a:p>
                  </a:txBody>
                  <a:tcPr marL="91440" marR="91440" marT="45720" marB="45720">
                    <a:solidFill>
                      <a:srgbClr val="CBE4E5"/>
                    </a:solidFill>
                  </a:tcPr>
                </a:tc>
                <a:tc>
                  <a:txBody>
                    <a:bodyPr/>
                    <a:lstStyle/>
                    <a:p>
                      <a:r>
                        <a:rPr sz="1725" b="0">
                          <a:solidFill>
                            <a:srgbClr val="153442"/>
                          </a:solidFill>
                          <a:latin typeface="Arial"/>
                          <a:ea typeface="Arial"/>
                          <a:cs typeface="Arial"/>
                        </a:rPr>
                        <a:t>0</a:t>
                      </a:r>
                    </a:p>
                  </a:txBody>
                  <a:tcPr marL="91440" marR="91440" marT="45720" marB="45720">
                    <a:solidFill>
                      <a:srgbClr val="FFFFFF"/>
                    </a:solidFill>
                  </a:tcPr>
                </a:tc>
                <a:tc>
                  <a:txBody>
                    <a:bodyPr/>
                    <a:lstStyle/>
                    <a:p>
                      <a:r>
                        <a:rPr sz="1725" b="0">
                          <a:solidFill>
                            <a:srgbClr val="153442"/>
                          </a:solidFill>
                          <a:latin typeface="Arial"/>
                          <a:ea typeface="Arial"/>
                          <a:cs typeface="Arial"/>
                        </a:rPr>
                        <a:t>3</a:t>
                      </a:r>
                    </a:p>
                  </a:txBody>
                  <a:tcPr marL="91440" marR="91440" marT="45720" marB="45720">
                    <a:solidFill>
                      <a:srgbClr val="FFFFFF"/>
                    </a:solidFill>
                  </a:tcPr>
                </a:tc>
                <a:tc>
                  <a:txBody>
                    <a:bodyPr/>
                    <a:lstStyle/>
                    <a:p>
                      <a:r>
                        <a:rPr sz="1725" b="0">
                          <a:solidFill>
                            <a:srgbClr val="153442"/>
                          </a:solidFill>
                          <a:latin typeface="Arial"/>
                          <a:ea typeface="Arial"/>
                          <a:cs typeface="Arial"/>
                        </a:rPr>
                        <a:t>0</a:t>
                      </a:r>
                    </a:p>
                  </a:txBody>
                  <a:tcPr marL="91440" marR="91440" marT="45720" marB="45720">
                    <a:solidFill>
                      <a:srgbClr val="FFFFFF"/>
                    </a:solidFill>
                  </a:tcPr>
                </a:tc>
                <a:tc>
                  <a:txBody>
                    <a:bodyPr/>
                    <a:lstStyle/>
                    <a:p>
                      <a:r>
                        <a:rPr sz="1725" b="0">
                          <a:solidFill>
                            <a:srgbClr val="153442"/>
                          </a:solidFill>
                          <a:latin typeface="Arial"/>
                          <a:ea typeface="Arial"/>
                          <a:cs typeface="Arial"/>
                        </a:rPr>
                        <a:t>1</a:t>
                      </a:r>
                    </a:p>
                  </a:txBody>
                  <a:tcPr marL="91440" marR="91440" marT="45720" marB="45720">
                    <a:solidFill>
                      <a:srgbClr val="FFFFFF"/>
                    </a:solidFill>
                  </a:tcPr>
                </a:tc>
                <a:tc>
                  <a:txBody>
                    <a:bodyPr/>
                    <a:lstStyle/>
                    <a:p>
                      <a:r>
                        <a:rPr sz="1725" b="0">
                          <a:solidFill>
                            <a:srgbClr val="153442"/>
                          </a:solidFill>
                          <a:latin typeface="Arial"/>
                          <a:ea typeface="Arial"/>
                          <a:cs typeface="Arial"/>
                        </a:rPr>
                        <a:t>5</a:t>
                      </a:r>
                    </a:p>
                  </a:txBody>
                  <a:tcPr marL="91440" marR="91440" marT="45720" marB="45720">
                    <a:solidFill>
                      <a:srgbClr val="FFFFFF"/>
                    </a:solidFill>
                  </a:tcPr>
                </a:tc>
                <a:tc>
                  <a:txBody>
                    <a:bodyPr/>
                    <a:lstStyle/>
                    <a:p>
                      <a:r>
                        <a:rPr sz="1725" b="0">
                          <a:solidFill>
                            <a:srgbClr val="153442"/>
                          </a:solidFill>
                          <a:latin typeface="Arial"/>
                          <a:ea typeface="Arial"/>
                          <a:cs typeface="Arial"/>
                        </a:rPr>
                        <a:t>2</a:t>
                      </a:r>
                    </a:p>
                  </a:txBody>
                  <a:tcPr marL="91440" marR="91440" marT="45720" marB="45720">
                    <a:solidFill>
                      <a:srgbClr val="FFFFFF"/>
                    </a:solidFill>
                  </a:tcPr>
                </a:tc>
              </a:tr>
              <a:tr h="472678">
                <a:tc>
                  <a:txBody>
                    <a:bodyPr/>
                    <a:lstStyle/>
                    <a:p>
                      <a:r>
                        <a:rPr sz="1725" b="0">
                          <a:solidFill>
                            <a:srgbClr val="153442"/>
                          </a:solidFill>
                          <a:latin typeface="Arial"/>
                          <a:ea typeface="Arial"/>
                          <a:cs typeface="Arial"/>
                        </a:rPr>
                        <a:t>BOM</a:t>
                      </a:r>
                    </a:p>
                  </a:txBody>
                  <a:tcPr marL="91440" marR="91440" marT="45720" marB="45720">
                    <a:solidFill>
                      <a:srgbClr val="EAF1F1"/>
                    </a:solidFill>
                  </a:tcPr>
                </a:tc>
                <a:tc>
                  <a:txBody>
                    <a:bodyPr/>
                    <a:lstStyle/>
                    <a:p>
                      <a:r>
                        <a:rPr sz="1725" b="0">
                          <a:solidFill>
                            <a:srgbClr val="153442"/>
                          </a:solidFill>
                          <a:latin typeface="Arial"/>
                          <a:ea typeface="Arial"/>
                          <a:cs typeface="Arial"/>
                        </a:rPr>
                        <a:t>0</a:t>
                      </a:r>
                    </a:p>
                  </a:txBody>
                  <a:tcPr marL="91440" marR="91440" marT="45720" marB="45720">
                    <a:solidFill>
                      <a:srgbClr val="FFFFFF"/>
                    </a:solidFill>
                  </a:tcPr>
                </a:tc>
                <a:tc>
                  <a:txBody>
                    <a:bodyPr/>
                    <a:lstStyle/>
                    <a:p>
                      <a:r>
                        <a:rPr sz="1725" b="0">
                          <a:solidFill>
                            <a:srgbClr val="153442"/>
                          </a:solidFill>
                          <a:latin typeface="Arial"/>
                          <a:ea typeface="Arial"/>
                          <a:cs typeface="Arial"/>
                        </a:rPr>
                        <a:t>78</a:t>
                      </a:r>
                    </a:p>
                  </a:txBody>
                  <a:tcPr marL="91440" marR="91440" marT="45720" marB="45720">
                    <a:solidFill>
                      <a:srgbClr val="CBE4E5"/>
                    </a:solidFill>
                  </a:tcPr>
                </a:tc>
                <a:tc>
                  <a:txBody>
                    <a:bodyPr/>
                    <a:lstStyle/>
                    <a:p>
                      <a:r>
                        <a:rPr sz="1725" b="0">
                          <a:solidFill>
                            <a:srgbClr val="153442"/>
                          </a:solidFill>
                          <a:latin typeface="Arial"/>
                          <a:ea typeface="Arial"/>
                          <a:cs typeface="Arial"/>
                        </a:rPr>
                        <a:t>0</a:t>
                      </a:r>
                    </a:p>
                  </a:txBody>
                  <a:tcPr marL="91440" marR="91440" marT="45720" marB="45720">
                    <a:solidFill>
                      <a:srgbClr val="FFFFFF"/>
                    </a:solidFill>
                  </a:tcPr>
                </a:tc>
                <a:tc>
                  <a:txBody>
                    <a:bodyPr/>
                    <a:lstStyle/>
                    <a:p>
                      <a:r>
                        <a:rPr sz="1725" b="0">
                          <a:solidFill>
                            <a:srgbClr val="153442"/>
                          </a:solidFill>
                          <a:latin typeface="Arial"/>
                          <a:ea typeface="Arial"/>
                          <a:cs typeface="Arial"/>
                        </a:rPr>
                        <a:t>0</a:t>
                      </a:r>
                    </a:p>
                  </a:txBody>
                  <a:tcPr marL="91440" marR="91440" marT="45720" marB="45720">
                    <a:solidFill>
                      <a:srgbClr val="FFFFFF"/>
                    </a:solidFill>
                  </a:tcPr>
                </a:tc>
                <a:tc>
                  <a:txBody>
                    <a:bodyPr/>
                    <a:lstStyle/>
                    <a:p>
                      <a:r>
                        <a:rPr sz="1725" b="0">
                          <a:solidFill>
                            <a:srgbClr val="153442"/>
                          </a:solidFill>
                          <a:latin typeface="Arial"/>
                          <a:ea typeface="Arial"/>
                          <a:cs typeface="Arial"/>
                        </a:rPr>
                        <a:t>0</a:t>
                      </a:r>
                    </a:p>
                  </a:txBody>
                  <a:tcPr marL="91440" marR="91440" marT="45720" marB="45720">
                    <a:solidFill>
                      <a:srgbClr val="FFFFFF"/>
                    </a:solidFill>
                  </a:tcPr>
                </a:tc>
                <a:tc>
                  <a:txBody>
                    <a:bodyPr/>
                    <a:lstStyle/>
                    <a:p>
                      <a:r>
                        <a:rPr sz="1725" b="0">
                          <a:solidFill>
                            <a:srgbClr val="153442"/>
                          </a:solidFill>
                          <a:latin typeface="Arial"/>
                          <a:ea typeface="Arial"/>
                          <a:cs typeface="Arial"/>
                        </a:rPr>
                        <a:t>0</a:t>
                      </a:r>
                    </a:p>
                  </a:txBody>
                  <a:tcPr marL="91440" marR="91440" marT="45720" marB="45720">
                    <a:solidFill>
                      <a:srgbClr val="FFFFFF"/>
                    </a:solidFill>
                  </a:tcPr>
                </a:tc>
                <a:tc>
                  <a:txBody>
                    <a:bodyPr/>
                    <a:lstStyle/>
                    <a:p>
                      <a:r>
                        <a:rPr sz="1725" b="0">
                          <a:solidFill>
                            <a:srgbClr val="153442"/>
                          </a:solidFill>
                          <a:latin typeface="Arial"/>
                          <a:ea typeface="Arial"/>
                          <a:cs typeface="Arial"/>
                        </a:rPr>
                        <a:t>0</a:t>
                      </a:r>
                    </a:p>
                  </a:txBody>
                  <a:tcPr marL="91440" marR="91440" marT="45720" marB="45720">
                    <a:solidFill>
                      <a:srgbClr val="FFFFFF"/>
                    </a:solidFill>
                  </a:tcPr>
                </a:tc>
              </a:tr>
              <a:tr h="472678">
                <a:tc>
                  <a:txBody>
                    <a:bodyPr/>
                    <a:lstStyle/>
                    <a:p>
                      <a:r>
                        <a:rPr sz="1725" b="0">
                          <a:solidFill>
                            <a:srgbClr val="153442"/>
                          </a:solidFill>
                          <a:latin typeface="Arial"/>
                          <a:ea typeface="Arial"/>
                          <a:cs typeface="Arial"/>
                        </a:rPr>
                        <a:t>CAL</a:t>
                      </a:r>
                    </a:p>
                  </a:txBody>
                  <a:tcPr marL="91440" marR="91440" marT="45720" marB="45720">
                    <a:solidFill>
                      <a:srgbClr val="FFFFFF"/>
                    </a:solidFill>
                  </a:tcPr>
                </a:tc>
                <a:tc>
                  <a:txBody>
                    <a:bodyPr/>
                    <a:lstStyle/>
                    <a:p>
                      <a:r>
                        <a:rPr sz="1725" b="0">
                          <a:solidFill>
                            <a:srgbClr val="153442"/>
                          </a:solidFill>
                          <a:latin typeface="Arial"/>
                          <a:ea typeface="Arial"/>
                          <a:cs typeface="Arial"/>
                        </a:rPr>
                        <a:t>12</a:t>
                      </a:r>
                    </a:p>
                  </a:txBody>
                  <a:tcPr marL="91440" marR="91440" marT="45720" marB="45720">
                    <a:solidFill>
                      <a:srgbClr val="FFFFFF"/>
                    </a:solidFill>
                  </a:tcPr>
                </a:tc>
                <a:tc>
                  <a:txBody>
                    <a:bodyPr/>
                    <a:lstStyle/>
                    <a:p>
                      <a:r>
                        <a:rPr sz="1725" b="0">
                          <a:solidFill>
                            <a:srgbClr val="153442"/>
                          </a:solidFill>
                          <a:latin typeface="Arial"/>
                          <a:ea typeface="Arial"/>
                          <a:cs typeface="Arial"/>
                        </a:rPr>
                        <a:t>0</a:t>
                      </a:r>
                    </a:p>
                  </a:txBody>
                  <a:tcPr marL="91440" marR="91440" marT="45720" marB="45720">
                    <a:solidFill>
                      <a:srgbClr val="FFFFFF"/>
                    </a:solidFill>
                  </a:tcPr>
                </a:tc>
                <a:tc>
                  <a:txBody>
                    <a:bodyPr/>
                    <a:lstStyle/>
                    <a:p>
                      <a:r>
                        <a:rPr sz="1725" b="0">
                          <a:solidFill>
                            <a:srgbClr val="153442"/>
                          </a:solidFill>
                          <a:latin typeface="Arial"/>
                          <a:ea typeface="Arial"/>
                          <a:cs typeface="Arial"/>
                        </a:rPr>
                        <a:t>227</a:t>
                      </a:r>
                    </a:p>
                  </a:txBody>
                  <a:tcPr marL="91440" marR="91440" marT="45720" marB="45720">
                    <a:solidFill>
                      <a:srgbClr val="CBE4E5"/>
                    </a:solidFill>
                  </a:tcPr>
                </a:tc>
                <a:tc>
                  <a:txBody>
                    <a:bodyPr/>
                    <a:lstStyle/>
                    <a:p>
                      <a:r>
                        <a:rPr sz="1725" b="0">
                          <a:solidFill>
                            <a:srgbClr val="153442"/>
                          </a:solidFill>
                          <a:latin typeface="Arial"/>
                          <a:ea typeface="Arial"/>
                          <a:cs typeface="Arial"/>
                        </a:rPr>
                        <a:t>0</a:t>
                      </a:r>
                    </a:p>
                  </a:txBody>
                  <a:tcPr marL="91440" marR="91440" marT="45720" marB="45720">
                    <a:solidFill>
                      <a:srgbClr val="FFFFFF"/>
                    </a:solidFill>
                  </a:tcPr>
                </a:tc>
                <a:tc>
                  <a:txBody>
                    <a:bodyPr/>
                    <a:lstStyle/>
                    <a:p>
                      <a:r>
                        <a:rPr sz="1725" b="0">
                          <a:solidFill>
                            <a:srgbClr val="153442"/>
                          </a:solidFill>
                          <a:latin typeface="Arial"/>
                          <a:ea typeface="Arial"/>
                          <a:cs typeface="Arial"/>
                        </a:rPr>
                        <a:t>4</a:t>
                      </a:r>
                    </a:p>
                  </a:txBody>
                  <a:tcPr marL="91440" marR="91440" marT="45720" marB="45720">
                    <a:solidFill>
                      <a:srgbClr val="FFFFFF"/>
                    </a:solidFill>
                  </a:tcPr>
                </a:tc>
                <a:tc>
                  <a:txBody>
                    <a:bodyPr/>
                    <a:lstStyle/>
                    <a:p>
                      <a:r>
                        <a:rPr sz="1725" b="0">
                          <a:solidFill>
                            <a:srgbClr val="153442"/>
                          </a:solidFill>
                          <a:latin typeface="Arial"/>
                          <a:ea typeface="Arial"/>
                          <a:cs typeface="Arial"/>
                        </a:rPr>
                        <a:t>0</a:t>
                      </a:r>
                    </a:p>
                  </a:txBody>
                  <a:tcPr marL="91440" marR="91440" marT="45720" marB="45720">
                    <a:solidFill>
                      <a:srgbClr val="FFFFFF"/>
                    </a:solidFill>
                  </a:tcPr>
                </a:tc>
                <a:tc>
                  <a:txBody>
                    <a:bodyPr/>
                    <a:lstStyle/>
                    <a:p>
                      <a:r>
                        <a:rPr sz="1725" b="0">
                          <a:solidFill>
                            <a:srgbClr val="153442"/>
                          </a:solidFill>
                          <a:latin typeface="Arial"/>
                          <a:ea typeface="Arial"/>
                          <a:cs typeface="Arial"/>
                        </a:rPr>
                        <a:t>2</a:t>
                      </a:r>
                    </a:p>
                  </a:txBody>
                  <a:tcPr marL="91440" marR="91440" marT="45720" marB="45720">
                    <a:solidFill>
                      <a:srgbClr val="FFFFFF"/>
                    </a:solidFill>
                  </a:tcPr>
                </a:tc>
              </a:tr>
              <a:tr h="472678">
                <a:tc>
                  <a:txBody>
                    <a:bodyPr/>
                    <a:lstStyle/>
                    <a:p>
                      <a:r>
                        <a:rPr sz="1725" b="0">
                          <a:solidFill>
                            <a:srgbClr val="153442"/>
                          </a:solidFill>
                          <a:latin typeface="Arial"/>
                          <a:ea typeface="Arial"/>
                          <a:cs typeface="Arial"/>
                        </a:rPr>
                        <a:t>DER</a:t>
                      </a:r>
                    </a:p>
                  </a:txBody>
                  <a:tcPr marL="91440" marR="91440" marT="45720" marB="45720">
                    <a:solidFill>
                      <a:srgbClr val="EAF1F1"/>
                    </a:solidFill>
                  </a:tcPr>
                </a:tc>
                <a:tc>
                  <a:txBody>
                    <a:bodyPr/>
                    <a:lstStyle/>
                    <a:p>
                      <a:r>
                        <a:rPr sz="1725" b="0">
                          <a:solidFill>
                            <a:srgbClr val="153442"/>
                          </a:solidFill>
                          <a:latin typeface="Arial"/>
                          <a:ea typeface="Arial"/>
                          <a:cs typeface="Arial"/>
                        </a:rPr>
                        <a:t>0</a:t>
                      </a:r>
                    </a:p>
                  </a:txBody>
                  <a:tcPr marL="91440" marR="91440" marT="45720" marB="45720">
                    <a:solidFill>
                      <a:srgbClr val="FFFFFF"/>
                    </a:solidFill>
                  </a:tcPr>
                </a:tc>
                <a:tc>
                  <a:txBody>
                    <a:bodyPr/>
                    <a:lstStyle/>
                    <a:p>
                      <a:r>
                        <a:rPr sz="1725" b="0">
                          <a:solidFill>
                            <a:srgbClr val="153442"/>
                          </a:solidFill>
                          <a:latin typeface="Arial"/>
                          <a:ea typeface="Arial"/>
                          <a:cs typeface="Arial"/>
                        </a:rPr>
                        <a:t>0</a:t>
                      </a:r>
                    </a:p>
                  </a:txBody>
                  <a:tcPr marL="91440" marR="91440" marT="45720" marB="45720">
                    <a:solidFill>
                      <a:srgbClr val="FFFFFF"/>
                    </a:solidFill>
                  </a:tcPr>
                </a:tc>
                <a:tc>
                  <a:txBody>
                    <a:bodyPr/>
                    <a:lstStyle/>
                    <a:p>
                      <a:r>
                        <a:rPr sz="1725" b="0">
                          <a:solidFill>
                            <a:srgbClr val="153442"/>
                          </a:solidFill>
                          <a:latin typeface="Arial"/>
                          <a:ea typeface="Arial"/>
                          <a:cs typeface="Arial"/>
                        </a:rPr>
                        <a:t>0</a:t>
                      </a:r>
                    </a:p>
                  </a:txBody>
                  <a:tcPr marL="91440" marR="91440" marT="45720" marB="45720">
                    <a:solidFill>
                      <a:srgbClr val="FFFFFF"/>
                    </a:solidFill>
                  </a:tcPr>
                </a:tc>
                <a:tc>
                  <a:txBody>
                    <a:bodyPr/>
                    <a:lstStyle/>
                    <a:p>
                      <a:r>
                        <a:rPr sz="1725" b="0">
                          <a:solidFill>
                            <a:srgbClr val="153442"/>
                          </a:solidFill>
                          <a:latin typeface="Arial"/>
                          <a:ea typeface="Arial"/>
                          <a:cs typeface="Arial"/>
                        </a:rPr>
                        <a:t>479</a:t>
                      </a:r>
                    </a:p>
                  </a:txBody>
                  <a:tcPr marL="91440" marR="91440" marT="45720" marB="45720">
                    <a:solidFill>
                      <a:srgbClr val="CBE4E5"/>
                    </a:solidFill>
                  </a:tcPr>
                </a:tc>
                <a:tc>
                  <a:txBody>
                    <a:bodyPr/>
                    <a:lstStyle/>
                    <a:p>
                      <a:r>
                        <a:rPr sz="1725" b="0">
                          <a:solidFill>
                            <a:srgbClr val="153442"/>
                          </a:solidFill>
                          <a:latin typeface="Arial"/>
                          <a:ea typeface="Arial"/>
                          <a:cs typeface="Arial"/>
                        </a:rPr>
                        <a:t>0</a:t>
                      </a:r>
                    </a:p>
                  </a:txBody>
                  <a:tcPr marL="91440" marR="91440" marT="45720" marB="45720">
                    <a:solidFill>
                      <a:srgbClr val="FFFFFF"/>
                    </a:solidFill>
                  </a:tcPr>
                </a:tc>
                <a:tc>
                  <a:txBody>
                    <a:bodyPr/>
                    <a:lstStyle/>
                    <a:p>
                      <a:r>
                        <a:rPr sz="1725" b="0">
                          <a:solidFill>
                            <a:srgbClr val="153442"/>
                          </a:solidFill>
                          <a:latin typeface="Arial"/>
                          <a:ea typeface="Arial"/>
                          <a:cs typeface="Arial"/>
                        </a:rPr>
                        <a:t>8</a:t>
                      </a:r>
                    </a:p>
                  </a:txBody>
                  <a:tcPr marL="91440" marR="91440" marT="45720" marB="45720">
                    <a:solidFill>
                      <a:srgbClr val="FFFFFF"/>
                    </a:solidFill>
                  </a:tcPr>
                </a:tc>
                <a:tc>
                  <a:txBody>
                    <a:bodyPr/>
                    <a:lstStyle/>
                    <a:p>
                      <a:r>
                        <a:rPr sz="1725" b="0">
                          <a:solidFill>
                            <a:srgbClr val="153442"/>
                          </a:solidFill>
                          <a:latin typeface="Arial"/>
                          <a:ea typeface="Arial"/>
                          <a:cs typeface="Arial"/>
                        </a:rPr>
                        <a:t>45</a:t>
                      </a:r>
                    </a:p>
                  </a:txBody>
                  <a:tcPr marL="91440" marR="91440" marT="45720" marB="45720">
                    <a:solidFill>
                      <a:srgbClr val="FFFFFF"/>
                    </a:solidFill>
                  </a:tcPr>
                </a:tc>
              </a:tr>
              <a:tr h="472678">
                <a:tc>
                  <a:txBody>
                    <a:bodyPr/>
                    <a:lstStyle/>
                    <a:p>
                      <a:r>
                        <a:rPr sz="1725" b="0">
                          <a:solidFill>
                            <a:srgbClr val="153442"/>
                          </a:solidFill>
                          <a:latin typeface="Arial"/>
                          <a:ea typeface="Arial"/>
                          <a:cs typeface="Arial"/>
                        </a:rPr>
                        <a:t>HOR</a:t>
                      </a:r>
                    </a:p>
                  </a:txBody>
                  <a:tcPr marL="91440" marR="91440" marT="45720" marB="45720">
                    <a:solidFill>
                      <a:srgbClr val="FFFFFF"/>
                    </a:solidFill>
                  </a:tcPr>
                </a:tc>
                <a:tc>
                  <a:txBody>
                    <a:bodyPr/>
                    <a:lstStyle/>
                    <a:p>
                      <a:r>
                        <a:rPr sz="1725" b="0">
                          <a:solidFill>
                            <a:srgbClr val="153442"/>
                          </a:solidFill>
                          <a:latin typeface="Arial"/>
                          <a:ea typeface="Arial"/>
                          <a:cs typeface="Arial"/>
                        </a:rPr>
                        <a:t>1</a:t>
                      </a:r>
                    </a:p>
                  </a:txBody>
                  <a:tcPr marL="91440" marR="91440" marT="45720" marB="45720">
                    <a:solidFill>
                      <a:srgbClr val="FFFFFF"/>
                    </a:solidFill>
                  </a:tcPr>
                </a:tc>
                <a:tc>
                  <a:txBody>
                    <a:bodyPr/>
                    <a:lstStyle/>
                    <a:p>
                      <a:r>
                        <a:rPr sz="1725" b="0">
                          <a:solidFill>
                            <a:srgbClr val="153442"/>
                          </a:solidFill>
                          <a:latin typeface="Arial"/>
                          <a:ea typeface="Arial"/>
                          <a:cs typeface="Arial"/>
                        </a:rPr>
                        <a:t>0</a:t>
                      </a:r>
                    </a:p>
                  </a:txBody>
                  <a:tcPr marL="91440" marR="91440" marT="45720" marB="45720">
                    <a:solidFill>
                      <a:srgbClr val="FFFFFF"/>
                    </a:solidFill>
                  </a:tcPr>
                </a:tc>
                <a:tc>
                  <a:txBody>
                    <a:bodyPr/>
                    <a:lstStyle/>
                    <a:p>
                      <a:r>
                        <a:rPr sz="1725" b="0">
                          <a:solidFill>
                            <a:srgbClr val="153442"/>
                          </a:solidFill>
                          <a:latin typeface="Arial"/>
                          <a:ea typeface="Arial"/>
                          <a:cs typeface="Arial"/>
                        </a:rPr>
                        <a:t>8</a:t>
                      </a:r>
                    </a:p>
                  </a:txBody>
                  <a:tcPr marL="91440" marR="91440" marT="45720" marB="45720">
                    <a:solidFill>
                      <a:srgbClr val="FFFFFF"/>
                    </a:solidFill>
                  </a:tcPr>
                </a:tc>
                <a:tc>
                  <a:txBody>
                    <a:bodyPr/>
                    <a:lstStyle/>
                    <a:p>
                      <a:r>
                        <a:rPr sz="1725" b="0">
                          <a:solidFill>
                            <a:srgbClr val="153442"/>
                          </a:solidFill>
                          <a:latin typeface="Arial"/>
                          <a:ea typeface="Arial"/>
                          <a:cs typeface="Arial"/>
                        </a:rPr>
                        <a:t>2</a:t>
                      </a:r>
                    </a:p>
                  </a:txBody>
                  <a:tcPr marL="91440" marR="91440" marT="45720" marB="45720">
                    <a:solidFill>
                      <a:srgbClr val="FFFFFF"/>
                    </a:solidFill>
                  </a:tcPr>
                </a:tc>
                <a:tc>
                  <a:txBody>
                    <a:bodyPr/>
                    <a:lstStyle/>
                    <a:p>
                      <a:r>
                        <a:rPr sz="1725" b="0">
                          <a:solidFill>
                            <a:srgbClr val="153442"/>
                          </a:solidFill>
                          <a:latin typeface="Arial"/>
                          <a:ea typeface="Arial"/>
                          <a:cs typeface="Arial"/>
                        </a:rPr>
                        <a:t>266</a:t>
                      </a:r>
                    </a:p>
                  </a:txBody>
                  <a:tcPr marL="91440" marR="91440" marT="45720" marB="45720">
                    <a:solidFill>
                      <a:srgbClr val="CBE4E5"/>
                    </a:solidFill>
                  </a:tcPr>
                </a:tc>
                <a:tc>
                  <a:txBody>
                    <a:bodyPr/>
                    <a:lstStyle/>
                    <a:p>
                      <a:r>
                        <a:rPr sz="1725" b="0">
                          <a:solidFill>
                            <a:srgbClr val="153442"/>
                          </a:solidFill>
                          <a:latin typeface="Arial"/>
                          <a:ea typeface="Arial"/>
                          <a:cs typeface="Arial"/>
                        </a:rPr>
                        <a:t>0</a:t>
                      </a:r>
                    </a:p>
                  </a:txBody>
                  <a:tcPr marL="91440" marR="91440" marT="45720" marB="45720">
                    <a:solidFill>
                      <a:srgbClr val="FFFFFF"/>
                    </a:solidFill>
                  </a:tcPr>
                </a:tc>
                <a:tc>
                  <a:txBody>
                    <a:bodyPr/>
                    <a:lstStyle/>
                    <a:p>
                      <a:r>
                        <a:rPr sz="1725" b="0">
                          <a:solidFill>
                            <a:srgbClr val="153442"/>
                          </a:solidFill>
                          <a:latin typeface="Arial"/>
                          <a:ea typeface="Arial"/>
                          <a:cs typeface="Arial"/>
                        </a:rPr>
                        <a:t>2</a:t>
                      </a:r>
                    </a:p>
                  </a:txBody>
                  <a:tcPr marL="91440" marR="91440" marT="45720" marB="45720">
                    <a:solidFill>
                      <a:srgbClr val="FFFFFF"/>
                    </a:solidFill>
                  </a:tcPr>
                </a:tc>
              </a:tr>
              <a:tr h="472678">
                <a:tc>
                  <a:txBody>
                    <a:bodyPr/>
                    <a:lstStyle/>
                    <a:p>
                      <a:r>
                        <a:rPr sz="1725" b="0">
                          <a:solidFill>
                            <a:srgbClr val="153442"/>
                          </a:solidFill>
                          <a:latin typeface="Arial"/>
                          <a:ea typeface="Arial"/>
                          <a:cs typeface="Arial"/>
                        </a:rPr>
                        <a:t>SEK</a:t>
                      </a:r>
                    </a:p>
                  </a:txBody>
                  <a:tcPr marL="91440" marR="91440" marT="45720" marB="45720">
                    <a:solidFill>
                      <a:srgbClr val="EAF1F1"/>
                    </a:solidFill>
                  </a:tcPr>
                </a:tc>
                <a:tc>
                  <a:txBody>
                    <a:bodyPr/>
                    <a:lstStyle/>
                    <a:p>
                      <a:r>
                        <a:rPr sz="1725" b="0">
                          <a:solidFill>
                            <a:srgbClr val="153442"/>
                          </a:solidFill>
                          <a:latin typeface="Arial"/>
                          <a:ea typeface="Arial"/>
                          <a:cs typeface="Arial"/>
                        </a:rPr>
                        <a:t>2</a:t>
                      </a:r>
                    </a:p>
                  </a:txBody>
                  <a:tcPr marL="91440" marR="91440" marT="45720" marB="45720">
                    <a:solidFill>
                      <a:srgbClr val="FFFFFF"/>
                    </a:solidFill>
                  </a:tcPr>
                </a:tc>
                <a:tc>
                  <a:txBody>
                    <a:bodyPr/>
                    <a:lstStyle/>
                    <a:p>
                      <a:r>
                        <a:rPr sz="1725" b="0">
                          <a:solidFill>
                            <a:srgbClr val="153442"/>
                          </a:solidFill>
                          <a:latin typeface="Arial"/>
                          <a:ea typeface="Arial"/>
                          <a:cs typeface="Arial"/>
                        </a:rPr>
                        <a:t>0</a:t>
                      </a:r>
                    </a:p>
                  </a:txBody>
                  <a:tcPr marL="91440" marR="91440" marT="45720" marB="45720">
                    <a:solidFill>
                      <a:srgbClr val="FFFFFF"/>
                    </a:solidFill>
                  </a:tcPr>
                </a:tc>
                <a:tc>
                  <a:txBody>
                    <a:bodyPr/>
                    <a:lstStyle/>
                    <a:p>
                      <a:r>
                        <a:rPr sz="1725" b="0">
                          <a:solidFill>
                            <a:srgbClr val="153442"/>
                          </a:solidFill>
                          <a:latin typeface="Arial"/>
                          <a:ea typeface="Arial"/>
                          <a:cs typeface="Arial"/>
                        </a:rPr>
                        <a:t>0</a:t>
                      </a:r>
                    </a:p>
                  </a:txBody>
                  <a:tcPr marL="91440" marR="91440" marT="45720" marB="45720">
                    <a:solidFill>
                      <a:srgbClr val="FFFFFF"/>
                    </a:solidFill>
                  </a:tcPr>
                </a:tc>
                <a:tc>
                  <a:txBody>
                    <a:bodyPr/>
                    <a:lstStyle/>
                    <a:p>
                      <a:r>
                        <a:rPr sz="1725" b="0">
                          <a:solidFill>
                            <a:srgbClr val="153442"/>
                          </a:solidFill>
                          <a:latin typeface="Arial"/>
                          <a:ea typeface="Arial"/>
                          <a:cs typeface="Arial"/>
                        </a:rPr>
                        <a:t>4</a:t>
                      </a:r>
                    </a:p>
                  </a:txBody>
                  <a:tcPr marL="91440" marR="91440" marT="45720" marB="45720">
                    <a:solidFill>
                      <a:srgbClr val="FFFFFF"/>
                    </a:solidFill>
                  </a:tcPr>
                </a:tc>
                <a:tc>
                  <a:txBody>
                    <a:bodyPr/>
                    <a:lstStyle/>
                    <a:p>
                      <a:r>
                        <a:rPr sz="1725" b="0">
                          <a:solidFill>
                            <a:srgbClr val="153442"/>
                          </a:solidFill>
                          <a:latin typeface="Arial"/>
                          <a:ea typeface="Arial"/>
                          <a:cs typeface="Arial"/>
                        </a:rPr>
                        <a:t>0</a:t>
                      </a:r>
                    </a:p>
                  </a:txBody>
                  <a:tcPr marL="91440" marR="91440" marT="45720" marB="45720">
                    <a:solidFill>
                      <a:srgbClr val="FFFFFF"/>
                    </a:solidFill>
                  </a:tcPr>
                </a:tc>
                <a:tc>
                  <a:txBody>
                    <a:bodyPr/>
                    <a:lstStyle/>
                    <a:p>
                      <a:r>
                        <a:rPr sz="1725" b="0">
                          <a:solidFill>
                            <a:srgbClr val="153442"/>
                          </a:solidFill>
                          <a:latin typeface="Arial"/>
                          <a:ea typeface="Arial"/>
                          <a:cs typeface="Arial"/>
                        </a:rPr>
                        <a:t>292</a:t>
                      </a:r>
                    </a:p>
                  </a:txBody>
                  <a:tcPr marL="91440" marR="91440" marT="45720" marB="45720">
                    <a:solidFill>
                      <a:srgbClr val="CBE4E5"/>
                    </a:solidFill>
                  </a:tcPr>
                </a:tc>
                <a:tc>
                  <a:txBody>
                    <a:bodyPr/>
                    <a:lstStyle/>
                    <a:p>
                      <a:r>
                        <a:rPr sz="1725" b="0">
                          <a:solidFill>
                            <a:srgbClr val="153442"/>
                          </a:solidFill>
                          <a:latin typeface="Arial"/>
                          <a:ea typeface="Arial"/>
                          <a:cs typeface="Arial"/>
                        </a:rPr>
                        <a:t>6</a:t>
                      </a:r>
                    </a:p>
                  </a:txBody>
                  <a:tcPr marL="91440" marR="91440" marT="45720" marB="45720">
                    <a:solidFill>
                      <a:srgbClr val="FFFFFF"/>
                    </a:solidFill>
                  </a:tcPr>
                </a:tc>
              </a:tr>
              <a:tr h="472678">
                <a:tc>
                  <a:txBody>
                    <a:bodyPr/>
                    <a:lstStyle/>
                    <a:p>
                      <a:r>
                        <a:rPr sz="1725" b="0">
                          <a:solidFill>
                            <a:srgbClr val="153442"/>
                          </a:solidFill>
                          <a:latin typeface="Arial"/>
                          <a:ea typeface="Arial"/>
                          <a:cs typeface="Arial"/>
                        </a:rPr>
                        <a:t>SIR</a:t>
                      </a:r>
                    </a:p>
                  </a:txBody>
                  <a:tcPr marL="91440" marR="91440" marT="45720" marB="45720">
                    <a:solidFill>
                      <a:srgbClr val="FFFFFF"/>
                    </a:solidFill>
                  </a:tcPr>
                </a:tc>
                <a:tc>
                  <a:txBody>
                    <a:bodyPr/>
                    <a:lstStyle/>
                    <a:p>
                      <a:r>
                        <a:rPr sz="1725" b="0">
                          <a:solidFill>
                            <a:srgbClr val="153442"/>
                          </a:solidFill>
                          <a:latin typeface="Arial"/>
                          <a:ea typeface="Arial"/>
                          <a:cs typeface="Arial"/>
                        </a:rPr>
                        <a:t>0</a:t>
                      </a:r>
                    </a:p>
                  </a:txBody>
                  <a:tcPr marL="91440" marR="91440" marT="45720" marB="45720">
                    <a:solidFill>
                      <a:srgbClr val="FFFFFF"/>
                    </a:solidFill>
                  </a:tcPr>
                </a:tc>
                <a:tc>
                  <a:txBody>
                    <a:bodyPr/>
                    <a:lstStyle/>
                    <a:p>
                      <a:r>
                        <a:rPr sz="1725" b="0">
                          <a:solidFill>
                            <a:srgbClr val="153442"/>
                          </a:solidFill>
                          <a:latin typeface="Arial"/>
                          <a:ea typeface="Arial"/>
                          <a:cs typeface="Arial"/>
                        </a:rPr>
                        <a:t>0</a:t>
                      </a:r>
                    </a:p>
                  </a:txBody>
                  <a:tcPr marL="91440" marR="91440" marT="45720" marB="45720">
                    <a:solidFill>
                      <a:srgbClr val="FFFFFF"/>
                    </a:solidFill>
                  </a:tcPr>
                </a:tc>
                <a:tc>
                  <a:txBody>
                    <a:bodyPr/>
                    <a:lstStyle/>
                    <a:p>
                      <a:r>
                        <a:rPr sz="1725" b="0">
                          <a:solidFill>
                            <a:srgbClr val="153442"/>
                          </a:solidFill>
                          <a:latin typeface="Arial"/>
                          <a:ea typeface="Arial"/>
                          <a:cs typeface="Arial"/>
                        </a:rPr>
                        <a:t>1</a:t>
                      </a:r>
                    </a:p>
                  </a:txBody>
                  <a:tcPr marL="91440" marR="91440" marT="45720" marB="45720">
                    <a:solidFill>
                      <a:srgbClr val="FFFFFF"/>
                    </a:solidFill>
                  </a:tcPr>
                </a:tc>
                <a:tc>
                  <a:txBody>
                    <a:bodyPr/>
                    <a:lstStyle/>
                    <a:p>
                      <a:r>
                        <a:rPr sz="1725" b="0">
                          <a:solidFill>
                            <a:srgbClr val="153442"/>
                          </a:solidFill>
                          <a:latin typeface="Arial"/>
                          <a:ea typeface="Arial"/>
                          <a:cs typeface="Arial"/>
                        </a:rPr>
                        <a:t>34</a:t>
                      </a:r>
                    </a:p>
                  </a:txBody>
                  <a:tcPr marL="91440" marR="91440" marT="45720" marB="45720">
                    <a:solidFill>
                      <a:srgbClr val="FFFFFF"/>
                    </a:solidFill>
                  </a:tcPr>
                </a:tc>
                <a:tc>
                  <a:txBody>
                    <a:bodyPr/>
                    <a:lstStyle/>
                    <a:p>
                      <a:r>
                        <a:rPr sz="1725" b="0">
                          <a:solidFill>
                            <a:srgbClr val="153442"/>
                          </a:solidFill>
                          <a:latin typeface="Arial"/>
                          <a:ea typeface="Arial"/>
                          <a:cs typeface="Arial"/>
                        </a:rPr>
                        <a:t>10</a:t>
                      </a:r>
                    </a:p>
                  </a:txBody>
                  <a:tcPr marL="91440" marR="91440" marT="45720" marB="45720">
                    <a:solidFill>
                      <a:srgbClr val="FFFFFF"/>
                    </a:solidFill>
                  </a:tcPr>
                </a:tc>
                <a:tc>
                  <a:txBody>
                    <a:bodyPr/>
                    <a:lstStyle/>
                    <a:p>
                      <a:r>
                        <a:rPr sz="1725" b="0">
                          <a:solidFill>
                            <a:srgbClr val="153442"/>
                          </a:solidFill>
                          <a:latin typeface="Arial"/>
                          <a:ea typeface="Arial"/>
                          <a:cs typeface="Arial"/>
                        </a:rPr>
                        <a:t>1</a:t>
                      </a:r>
                    </a:p>
                  </a:txBody>
                  <a:tcPr marL="91440" marR="91440" marT="45720" marB="45720">
                    <a:solidFill>
                      <a:srgbClr val="FFFFFF"/>
                    </a:solidFill>
                  </a:tcPr>
                </a:tc>
                <a:tc>
                  <a:txBody>
                    <a:bodyPr/>
                    <a:lstStyle/>
                    <a:p>
                      <a:r>
                        <a:rPr sz="1725" b="0">
                          <a:solidFill>
                            <a:srgbClr val="153442"/>
                          </a:solidFill>
                          <a:latin typeface="Arial"/>
                          <a:ea typeface="Arial"/>
                          <a:cs typeface="Arial"/>
                        </a:rPr>
                        <a:t>350</a:t>
                      </a:r>
                    </a:p>
                  </a:txBody>
                  <a:tcPr marL="91440" marR="91440" marT="45720" marB="45720">
                    <a:solidFill>
                      <a:srgbClr val="CBE4E5"/>
                    </a:solidFill>
                  </a:tcPr>
                </a:tc>
              </a:tr>
            </a:tbl>
          </a:graphicData>
        </a:graphic>
      </p:graphicFrame>
      <p:sp>
        <p:nvSpPr>
          <p:cNvPr id="4" name="">
            <a:extLst xmlns:a="http://schemas.openxmlformats.org/drawingml/2006/main">
              <a:ext uri="{FF2B5EF4-FFF2-40B4-BE49-F238E27FC236}">
                <a16:creationId xmlns:a16="http://schemas.microsoft.com/office/drawing/2014/main" id="{34CD5E2D-FA3D-427C-B049-A21CAD74355A}"/>
              </a:ext>
            </a:extLst>
          </p:cNvPr>
          <p:cNvSpPr>
            <a:spLocks xmlns:a="http://schemas.openxmlformats.org/drawingml/2006/main" noGrp="1"/>
          </p:cNvSpPr>
          <p:nvPr/>
        </p:nvSpPr>
        <p:spPr>
          <a:xfrm xmlns:a="http://schemas.openxmlformats.org/drawingml/2006/main">
            <a:off x="8248650" y="1695450"/>
            <a:ext cx="32099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007D88"/>
                </a:solidFill>
                <a:latin typeface="Arial"/>
                <a:ea typeface="Arial"/>
                <a:cs typeface="Arial"/>
              </a:defRPr>
            </a:pPr>
            <a:r>
              <a:rPr sz="2550" b="1">
                <a:solidFill>
                  <a:srgbClr val="007D88"/>
                </a:solidFill>
                <a:latin typeface="Arial"/>
                <a:ea typeface="Arial"/>
                <a:cs typeface="Arial"/>
              </a:rPr>
              <a:t>153 mistakes</a:t>
            </a:r>
          </a:p>
        </p:txBody>
      </p:sp>
      <p:sp>
        <p:nvSpPr>
          <p:cNvPr id="5" name="">
            <a:extLst xmlns:a="http://schemas.openxmlformats.org/drawingml/2006/main">
              <a:ext uri="{FF2B5EF4-FFF2-40B4-BE49-F238E27FC236}">
                <a16:creationId xmlns:a16="http://schemas.microsoft.com/office/drawing/2014/main" id="{9992199F-19A2-4150-AEB6-6CA979D9F1EE}"/>
              </a:ext>
            </a:extLst>
          </p:cNvPr>
          <p:cNvSpPr>
            <a:spLocks xmlns:a="http://schemas.openxmlformats.org/drawingml/2006/main" noGrp="1"/>
          </p:cNvSpPr>
          <p:nvPr/>
        </p:nvSpPr>
        <p:spPr>
          <a:xfrm xmlns:a="http://schemas.openxmlformats.org/drawingml/2006/main">
            <a:off x="8248650" y="2600325"/>
            <a:ext cx="3286125" cy="1533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53442"/>
                </a:solidFill>
                <a:latin typeface="Arial"/>
                <a:ea typeface="Arial"/>
                <a:cs typeface="Arial"/>
              </a:defRPr>
            </a:pPr>
            <a:r>
              <a:rPr sz="1875" b="0">
                <a:solidFill>
                  <a:srgbClr val="153442"/>
                </a:solidFill>
                <a:latin typeface="Arial"/>
                <a:ea typeface="Arial"/>
                <a:cs typeface="Arial"/>
              </a:rPr>
              <a:t>2,032 test rows</a:t>
            </a:r>
          </a:p>
          <a:p xmlns:a="http://schemas.openxmlformats.org/drawingml/2006/main">
            <a:pPr>
              <a:defRPr sz="1875" b="0">
                <a:solidFill>
                  <a:srgbClr val="153442"/>
                </a:solidFill>
                <a:latin typeface="Arial"/>
                <a:ea typeface="Arial"/>
                <a:cs typeface="Arial"/>
              </a:defRPr>
            </a:pPr>
            <a:r>
              <a:rPr sz="1875" b="0">
                <a:solidFill>
                  <a:srgbClr val="153442"/>
                </a:solidFill>
                <a:latin typeface="Arial"/>
                <a:ea typeface="Arial"/>
                <a:cs typeface="Arial"/>
              </a:rPr>
              <a:t>Selected model, seed 7</a:t>
            </a:r>
          </a:p>
          <a:p xmlns:a="http://schemas.openxmlformats.org/drawingml/2006/main">
            <a:pPr>
              <a:defRPr sz="1875" b="0">
                <a:solidFill>
                  <a:srgbClr val="153442"/>
                </a:solidFill>
                <a:latin typeface="Arial"/>
                <a:ea typeface="Arial"/>
                <a:cs typeface="Arial"/>
              </a:defRPr>
            </a:pPr>
            <a:r>
              <a:rPr sz="1875" b="0">
                <a:solidFill>
                  <a:srgbClr val="153442"/>
                </a:solidFill>
                <a:latin typeface="Arial"/>
                <a:ea typeface="Arial"/>
                <a:cs typeface="Arial"/>
              </a:rPr>
              <a:t>Rows: actual variety</a:t>
            </a:r>
          </a:p>
          <a:p xmlns:a="http://schemas.openxmlformats.org/drawingml/2006/main">
            <a:pPr>
              <a:defRPr sz="1875" b="0">
                <a:solidFill>
                  <a:srgbClr val="153442"/>
                </a:solidFill>
                <a:latin typeface="Arial"/>
                <a:ea typeface="Arial"/>
                <a:cs typeface="Arial"/>
              </a:defRPr>
            </a:pPr>
            <a:r>
              <a:rPr sz="1875" b="0">
                <a:solidFill>
                  <a:srgbClr val="153442"/>
                </a:solidFill>
                <a:latin typeface="Arial"/>
                <a:ea typeface="Arial"/>
                <a:cs typeface="Arial"/>
              </a:rPr>
              <a:t>Columns: prediction</a:t>
            </a:r>
          </a:p>
        </p:txBody>
      </p:sp>
      <p:sp>
        <p:nvSpPr>
          <p:cNvPr id="6" name="">
            <a:extLst xmlns:a="http://schemas.openxmlformats.org/drawingml/2006/main">
              <a:ext uri="{FF2B5EF4-FFF2-40B4-BE49-F238E27FC236}">
                <a16:creationId xmlns:a16="http://schemas.microsoft.com/office/drawing/2014/main" id="{57887CFC-68DB-4F27-887F-EC957BCDC657}"/>
              </a:ext>
            </a:extLst>
          </p:cNvPr>
          <p:cNvSpPr>
            <a:spLocks xmlns:a="http://schemas.openxmlformats.org/drawingml/2006/main" noGrp="1"/>
          </p:cNvSpPr>
          <p:nvPr/>
        </p:nvSpPr>
        <p:spPr>
          <a:xfrm xmlns:a="http://schemas.openxmlformats.org/drawingml/2006/main">
            <a:off x="8248650" y="4572000"/>
            <a:ext cx="320992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36772"/>
                </a:solidFill>
                <a:latin typeface="Arial"/>
                <a:ea typeface="Arial"/>
                <a:cs typeface="Arial"/>
              </a:defRPr>
            </a:pPr>
            <a:r>
              <a:rPr sz="1800" b="0">
                <a:solidFill>
                  <a:srgbClr val="536772"/>
                </a:solidFill>
                <a:latin typeface="Arial"/>
                <a:ea typeface="Arial"/>
                <a:cs typeface="Arial"/>
              </a:rPr>
              <a:t>Per-class recall and F1</a:t>
            </a:r>
          </a:p>
          <a:p xmlns:a="http://schemas.openxmlformats.org/drawingml/2006/main">
            <a:pPr>
              <a:defRPr sz="1800" b="0">
                <a:solidFill>
                  <a:srgbClr val="536772"/>
                </a:solidFill>
                <a:latin typeface="Arial"/>
                <a:ea typeface="Arial"/>
                <a:cs typeface="Arial"/>
              </a:defRPr>
            </a:pPr>
            <a:r>
              <a:rPr sz="1800" b="0">
                <a:solidFill>
                  <a:srgbClr val="536772"/>
                </a:solidFill>
                <a:latin typeface="Arial"/>
                <a:ea typeface="Arial"/>
                <a:cs typeface="Arial"/>
              </a:rPr>
              <a:t>are in the notebook.</a:t>
            </a:r>
          </a:p>
        </p:txBody>
      </p:sp>
      <p:sp>
        <p:nvSpPr>
          <p:cNvPr id="7" name="">
            <a:extLst xmlns:a="http://schemas.openxmlformats.org/drawingml/2006/main">
              <a:ext uri="{FF2B5EF4-FFF2-40B4-BE49-F238E27FC236}">
                <a16:creationId xmlns:a16="http://schemas.microsoft.com/office/drawing/2014/main" id="{932D7078-28F6-4579-85A2-DA47E7CB5A04}"/>
              </a:ext>
            </a:extLst>
          </p:cNvPr>
          <p:cNvSpPr>
            <a:spLocks xmlns:a="http://schemas.openxmlformats.org/drawingml/2006/main" noGrp="1"/>
          </p:cNvSpPr>
          <p:nvPr/>
        </p:nvSpPr>
        <p:spPr>
          <a:xfrm xmlns:a="http://schemas.openxmlformats.org/drawingml/2006/main">
            <a:off x="590550" y="5600700"/>
            <a:ext cx="10906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36772"/>
                </a:solidFill>
                <a:latin typeface="Arial"/>
                <a:ea typeface="Arial"/>
                <a:cs typeface="Arial"/>
              </a:defRPr>
            </a:pPr>
            <a:r>
              <a:rPr sz="1650" b="0">
                <a:solidFill>
                  <a:srgbClr val="536772"/>
                </a:solidFill>
                <a:latin typeface="Arial"/>
                <a:ea typeface="Arial"/>
                <a:cs typeface="Arial"/>
              </a:rPr>
              <a:t>BAR Barbunya   BOM Bombay   CAL Cali   DER Dermason</a:t>
            </a:r>
          </a:p>
          <a:p xmlns:a="http://schemas.openxmlformats.org/drawingml/2006/main">
            <a:pPr>
              <a:defRPr sz="1650" b="0">
                <a:solidFill>
                  <a:srgbClr val="536772"/>
                </a:solidFill>
                <a:latin typeface="Arial"/>
                <a:ea typeface="Arial"/>
                <a:cs typeface="Arial"/>
              </a:defRPr>
            </a:pPr>
            <a:r>
              <a:rPr sz="1650" b="0">
                <a:solidFill>
                  <a:srgbClr val="536772"/>
                </a:solidFill>
                <a:latin typeface="Arial"/>
                <a:ea typeface="Arial"/>
                <a:cs typeface="Arial"/>
              </a:rPr>
              <a:t>HOR Horoz   SEK Seker   SIR Sira</a:t>
            </a:r>
          </a:p>
        </p:txBody>
      </p:sp>
    </p:spTree>
    <p:extLst>
      <p:ext uri="{BB962C8B-B14F-4D97-AF65-F5344CB8AC3E}">
        <p14:creationId xmlns:p14="http://schemas.microsoft.com/office/powerpoint/2010/main" val="371971128"/>
      </p:ext>
    </p:extLst>
  </p:cSld>
</p:sld>
</file>

<file path=ppt/slides/slide10.xml><?xml version="1.0" encoding="utf-8"?>
<p:sld xmlns:p="http://schemas.openxmlformats.org/presentationml/2006/main">
  <p:cSld>
    <p:bg>
      <p:bgPr>
        <a:solidFill xmlns:a="http://schemas.openxmlformats.org/drawingml/2006/main">
          <a:srgbClr val="FAF9F5"/>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D100CCF3-331C-402F-8B24-A86F8D8FC771}"/>
              </a:ext>
            </a:extLst>
          </p:cNvPr>
          <p:cNvSpPr>
            <a:spLocks xmlns:a="http://schemas.openxmlformats.org/drawingml/2006/main" noGrp="1"/>
          </p:cNvSpPr>
          <p:nvPr/>
        </p:nvSpPr>
        <p:spPr>
          <a:xfrm xmlns:a="http://schemas.openxmlformats.org/drawingml/2006/main">
            <a:off x="552450" y="361950"/>
            <a:ext cx="110871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53442"/>
                </a:solidFill>
                <a:latin typeface="Arial"/>
                <a:ea typeface="Arial"/>
                <a:cs typeface="Arial"/>
              </a:defRPr>
            </a:pPr>
            <a:r>
              <a:rPr sz="3225" b="1">
                <a:solidFill>
                  <a:srgbClr val="153442"/>
                </a:solidFill>
                <a:latin typeface="Arial"/>
                <a:ea typeface="Arial"/>
                <a:cs typeface="Arial"/>
              </a:rPr>
              <a:t>Conclusion and practical limits</a:t>
            </a:r>
          </a:p>
        </p:txBody>
      </p:sp>
      <p:sp>
        <p:nvSpPr>
          <p:cNvPr id="2" name="">
            <a:extLst xmlns:a="http://schemas.openxmlformats.org/drawingml/2006/main">
              <a:ext uri="{FF2B5EF4-FFF2-40B4-BE49-F238E27FC236}">
                <a16:creationId xmlns:a16="http://schemas.microsoft.com/office/drawing/2014/main" id="{9C662064-74C5-4DC7-BD9A-BE393548C135}"/>
              </a:ext>
            </a:extLst>
          </p:cNvPr>
          <p:cNvSpPr>
            <a:spLocks xmlns:a="http://schemas.openxmlformats.org/drawingml/2006/main" noGrp="1"/>
          </p:cNvSpPr>
          <p:nvPr/>
        </p:nvSpPr>
        <p:spPr>
          <a:xfrm xmlns:a="http://schemas.openxmlformats.org/drawingml/2006/main">
            <a:off x="11144250" y="641985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36772"/>
                </a:solidFill>
                <a:latin typeface="Arial"/>
                <a:ea typeface="Arial"/>
                <a:cs typeface="Arial"/>
              </a:defRPr>
            </a:pPr>
            <a:r>
              <a:rPr sz="1350" b="0">
                <a:solidFill>
                  <a:srgbClr val="536772"/>
                </a:solidFill>
                <a:latin typeface="Arial"/>
                <a:ea typeface="Arial"/>
                <a:cs typeface="Arial"/>
              </a:rPr>
              <a:t>10</a:t>
            </a:r>
          </a:p>
        </p:txBody>
      </p:sp>
      <p:sp>
        <p:nvSpPr>
          <p:cNvPr id="3" name="">
            <a:extLst xmlns:a="http://schemas.openxmlformats.org/drawingml/2006/main">
              <a:ext uri="{FF2B5EF4-FFF2-40B4-BE49-F238E27FC236}">
                <a16:creationId xmlns:a16="http://schemas.microsoft.com/office/drawing/2014/main" id="{434850EC-8834-44F6-84C7-7E5CA1D4C9CE}"/>
              </a:ext>
            </a:extLst>
          </p:cNvPr>
          <p:cNvSpPr>
            <a:spLocks xmlns:a="http://schemas.openxmlformats.org/drawingml/2006/main" noGrp="1"/>
          </p:cNvSpPr>
          <p:nvPr/>
        </p:nvSpPr>
        <p:spPr>
          <a:xfrm xmlns:a="http://schemas.openxmlformats.org/drawingml/2006/main">
            <a:off x="571500" y="1457325"/>
            <a:ext cx="11049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007D88"/>
                </a:solidFill>
                <a:latin typeface="Arial"/>
                <a:ea typeface="Arial"/>
                <a:cs typeface="Arial"/>
              </a:defRPr>
            </a:pPr>
            <a:r>
              <a:rPr sz="3000" b="1">
                <a:solidFill>
                  <a:srgbClr val="007D88"/>
                </a:solidFill>
                <a:latin typeface="Arial"/>
                <a:ea typeface="Arial"/>
                <a:cs typeface="Arial"/>
              </a:rPr>
              <a:t>MLP-high-lr: macro-F1 0.9373</a:t>
            </a:r>
          </a:p>
        </p:txBody>
      </p:sp>
      <p:sp>
        <p:nvSpPr>
          <p:cNvPr id="4" name="">
            <a:extLst xmlns:a="http://schemas.openxmlformats.org/drawingml/2006/main">
              <a:ext uri="{FF2B5EF4-FFF2-40B4-BE49-F238E27FC236}">
                <a16:creationId xmlns:a16="http://schemas.microsoft.com/office/drawing/2014/main" id="{C4486229-7F31-42B9-9515-081291937896}"/>
              </a:ext>
            </a:extLst>
          </p:cNvPr>
          <p:cNvSpPr>
            <a:spLocks xmlns:a="http://schemas.openxmlformats.org/drawingml/2006/main" noGrp="1"/>
          </p:cNvSpPr>
          <p:nvPr/>
        </p:nvSpPr>
        <p:spPr>
          <a:xfrm xmlns:a="http://schemas.openxmlformats.org/drawingml/2006/main">
            <a:off x="590550" y="2619375"/>
            <a:ext cx="1081087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53442"/>
                </a:solidFill>
                <a:latin typeface="Arial"/>
                <a:ea typeface="Arial"/>
                <a:cs typeface="Arial"/>
              </a:defRPr>
            </a:pPr>
            <a:r>
              <a:rPr sz="2250" b="0">
                <a:solidFill>
                  <a:srgbClr val="153442"/>
                </a:solidFill>
                <a:latin typeface="Arial"/>
                <a:ea typeface="Arial"/>
                <a:cs typeface="Arial"/>
              </a:rPr>
              <a:t>92.44% mean test accuracy</a:t>
            </a:r>
          </a:p>
          <a:p xmlns:a="http://schemas.openxmlformats.org/drawingml/2006/main">
            <a:pPr>
              <a:defRPr sz="2250" b="0">
                <a:solidFill>
                  <a:srgbClr val="153442"/>
                </a:solidFill>
                <a:latin typeface="Arial"/>
                <a:ea typeface="Arial"/>
                <a:cs typeface="Arial"/>
              </a:defRPr>
            </a:pPr>
            <a:r>
              <a:rPr sz="2250" b="0">
                <a:solidFill>
                  <a:srgbClr val="153442"/>
                </a:solidFill>
                <a:latin typeface="Arial"/>
                <a:ea typeface="Arial"/>
                <a:cs typeface="Arial"/>
              </a:rPr>
              <a:t>Macro-F1 difference from logistic regression: +0.0024</a:t>
            </a:r>
          </a:p>
        </p:txBody>
      </p:sp>
      <p:sp>
        <p:nvSpPr>
          <p:cNvPr id="5" name="">
            <a:extLst xmlns:a="http://schemas.openxmlformats.org/drawingml/2006/main">
              <a:ext uri="{FF2B5EF4-FFF2-40B4-BE49-F238E27FC236}">
                <a16:creationId xmlns:a16="http://schemas.microsoft.com/office/drawing/2014/main" id="{92A6EAE4-E7D1-4D3F-B9B0-00C57E5C3BCC}"/>
              </a:ext>
            </a:extLst>
          </p:cNvPr>
          <p:cNvSpPr>
            <a:spLocks xmlns:a="http://schemas.openxmlformats.org/drawingml/2006/main" noGrp="1"/>
          </p:cNvSpPr>
          <p:nvPr/>
        </p:nvSpPr>
        <p:spPr>
          <a:xfrm xmlns:a="http://schemas.openxmlformats.org/drawingml/2006/main">
            <a:off x="590550" y="4210050"/>
            <a:ext cx="4762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53442"/>
                </a:solidFill>
                <a:latin typeface="Arial"/>
                <a:ea typeface="Arial"/>
                <a:cs typeface="Arial"/>
              </a:defRPr>
            </a:pPr>
            <a:r>
              <a:rPr sz="2250" b="1">
                <a:solidFill>
                  <a:srgbClr val="153442"/>
                </a:solidFill>
                <a:latin typeface="Arial"/>
                <a:ea typeface="Arial"/>
                <a:cs typeface="Arial"/>
              </a:rPr>
              <a:t>Limits</a:t>
            </a:r>
          </a:p>
        </p:txBody>
      </p:sp>
      <p:sp>
        <p:nvSpPr>
          <p:cNvPr id="6" name="">
            <a:extLst xmlns:a="http://schemas.openxmlformats.org/drawingml/2006/main">
              <a:ext uri="{FF2B5EF4-FFF2-40B4-BE49-F238E27FC236}">
                <a16:creationId xmlns:a16="http://schemas.microsoft.com/office/drawing/2014/main" id="{1FADE483-E4E1-4E60-9F2C-0A9EEB28787F}"/>
              </a:ext>
            </a:extLst>
          </p:cNvPr>
          <p:cNvSpPr>
            <a:spLocks xmlns:a="http://schemas.openxmlformats.org/drawingml/2006/main" noGrp="1"/>
          </p:cNvSpPr>
          <p:nvPr/>
        </p:nvSpPr>
        <p:spPr>
          <a:xfrm xmlns:a="http://schemas.openxmlformats.org/drawingml/2006/main">
            <a:off x="590550" y="4781550"/>
            <a:ext cx="5572125"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53442"/>
                </a:solidFill>
                <a:latin typeface="Arial"/>
                <a:ea typeface="Arial"/>
                <a:cs typeface="Arial"/>
              </a:defRPr>
            </a:pPr>
            <a:r>
              <a:rPr sz="1950" b="0">
                <a:solidFill>
                  <a:srgbClr val="153442"/>
                </a:solidFill>
                <a:latin typeface="Arial"/>
                <a:ea typeface="Arial"/>
                <a:cs typeface="Arial"/>
              </a:rPr>
              <a:t>Pre-extracted numerical features</a:t>
            </a:r>
          </a:p>
          <a:p xmlns:a="http://schemas.openxmlformats.org/drawingml/2006/main">
            <a:pPr>
              <a:defRPr sz="1950" b="0">
                <a:solidFill>
                  <a:srgbClr val="153442"/>
                </a:solidFill>
                <a:latin typeface="Arial"/>
                <a:ea typeface="Arial"/>
                <a:cs typeface="Arial"/>
              </a:defRPr>
            </a:pPr>
            <a:r>
              <a:rPr sz="1950" b="0">
                <a:solidFill>
                  <a:srgbClr val="153442"/>
                </a:solidFill>
                <a:latin typeface="Arial"/>
                <a:ea typeface="Arial"/>
                <a:cs typeface="Arial"/>
              </a:rPr>
              <a:t>One random split, three seeds</a:t>
            </a:r>
          </a:p>
          <a:p xmlns:a="http://schemas.openxmlformats.org/drawingml/2006/main">
            <a:pPr>
              <a:defRPr sz="1950" b="0">
                <a:solidFill>
                  <a:srgbClr val="153442"/>
                </a:solidFill>
                <a:latin typeface="Arial"/>
                <a:ea typeface="Arial"/>
                <a:cs typeface="Arial"/>
              </a:defRPr>
            </a:pPr>
            <a:r>
              <a:rPr sz="1950" b="0">
                <a:solidFill>
                  <a:srgbClr val="153442"/>
                </a:solidFill>
                <a:latin typeface="Arial"/>
                <a:ea typeface="Arial"/>
                <a:cs typeface="Arial"/>
              </a:rPr>
              <a:t>No significance or deployment claim</a:t>
            </a:r>
          </a:p>
        </p:txBody>
      </p:sp>
      <p:sp>
        <p:nvSpPr>
          <p:cNvPr id="7" name="">
            <a:extLst xmlns:a="http://schemas.openxmlformats.org/drawingml/2006/main">
              <a:ext uri="{FF2B5EF4-FFF2-40B4-BE49-F238E27FC236}">
                <a16:creationId xmlns:a16="http://schemas.microsoft.com/office/drawing/2014/main" id="{6D63A12C-5E98-48FC-9B8B-D44DECD0CC90}"/>
              </a:ext>
            </a:extLst>
          </p:cNvPr>
          <p:cNvSpPr>
            <a:spLocks xmlns:a="http://schemas.openxmlformats.org/drawingml/2006/main" noGrp="1"/>
          </p:cNvSpPr>
          <p:nvPr/>
        </p:nvSpPr>
        <p:spPr>
          <a:xfrm xmlns:a="http://schemas.openxmlformats.org/drawingml/2006/main">
            <a:off x="6619875" y="4210050"/>
            <a:ext cx="4667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53442"/>
                </a:solidFill>
                <a:latin typeface="Arial"/>
                <a:ea typeface="Arial"/>
                <a:cs typeface="Arial"/>
              </a:defRPr>
            </a:pPr>
            <a:r>
              <a:rPr sz="2250" b="1">
                <a:solidFill>
                  <a:srgbClr val="153442"/>
                </a:solidFill>
                <a:latin typeface="Arial"/>
                <a:ea typeface="Arial"/>
                <a:cs typeface="Arial"/>
              </a:rPr>
              <a:t>Next experiment</a:t>
            </a:r>
          </a:p>
        </p:txBody>
      </p:sp>
      <p:sp>
        <p:nvSpPr>
          <p:cNvPr id="8" name="">
            <a:extLst xmlns:a="http://schemas.openxmlformats.org/drawingml/2006/main">
              <a:ext uri="{FF2B5EF4-FFF2-40B4-BE49-F238E27FC236}">
                <a16:creationId xmlns:a16="http://schemas.microsoft.com/office/drawing/2014/main" id="{28E26147-0D78-4752-A591-22DB82DC4378}"/>
              </a:ext>
            </a:extLst>
          </p:cNvPr>
          <p:cNvSpPr>
            <a:spLocks xmlns:a="http://schemas.openxmlformats.org/drawingml/2006/main" noGrp="1"/>
          </p:cNvSpPr>
          <p:nvPr/>
        </p:nvSpPr>
        <p:spPr>
          <a:xfrm xmlns:a="http://schemas.openxmlformats.org/drawingml/2006/main">
            <a:off x="6619875" y="4781550"/>
            <a:ext cx="4762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53442"/>
                </a:solidFill>
                <a:latin typeface="Arial"/>
                <a:ea typeface="Arial"/>
                <a:cs typeface="Arial"/>
              </a:defRPr>
            </a:pPr>
            <a:r>
              <a:rPr sz="1950" b="0">
                <a:solidFill>
                  <a:srgbClr val="153442"/>
                </a:solidFill>
                <a:latin typeface="Arial"/>
                <a:ea typeface="Arial"/>
                <a:cs typeface="Arial"/>
              </a:rPr>
              <a:t>Repeat development splits</a:t>
            </a:r>
          </a:p>
          <a:p xmlns:a="http://schemas.openxmlformats.org/drawingml/2006/main">
            <a:pPr>
              <a:defRPr sz="1950" b="0">
                <a:solidFill>
                  <a:srgbClr val="153442"/>
                </a:solidFill>
                <a:latin typeface="Arial"/>
                <a:ea typeface="Arial"/>
                <a:cs typeface="Arial"/>
              </a:defRPr>
            </a:pPr>
            <a:r>
              <a:rPr sz="1950" b="0">
                <a:solidFill>
                  <a:srgbClr val="153442"/>
                </a:solidFill>
                <a:latin typeface="Arial"/>
                <a:ea typeface="Arial"/>
                <a:cs typeface="Arial"/>
              </a:rPr>
              <a:t>Use acquisition groups if available</a:t>
            </a:r>
          </a:p>
          <a:p xmlns:a="http://schemas.openxmlformats.org/drawingml/2006/main">
            <a:pPr>
              <a:defRPr sz="1950" b="0">
                <a:solidFill>
                  <a:srgbClr val="153442"/>
                </a:solidFill>
                <a:latin typeface="Arial"/>
                <a:ea typeface="Arial"/>
                <a:cs typeface="Arial"/>
              </a:defRPr>
            </a:pPr>
            <a:r>
              <a:rPr sz="1950" b="0">
                <a:solidFill>
                  <a:srgbClr val="153442"/>
                </a:solidFill>
                <a:latin typeface="Arial"/>
                <a:ea typeface="Arial"/>
                <a:cs typeface="Arial"/>
              </a:rPr>
              <a:t>Test a new acquisition session</a:t>
            </a:r>
          </a:p>
        </p:txBody>
      </p:sp>
    </p:spTree>
    <p:extLst>
      <p:ext uri="{BB962C8B-B14F-4D97-AF65-F5344CB8AC3E}">
        <p14:creationId xmlns:p14="http://schemas.microsoft.com/office/powerpoint/2010/main" val="525560029"/>
      </p:ext>
    </p:extLst>
  </p:cSld>
</p:sld>
</file>

<file path=ppt/slides/slide11.xml><?xml version="1.0" encoding="utf-8"?>
<p:sld xmlns:p="http://schemas.openxmlformats.org/presentationml/2006/main">
  <p:cSld>
    <p:bg>
      <p:bgPr>
        <a:solidFill xmlns:a="http://schemas.openxmlformats.org/drawingml/2006/main">
          <a:srgbClr val="FAF9F5"/>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11D42B9-E4D2-45E4-B029-1D2B22525BCC}"/>
              </a:ext>
            </a:extLst>
          </p:cNvPr>
          <p:cNvSpPr>
            <a:spLocks xmlns:a="http://schemas.openxmlformats.org/drawingml/2006/main" noGrp="1"/>
          </p:cNvSpPr>
          <p:nvPr/>
        </p:nvSpPr>
        <p:spPr>
          <a:xfrm xmlns:a="http://schemas.openxmlformats.org/drawingml/2006/main">
            <a:off x="552450" y="361950"/>
            <a:ext cx="110871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53442"/>
                </a:solidFill>
                <a:latin typeface="Arial"/>
                <a:ea typeface="Arial"/>
                <a:cs typeface="Arial"/>
              </a:defRPr>
            </a:pPr>
            <a:r>
              <a:rPr sz="3225" b="1">
                <a:solidFill>
                  <a:srgbClr val="153442"/>
                </a:solidFill>
                <a:latin typeface="Arial"/>
                <a:ea typeface="Arial"/>
                <a:cs typeface="Arial"/>
              </a:rPr>
              <a:t>Code and reproducibility</a:t>
            </a:r>
          </a:p>
        </p:txBody>
      </p:sp>
      <p:sp>
        <p:nvSpPr>
          <p:cNvPr id="2" name="">
            <a:extLst xmlns:a="http://schemas.openxmlformats.org/drawingml/2006/main">
              <a:ext uri="{FF2B5EF4-FFF2-40B4-BE49-F238E27FC236}">
                <a16:creationId xmlns:a16="http://schemas.microsoft.com/office/drawing/2014/main" id="{24E8553D-F554-4878-8A5B-703C4179C059}"/>
              </a:ext>
            </a:extLst>
          </p:cNvPr>
          <p:cNvSpPr>
            <a:spLocks xmlns:a="http://schemas.openxmlformats.org/drawingml/2006/main" noGrp="1"/>
          </p:cNvSpPr>
          <p:nvPr/>
        </p:nvSpPr>
        <p:spPr>
          <a:xfrm xmlns:a="http://schemas.openxmlformats.org/drawingml/2006/main">
            <a:off x="11144250" y="641985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36772"/>
                </a:solidFill>
                <a:latin typeface="Arial"/>
                <a:ea typeface="Arial"/>
                <a:cs typeface="Arial"/>
              </a:defRPr>
            </a:pPr>
            <a:r>
              <a:rPr sz="1350" b="0">
                <a:solidFill>
                  <a:srgbClr val="536772"/>
                </a:solidFill>
                <a:latin typeface="Arial"/>
                <a:ea typeface="Arial"/>
                <a:cs typeface="Arial"/>
              </a:rPr>
              <a:t>11</a:t>
            </a:r>
          </a:p>
        </p:txBody>
      </p:sp>
      <p:sp>
        <p:nvSpPr>
          <p:cNvPr id="3" name="">
            <a:extLst xmlns:a="http://schemas.openxmlformats.org/drawingml/2006/main">
              <a:ext uri="{FF2B5EF4-FFF2-40B4-BE49-F238E27FC236}">
                <a16:creationId xmlns:a16="http://schemas.microsoft.com/office/drawing/2014/main" id="{2569E9CD-A8F8-433F-BE67-6526122DB214}"/>
              </a:ext>
            </a:extLst>
          </p:cNvPr>
          <p:cNvSpPr>
            <a:spLocks xmlns:a="http://schemas.openxmlformats.org/drawingml/2006/main" noGrp="1"/>
          </p:cNvSpPr>
          <p:nvPr/>
        </p:nvSpPr>
        <p:spPr>
          <a:xfrm xmlns:a="http://schemas.openxmlformats.org/drawingml/2006/main">
            <a:off x="590550" y="1466850"/>
            <a:ext cx="109061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007D88"/>
                </a:solidFill>
                <a:latin typeface="Arial"/>
                <a:ea typeface="Arial"/>
                <a:cs typeface="Arial"/>
              </a:defRPr>
            </a:pPr>
            <a:r>
              <a:rPr sz="2850" b="1">
                <a:solidFill>
                  <a:srgbClr val="007D88"/>
                </a:solidFill>
                <a:latin typeface="Arial"/>
                <a:ea typeface="Arial"/>
                <a:cs typeface="Arial"/>
              </a:rPr>
              <a:t>Dry_Bean_Project.ipynb</a:t>
            </a:r>
          </a:p>
        </p:txBody>
      </p:sp>
      <p:sp>
        <p:nvSpPr>
          <p:cNvPr id="4" name="">
            <a:extLst xmlns:a="http://schemas.openxmlformats.org/drawingml/2006/main">
              <a:ext uri="{FF2B5EF4-FFF2-40B4-BE49-F238E27FC236}">
                <a16:creationId xmlns:a16="http://schemas.microsoft.com/office/drawing/2014/main" id="{2DF4669C-46B0-4B35-9F0E-918413D38A3B}"/>
              </a:ext>
            </a:extLst>
          </p:cNvPr>
          <p:cNvSpPr>
            <a:spLocks xmlns:a="http://schemas.openxmlformats.org/drawingml/2006/main" noGrp="1"/>
          </p:cNvSpPr>
          <p:nvPr/>
        </p:nvSpPr>
        <p:spPr>
          <a:xfrm xmlns:a="http://schemas.openxmlformats.org/drawingml/2006/main">
            <a:off x="590550" y="2476500"/>
            <a:ext cx="108394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53442"/>
                </a:solidFill>
                <a:latin typeface="Arial"/>
                <a:ea typeface="Arial"/>
                <a:cs typeface="Arial"/>
              </a:defRPr>
            </a:pPr>
            <a:r>
              <a:rPr sz="2400" b="1">
                <a:solidFill>
                  <a:srgbClr val="153442"/>
                </a:solidFill>
                <a:latin typeface="Arial"/>
                <a:ea typeface="Arial"/>
                <a:cs typeface="Arial"/>
              </a:rPr>
              <a:t>[Paste the shared Google Colab notebook URL here]</a:t>
            </a:r>
          </a:p>
        </p:txBody>
      </p:sp>
      <p:sp>
        <p:nvSpPr>
          <p:cNvPr id="5" name="">
            <a:extLst xmlns:a="http://schemas.openxmlformats.org/drawingml/2006/main">
              <a:ext uri="{FF2B5EF4-FFF2-40B4-BE49-F238E27FC236}">
                <a16:creationId xmlns:a16="http://schemas.microsoft.com/office/drawing/2014/main" id="{29A0CFDA-6BCA-422C-84C8-12D1814A1E4F}"/>
              </a:ext>
            </a:extLst>
          </p:cNvPr>
          <p:cNvSpPr>
            <a:spLocks xmlns:a="http://schemas.openxmlformats.org/drawingml/2006/main" noGrp="1"/>
          </p:cNvSpPr>
          <p:nvPr/>
        </p:nvSpPr>
        <p:spPr>
          <a:xfrm xmlns:a="http://schemas.openxmlformats.org/drawingml/2006/main">
            <a:off x="619125" y="3714750"/>
            <a:ext cx="10810875"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53442"/>
                </a:solidFill>
                <a:latin typeface="Arial"/>
                <a:ea typeface="Arial"/>
                <a:cs typeface="Arial"/>
              </a:defRPr>
            </a:pPr>
            <a:r>
              <a:rPr sz="2100" b="0">
                <a:solidFill>
                  <a:srgbClr val="153442"/>
                </a:solidFill>
                <a:latin typeface="Arial"/>
                <a:ea typeface="Arial"/>
                <a:cs typeface="Arial"/>
              </a:rPr>
              <a:t>Upload. Run all on CPU. Save to Drive. Share with view access.</a:t>
            </a:r>
          </a:p>
        </p:txBody>
      </p:sp>
      <p:sp>
        <p:nvSpPr>
          <p:cNvPr id="6" name="">
            <a:extLst xmlns:a="http://schemas.openxmlformats.org/drawingml/2006/main">
              <a:ext uri="{FF2B5EF4-FFF2-40B4-BE49-F238E27FC236}">
                <a16:creationId xmlns:a16="http://schemas.microsoft.com/office/drawing/2014/main" id="{DBE39F2C-14E1-46B4-A418-7F3C07A802D2}"/>
              </a:ext>
            </a:extLst>
          </p:cNvPr>
          <p:cNvSpPr>
            <a:spLocks xmlns:a="http://schemas.openxmlformats.org/drawingml/2006/main" noGrp="1"/>
          </p:cNvSpPr>
          <p:nvPr/>
        </p:nvSpPr>
        <p:spPr>
          <a:xfrm xmlns:a="http://schemas.openxmlformats.org/drawingml/2006/main">
            <a:off x="619125" y="4762500"/>
            <a:ext cx="1081087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53442"/>
                </a:solidFill>
                <a:latin typeface="Arial"/>
                <a:ea typeface="Arial"/>
                <a:cs typeface="Arial"/>
              </a:defRPr>
            </a:pPr>
            <a:r>
              <a:rPr sz="1950" b="0">
                <a:solidFill>
                  <a:srgbClr val="153442"/>
                </a:solidFill>
                <a:latin typeface="Arial"/>
                <a:ea typeface="Arial"/>
                <a:cs typeface="Arial"/>
              </a:rPr>
              <a:t>Includes all experiments and a reloadable model with preprocessing.</a:t>
            </a:r>
          </a:p>
          <a:p xmlns:a="http://schemas.openxmlformats.org/drawingml/2006/main">
            <a:pPr>
              <a:defRPr sz="1950" b="0">
                <a:solidFill>
                  <a:srgbClr val="153442"/>
                </a:solidFill>
                <a:latin typeface="Arial"/>
                <a:ea typeface="Arial"/>
                <a:cs typeface="Arial"/>
              </a:defRPr>
            </a:pPr>
            <a:r>
              <a:rPr sz="1950" b="0">
                <a:solidFill>
                  <a:srgbClr val="153442"/>
                </a:solidFill>
                <a:latin typeface="Arial"/>
                <a:ea typeface="Arial"/>
                <a:cs typeface="Arial"/>
              </a:rPr>
              <a:t>Saves splits, seeds, dataset checksum and software versions.</a:t>
            </a:r>
          </a:p>
        </p:txBody>
      </p:sp>
      <p:sp>
        <p:nvSpPr>
          <p:cNvPr id="7" name="">
            <a:extLst xmlns:a="http://schemas.openxmlformats.org/drawingml/2006/main">
              <a:ext uri="{FF2B5EF4-FFF2-40B4-BE49-F238E27FC236}">
                <a16:creationId xmlns:a16="http://schemas.microsoft.com/office/drawing/2014/main" id="{B8969E87-0CE1-4A74-AA9F-4450BF12734D}"/>
              </a:ext>
            </a:extLst>
          </p:cNvPr>
          <p:cNvSpPr>
            <a:spLocks xmlns:a="http://schemas.openxmlformats.org/drawingml/2006/main" noGrp="1"/>
          </p:cNvSpPr>
          <p:nvPr/>
        </p:nvSpPr>
        <p:spPr>
          <a:xfrm xmlns:a="http://schemas.openxmlformats.org/drawingml/2006/main">
            <a:off x="619125" y="6019800"/>
            <a:ext cx="1076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36772"/>
                </a:solidFill>
                <a:latin typeface="Arial"/>
                <a:ea typeface="Arial"/>
                <a:cs typeface="Arial"/>
              </a:defRPr>
            </a:pPr>
            <a:r>
              <a:rPr sz="1650" b="0">
                <a:solidFill>
                  <a:srgbClr val="536772"/>
                </a:solidFill>
                <a:latin typeface="Arial"/>
                <a:ea typeface="Arial"/>
                <a:cs typeface="Arial"/>
              </a:rPr>
              <a:t>Reference outputs were executed locally. Colab can differ slightly by version.</a:t>
            </a:r>
          </a:p>
        </p:txBody>
      </p:sp>
    </p:spTree>
    <p:extLst>
      <p:ext uri="{BB962C8B-B14F-4D97-AF65-F5344CB8AC3E}">
        <p14:creationId xmlns:p14="http://schemas.microsoft.com/office/powerpoint/2010/main" val="69669914"/>
      </p:ext>
    </p:extLst>
  </p:cSld>
</p:sld>
</file>

<file path=ppt/slides/slide12.xml><?xml version="1.0" encoding="utf-8"?>
<p:sld xmlns:p="http://schemas.openxmlformats.org/presentationml/2006/main">
  <p:cSld>
    <p:bg>
      <p:bgPr>
        <a:solidFill xmlns:a="http://schemas.openxmlformats.org/drawingml/2006/main">
          <a:srgbClr val="FAF9F5"/>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607C5CA-C2EC-4DA6-8B56-356671B22297}"/>
              </a:ext>
            </a:extLst>
          </p:cNvPr>
          <p:cNvSpPr>
            <a:spLocks xmlns:a="http://schemas.openxmlformats.org/drawingml/2006/main" noGrp="1"/>
          </p:cNvSpPr>
          <p:nvPr/>
        </p:nvSpPr>
        <p:spPr>
          <a:xfrm xmlns:a="http://schemas.openxmlformats.org/drawingml/2006/main">
            <a:off x="552450" y="361950"/>
            <a:ext cx="110871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53442"/>
                </a:solidFill>
                <a:latin typeface="Arial"/>
                <a:ea typeface="Arial"/>
                <a:cs typeface="Arial"/>
              </a:defRPr>
            </a:pPr>
            <a:r>
              <a:rPr sz="3225" b="1">
                <a:solidFill>
                  <a:srgbClr val="153442"/>
                </a:solidFill>
                <a:latin typeface="Arial"/>
                <a:ea typeface="Arial"/>
                <a:cs typeface="Arial"/>
              </a:rPr>
              <a:t>References</a:t>
            </a:r>
          </a:p>
        </p:txBody>
      </p:sp>
      <p:sp>
        <p:nvSpPr>
          <p:cNvPr id="2" name="">
            <a:extLst xmlns:a="http://schemas.openxmlformats.org/drawingml/2006/main">
              <a:ext uri="{FF2B5EF4-FFF2-40B4-BE49-F238E27FC236}">
                <a16:creationId xmlns:a16="http://schemas.microsoft.com/office/drawing/2014/main" id="{1A1E72CB-49C8-4770-8935-BB88EE50A413}"/>
              </a:ext>
            </a:extLst>
          </p:cNvPr>
          <p:cNvSpPr>
            <a:spLocks xmlns:a="http://schemas.openxmlformats.org/drawingml/2006/main" noGrp="1"/>
          </p:cNvSpPr>
          <p:nvPr/>
        </p:nvSpPr>
        <p:spPr>
          <a:xfrm xmlns:a="http://schemas.openxmlformats.org/drawingml/2006/main">
            <a:off x="11144250" y="641985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36772"/>
                </a:solidFill>
                <a:latin typeface="Arial"/>
                <a:ea typeface="Arial"/>
                <a:cs typeface="Arial"/>
              </a:defRPr>
            </a:pPr>
            <a:r>
              <a:rPr sz="1350" b="0">
                <a:solidFill>
                  <a:srgbClr val="536772"/>
                </a:solidFill>
                <a:latin typeface="Arial"/>
                <a:ea typeface="Arial"/>
                <a:cs typeface="Arial"/>
              </a:rPr>
              <a:t>12</a:t>
            </a:r>
          </a:p>
        </p:txBody>
      </p:sp>
      <p:sp>
        <p:nvSpPr>
          <p:cNvPr id="3" name="">
            <a:extLst xmlns:a="http://schemas.openxmlformats.org/drawingml/2006/main">
              <a:ext uri="{FF2B5EF4-FFF2-40B4-BE49-F238E27FC236}">
                <a16:creationId xmlns:a16="http://schemas.microsoft.com/office/drawing/2014/main" id="{01E04110-638F-4AA2-B11E-9F83F012321B}"/>
              </a:ext>
            </a:extLst>
          </p:cNvPr>
          <p:cNvSpPr>
            <a:spLocks xmlns:a="http://schemas.openxmlformats.org/drawingml/2006/main" noGrp="1"/>
          </p:cNvSpPr>
          <p:nvPr/>
        </p:nvSpPr>
        <p:spPr>
          <a:xfrm xmlns:a="http://schemas.openxmlformats.org/drawingml/2006/main">
            <a:off x="590550" y="1390650"/>
            <a:ext cx="10953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53442"/>
                </a:solidFill>
                <a:latin typeface="Arial"/>
                <a:ea typeface="Arial"/>
                <a:cs typeface="Arial"/>
              </a:defRPr>
            </a:pPr>
            <a:r>
              <a:rPr sz="1875" b="0">
                <a:solidFill>
                  <a:srgbClr val="153442"/>
                </a:solidFill>
                <a:latin typeface="Arial"/>
                <a:ea typeface="Arial"/>
                <a:cs typeface="Arial"/>
              </a:rPr>
              <a:t>Dry Bean (2020). UCI Machine Learning Repository. CC BY 4.0.</a:t>
            </a:r>
          </a:p>
          <a:p xmlns:a="http://schemas.openxmlformats.org/drawingml/2006/main">
            <a:pPr>
              <a:defRPr sz="1875" b="0">
                <a:solidFill>
                  <a:srgbClr val="153442"/>
                </a:solidFill>
                <a:latin typeface="Arial"/>
                <a:ea typeface="Arial"/>
                <a:cs typeface="Arial"/>
              </a:defRPr>
            </a:pPr>
            <a:r>
              <a:rPr sz="1875" b="0">
                <a:solidFill>
                  <a:srgbClr val="153442"/>
                </a:solidFill>
                <a:latin typeface="Arial"/>
                <a:ea typeface="Arial"/>
                <a:cs typeface="Arial"/>
              </a:rPr>
              <a:t>https://doi.org/10.24432/C50S4B</a:t>
            </a:r>
          </a:p>
        </p:txBody>
      </p:sp>
      <p:sp>
        <p:nvSpPr>
          <p:cNvPr id="4" name="">
            <a:extLst xmlns:a="http://schemas.openxmlformats.org/drawingml/2006/main">
              <a:ext uri="{FF2B5EF4-FFF2-40B4-BE49-F238E27FC236}">
                <a16:creationId xmlns:a16="http://schemas.microsoft.com/office/drawing/2014/main" id="{B42BC4E1-5DF4-48FC-8223-78B2E317F8C4}"/>
              </a:ext>
            </a:extLst>
          </p:cNvPr>
          <p:cNvSpPr>
            <a:spLocks xmlns:a="http://schemas.openxmlformats.org/drawingml/2006/main" noGrp="1"/>
          </p:cNvSpPr>
          <p:nvPr/>
        </p:nvSpPr>
        <p:spPr>
          <a:xfrm xmlns:a="http://schemas.openxmlformats.org/drawingml/2006/main">
            <a:off x="590550" y="2619375"/>
            <a:ext cx="10953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53442"/>
                </a:solidFill>
                <a:latin typeface="Arial"/>
                <a:ea typeface="Arial"/>
                <a:cs typeface="Arial"/>
              </a:defRPr>
            </a:pPr>
            <a:r>
              <a:rPr sz="1875" b="0">
                <a:solidFill>
                  <a:srgbClr val="153442"/>
                </a:solidFill>
                <a:latin typeface="Arial"/>
                <a:ea typeface="Arial"/>
                <a:cs typeface="Arial"/>
              </a:rPr>
              <a:t>Afiahayati. 4.1. MLP to Deep Learning.</a:t>
            </a:r>
          </a:p>
          <a:p xmlns:a="http://schemas.openxmlformats.org/drawingml/2006/main">
            <a:pPr>
              <a:defRPr sz="1875" b="0">
                <a:solidFill>
                  <a:srgbClr val="153442"/>
                </a:solidFill>
                <a:latin typeface="Arial"/>
                <a:ea typeface="Arial"/>
                <a:cs typeface="Arial"/>
              </a:defRPr>
            </a:pPr>
            <a:r>
              <a:rPr sz="1875" b="0">
                <a:solidFill>
                  <a:srgbClr val="153442"/>
                </a:solidFill>
                <a:latin typeface="Arial"/>
                <a:ea typeface="Arial"/>
                <a:cs typeface="Arial"/>
              </a:rPr>
              <a:t>4.2. Group Mini Project, assignment instructions, page 1.</a:t>
            </a:r>
          </a:p>
        </p:txBody>
      </p:sp>
      <p:sp>
        <p:nvSpPr>
          <p:cNvPr id="5" name="">
            <a:extLst xmlns:a="http://schemas.openxmlformats.org/drawingml/2006/main">
              <a:ext uri="{FF2B5EF4-FFF2-40B4-BE49-F238E27FC236}">
                <a16:creationId xmlns:a16="http://schemas.microsoft.com/office/drawing/2014/main" id="{43F1121E-D896-4D64-9A84-FAD19CA6501D}"/>
              </a:ext>
            </a:extLst>
          </p:cNvPr>
          <p:cNvSpPr>
            <a:spLocks xmlns:a="http://schemas.openxmlformats.org/drawingml/2006/main" noGrp="1"/>
          </p:cNvSpPr>
          <p:nvPr/>
        </p:nvSpPr>
        <p:spPr>
          <a:xfrm xmlns:a="http://schemas.openxmlformats.org/drawingml/2006/main">
            <a:off x="590550" y="3781425"/>
            <a:ext cx="10953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53442"/>
                </a:solidFill>
                <a:latin typeface="Arial"/>
                <a:ea typeface="Arial"/>
                <a:cs typeface="Arial"/>
              </a:defRPr>
            </a:pPr>
            <a:r>
              <a:rPr sz="1875" b="0">
                <a:solidFill>
                  <a:srgbClr val="153442"/>
                </a:solidFill>
                <a:latin typeface="Arial"/>
                <a:ea typeface="Arial"/>
                <a:cs typeface="Arial"/>
              </a:rPr>
              <a:t>PyTorch: CrossEntropyLoss and Reproducibility</a:t>
            </a:r>
          </a:p>
          <a:p xmlns:a="http://schemas.openxmlformats.org/drawingml/2006/main">
            <a:pPr>
              <a:defRPr sz="1875" b="0">
                <a:solidFill>
                  <a:srgbClr val="153442"/>
                </a:solidFill>
                <a:latin typeface="Arial"/>
                <a:ea typeface="Arial"/>
                <a:cs typeface="Arial"/>
              </a:defRPr>
            </a:pPr>
            <a:r>
              <a:rPr sz="1875" b="0">
                <a:solidFill>
                  <a:srgbClr val="153442"/>
                </a:solidFill>
                <a:latin typeface="Arial"/>
                <a:ea typeface="Arial"/>
                <a:cs typeface="Arial"/>
              </a:rPr>
              <a:t>docs.pytorch.org/docs/stable/</a:t>
            </a:r>
          </a:p>
        </p:txBody>
      </p:sp>
      <p:sp>
        <p:nvSpPr>
          <p:cNvPr id="6" name="">
            <a:extLst xmlns:a="http://schemas.openxmlformats.org/drawingml/2006/main">
              <a:ext uri="{FF2B5EF4-FFF2-40B4-BE49-F238E27FC236}">
                <a16:creationId xmlns:a16="http://schemas.microsoft.com/office/drawing/2014/main" id="{DD7BFF34-2E80-4673-82F0-D050D08778CE}"/>
              </a:ext>
            </a:extLst>
          </p:cNvPr>
          <p:cNvSpPr>
            <a:spLocks xmlns:a="http://schemas.openxmlformats.org/drawingml/2006/main" noGrp="1"/>
          </p:cNvSpPr>
          <p:nvPr/>
        </p:nvSpPr>
        <p:spPr>
          <a:xfrm xmlns:a="http://schemas.openxmlformats.org/drawingml/2006/main">
            <a:off x="590550" y="4981575"/>
            <a:ext cx="109537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53442"/>
                </a:solidFill>
                <a:latin typeface="Arial"/>
                <a:ea typeface="Arial"/>
                <a:cs typeface="Arial"/>
              </a:defRPr>
            </a:pPr>
            <a:r>
              <a:rPr sz="1875" b="0">
                <a:solidFill>
                  <a:srgbClr val="153442"/>
                </a:solidFill>
                <a:latin typeface="Arial"/>
                <a:ea typeface="Arial"/>
                <a:cs typeface="Arial"/>
              </a:rPr>
              <a:t>scikit-learn: StandardScaler and LogisticRegression</a:t>
            </a:r>
          </a:p>
          <a:p xmlns:a="http://schemas.openxmlformats.org/drawingml/2006/main">
            <a:pPr>
              <a:defRPr sz="1875" b="0">
                <a:solidFill>
                  <a:srgbClr val="153442"/>
                </a:solidFill>
                <a:latin typeface="Arial"/>
                <a:ea typeface="Arial"/>
                <a:cs typeface="Arial"/>
              </a:defRPr>
            </a:pPr>
            <a:r>
              <a:rPr sz="1875" b="0">
                <a:solidFill>
                  <a:srgbClr val="153442"/>
                </a:solidFill>
                <a:latin typeface="Arial"/>
                <a:ea typeface="Arial"/>
                <a:cs typeface="Arial"/>
              </a:rPr>
              <a:t>scikit-learn.org/stable/modules/classes.html</a:t>
            </a:r>
          </a:p>
        </p:txBody>
      </p:sp>
    </p:spTree>
    <p:extLst>
      <p:ext uri="{BB962C8B-B14F-4D97-AF65-F5344CB8AC3E}">
        <p14:creationId xmlns:p14="http://schemas.microsoft.com/office/powerpoint/2010/main" val="193866081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2026-10-05T09:12:59.8190000Z</dcterms:created>
  <dcterms:modified xsi:type="dcterms:W3CDTF">2026-10-05T09:12:59.8190000Z</dcterms:modified>
</coreProperties>
</file>